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12" r:id="rId28"/>
    <p:sldId id="283" r:id="rId29"/>
    <p:sldId id="284" r:id="rId30"/>
    <p:sldId id="285" r:id="rId31"/>
    <p:sldId id="313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6" r:id="rId5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0—1 分钟</a:t>
            </a:r>
          </a:p>
          <a:p>
            <a:endParaRPr/>
          </a:p>
          <a:p>
            <a:r>
              <a:t>研究生AI Agent简介，60分钟。理论例子以代码仓库、测试和数值模拟为主。Vibe Coding展示前端代码与科学计算，Co-Work介绍跨软件接入，只用一页组会材料作补充。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1—2 分钟</a:t>
            </a:r>
          </a:p>
          <a:p>
            <a:endParaRPr/>
          </a:p>
          <a:p>
            <a:r>
              <a:t>开场与目录2分钟。Agent原理6分钟，Harness5分钟，Memory与Skills5分钟，Agentic RL16分钟，Vibe Coding16分钟，Co-Work6分钟，Q&amp;A4分钟。附录不另计时间。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2—4 分钟</a:t>
            </a:r>
          </a:p>
          <a:p>
            <a:endParaRPr/>
          </a:p>
          <a:p>
            <a:r>
              <a:t>用一个很简化的决策模型描述刚才的过程。g是用户目标，o是外部观察，a是动作，h是当前保留的上下文。策略πθ是语言模型在上下文条件下选择动作的分布。动作既可以是调用工具，也可以是询问人或结束任务。执行工具后，应用把结果和必要记录加入新的上下文，再调用模型。现实中h会截断、摘要或检索，不等于无限长的完整历史。文件中的进度记录、RAG检索和数据库可以提供外部记忆；这些不等于模型权重自动更新。ReAct是交错使用推理、行动和观察的一种早期范式，不要求产品展示模型的隐藏思维链。</a:t>
            </a:r>
          </a:p>
          <a:p>
            <a:r>
              <a:t>以下公式是教学抽象，不是特定产品的内部实现。参考：https://arxiv.org/abs/2210.03629</a:t>
            </a:r>
          </a:p>
          <a:p>
            <a:r>
              <a:t>https://www.anthropic.com/research/building-effective-agents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4—5 分钟</a:t>
            </a:r>
          </a:p>
          <a:p>
            <a:endParaRPr/>
          </a:p>
          <a:p>
            <a:r>
              <a:t>环境状态包含整个代码目录、依赖、文件版本和运行进程。模型每轮只能拿到读文件或运行测试返回的部分信息。测试显示通过，也可能使用了旧文件或错误环境，因此需同时核对版本、命令和退出码。状态与观察的区分用于理解Agent为什么需要反复读取工具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5—6 分钟</a:t>
            </a:r>
          </a:p>
          <a:p>
            <a:endParaRPr/>
          </a:p>
          <a:p>
            <a:r>
              <a:t>格式化可以按固定流程执行。修复测试失败则可能需要根据报错选择新步骤：继续读调用方、检查依赖、寻找最小复现，或询问需求。同一个代码任务里，格式检查和数值计算可以交给固定程序，定位原因由Agent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6—7 分钟</a:t>
            </a:r>
          </a:p>
          <a:p>
            <a:endParaRPr/>
          </a:p>
          <a:p>
            <a:r>
              <a:t>本表是手写的教学轨迹，不是真实模型日志。用户要求固定种子可复现，测试却失败。Agent运行测试，拿到反馈后读随机数初始化代码，修改后再跑复现测试和原有回归测试。ReAct的关键是行动产生新观察，后续决策随观察变化。并不要求展示模型内部思维链。参考https://arxiv.org/abs/2210.03629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7—8 分钟</a:t>
            </a:r>
          </a:p>
          <a:p>
            <a:endParaRPr/>
          </a:p>
          <a:p>
            <a:r>
              <a:t>代码任务的目标应写成可检查条件。DLA例子要求固定种子可复现，并逐粒子满足四邻接。执行预算限制重试与运行时长。只生成文件还不算完成，需运行独立检查。需要改变公共接口或发现需求冲突时，先向人确认。公式是有限步任务目标的教学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8—9 分钟</a:t>
            </a:r>
          </a:p>
          <a:p>
            <a:endParaRPr/>
          </a:p>
          <a:p>
            <a:r>
              <a:t>Harness是围绕模型组织任务执行的软件层。这里按软件系统的实现来划分，包括上下文构造、工具分发、运行限制、状态记录和验收。不同产品边界不完全一致。回看原理部分：策略选择动作后，Harness负责判断是否允许执行、调用什么程序、如何记录结果，以及下一轮向模型提供什么信息。这里与模型权重的区分是理解后面Memory和RL的前提。参考：https://www.anthropic.com/research/effective-harnesses-for-long-runn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9—11 分钟</a:t>
            </a:r>
          </a:p>
          <a:p>
            <a:endParaRPr/>
          </a:p>
          <a:p>
            <a:r>
              <a:t>这里是简化的run_tests工具。模型生成工具名和参数，宿主执行器校验路径与超时，运行测试并把退出码、标准输出和错误返回模型。格式合法不代表读对代码，也不代表测试覆盖了需求。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11—12 分钟</a:t>
            </a:r>
          </a:p>
          <a:p>
            <a:endParaRPr/>
          </a:p>
          <a:p>
            <a:r>
              <a:t>参数schema检查类型与必填字段。执行器还要检查工作目录、代码和依赖版本、写入范围。运行后读取退出码与输出文件。重试时记录变化，限制次数，不反复执行同一个失败命令。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12—13 分钟</a:t>
            </a:r>
          </a:p>
          <a:p>
            <a:endParaRPr/>
          </a:p>
          <a:p>
            <a:r>
              <a:t>这段伪代码是教学实现，不对应某一厂商完整SDK。模型可能返回工具请求或最终答复。执行器在运行前验证参数和权限。工具抛出异常应成为可见结果，而不是被吞掉。达到步数或时间预算后，应保存状态并停止，不能无限循环。done不能仅依赖模型自述，需要验收器或用户确认。一轮可以批量发出相互独立的工具调用，但有依赖的动作仍应等待前一步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13—15 分钟</a:t>
            </a:r>
          </a:p>
          <a:p>
            <a:endParaRPr/>
          </a:p>
          <a:p>
            <a:r>
              <a:t>上下文保存本轮目标与最近反馈。外部记忆可以记录代码提交、已尝试修改和失败原因，需要读取后才能影响下一轮决策。资料检索提供接口说明或项目规则，仍需核对版本。读取测试记录与训练模型参数是不同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15—16 分钟</a:t>
            </a:r>
          </a:p>
          <a:p>
            <a:endParaRPr/>
          </a:p>
          <a:p>
            <a:r>
              <a:t>RAG例子使用README、接口文档和依赖说明。先定位seed、boundary、neighbors相关定义，再核对锁文件中的实际版本。旧文档里存在的参数不一定能在当前环境使用。回答应说明依据哪份文档、哪一行、哪个版本。关键词或向量相似度不能替代版本核对。方法参考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16—18 分钟</a:t>
            </a:r>
          </a:p>
          <a:p>
            <a:endParaRPr/>
          </a:p>
          <a:p>
            <a:r>
              <a:t>Skill例子改为simulation-check，记录模拟代码的检查步骤，并附带坐标检查脚本。规则包括固定种子、重复坐标检查和黏附时的邻接关系。参数文件是本次任务输入，检查方法属于可复用做法。实际执行仍需工具支持。示例不会自动安装。格式参考https://agentskills.io/h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18—19 分钟</a:t>
            </a:r>
          </a:p>
          <a:p>
            <a:endParaRPr/>
          </a:p>
          <a:p>
            <a:r>
              <a:t>本页1分钟。说明策略、环境、奖励和被优化的模型参数，建立轨迹目标J=E[R]。下一页从通用策略梯度解释更新方向，再讲PPO与GRPO。推理时的反馈重试与模型参数训练需区分。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19—21 分钟</a:t>
            </a:r>
          </a:p>
          <a:p>
            <a:endParaRPr/>
          </a:p>
          <a:p>
            <a:r>
              <a:t>目标J是策略与环境交互所得回报的期望。REINFORCE形式可由轨迹概率的对数导数得到，环境转移本身不含待训练参数θ。G_t是从t开始的累计回报。减去只依赖当前历史h、不依赖当前采样动作的baseline，期望梯度不变，但可降低方差。A为正时，梯度上升倾向提高该采样动作的概率；A为负时倾向降低。真实神经网络参数共享，因此不能保证每个样本的概率都独立按期望方向变化。公式省略折扣约定与熵项。可以追问：同样奖励1，在一个几乎都得分1的任务上与一个几乎都得分0的任务上，提供的相对信息为何不同。通用策略梯度教学推导，PPO相关符号参考https://arxiv.org/abs/1707.06347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21—23 分钟</a:t>
            </a:r>
          </a:p>
          <a:p>
            <a:endParaRPr/>
          </a:p>
          <a:p>
            <a:r>
              <a:t>用旧策略采样后，当前策略可以对同一批数据做多次小批量更新。概率比ρ把当前与采样时的概率联系起来。PPO的裁剪目标取未裁剪项和裁剪项的较小值，限制使目标继续获益的方向，而非把所有概率变化硬截断。常见actor-critic实现另外学习V，用TD残差或GAE估计优势：δ_t=r_t+γV(h_{t+1})−V(h_t)，GAE为若干δ的加权和。语言模型在token级产生动作，奖励可在结束时给出，KL可作额外惩罚。PPO也包含值函数拟合和可选熵项，页上的公式只写策略目标。参考Schulman et al. 2017 https://arxiv.org/abs/1707.06347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23—24 分钟</a:t>
            </a:r>
          </a:p>
          <a:p>
            <a:endParaRPr/>
          </a:p>
          <a:p>
            <a:r>
              <a:t>πθ是正在梯度更新的策略。πold是生成这一批样本时的快照，计算概率比时其log概率固定，之后可刷新。πref通常取初始化的SFT模型，在一个训练阶段常保持固定，用于约束策略偏离。两者开始可能相同，但用途和更新时间不同。PPO常见的critic是另一个可训练值函数，GRPO的经典版本用组内相对奖励估计优势，省去单独的critic。奖励可由规则、测试或奖励模型产生，GRPO不等于不需要奖励机制。参考DeepSeekMath第4.1节 https://arxiv.org/html/2402.03300v3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24—26 分钟</a:t>
            </a:r>
          </a:p>
          <a:p>
            <a:endParaRPr/>
          </a:p>
          <a:p>
            <a:r>
              <a:t>GRPO的组内优势，2分钟。对同一任务采样G=4次，奖励为0、1、1、0。先算均值0.5，再算总体方差0.25与标准差0.5，所以优势为−1、1、1、−1。不是只保留最高分回答，负优势样本同样参与目标。为数值稳定在分母加小量δ，和后面裁剪用的ε区分。若组内奖励完全相同，优势为零，策略项没有相对区分信号，KL仍可能影响更新。组大小G增大会增加采样成本，也可能带来更多比较信息。该页是自拟算例，组均值包含样本自身，不能直接套用动作无关baseline的无偏性结论。方法依据DeepSeekMath第4.1.2节：https://arxiv.org/html/2402.03300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26—28 分钟</a:t>
            </a:r>
          </a:p>
          <a:p>
            <a:endParaRPr/>
          </a:p>
          <a:p>
            <a:r>
              <a:t>这里采用DeepSeekMath的token级、结果奖励版本进行讲解。对同一问题x从πold采样G个回答y_i。用组内奖励均值与标准差得到A_i，并把同一A_i赋给回答i中的各个模型生成token。ρ_i,t是当前模型与旧模型对已采样token的条件概率比。先定义单token裁剪项ℓ，再在回答内按长度平均、在组内平均，并减去KL估计项。J是应最大化的目标，代码若使用最小化loss，取负号。此处k表示逐token KL估计项，下一页说明其参考分布。实践中的长度归一化、标准差归一化、KL系数和采样方式有变体，不把该公式称为所有GRPO实现的唯一形式。参考https://arxiv.org/html/2402.03300v3 第4.1节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28—30 分钟</a:t>
            </a:r>
          </a:p>
          <a:p>
            <a:endParaRPr/>
          </a:p>
          <a:p>
            <a:r>
              <a:t>本页先忽略KL项，只看单个token的策略目标。ε取0.2，所以clip区间是0.8到1.2。逐行手算：A=1、ρ=1.5时min(1.5,1.2)=1.2，继续增大该token概率不再增加这一项收益。A=−1、ρ=0.5时min(−0.5,−0.8)=−0.8，继续降低其概率不再增加收益。另两行展示不利方向仍受惩罚，因此不能简化成“概率都锁死在±20%”。神经网络参数共享、KL项和其他样本仍可能改变某token概率，裁剪不是硬约束。课堂用计算器把A改为负值，观察min的选择，约30秒。此表是课程自拟数值例子，计算实现见Agent课程演示60/06_GRPO/裁剪计算器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30—31 分钟</a:t>
            </a:r>
          </a:p>
          <a:p>
            <a:endParaRPr/>
          </a:p>
          <a:p>
            <a:r>
              <a:t>对每个上下文h，比较当前策略与参考策略在整个词表上的分布。KL是分布级量，不能把单个样本的log概率比当作始终非负的KL。常用的逐token估计项写成k=πref/πθ−log(πref/πθ)−1，在当前策略采样下其期望对应KL(πθ||πref)，使用旧策略样本时需注意相应近似或校正。页面用完整分布形式避免混淆。裁剪比较πθ与πold，KL比较πθ与πref，二者解决不同约束问题。β过大可能限制学习，过小可能使输出分布偏离过快，需要在验证集与训练日志中观察。参考DeepSeekMath第4.1节与R1第2.2.1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31—32 分钟</a:t>
            </a:r>
          </a:p>
          <a:p>
            <a:endParaRPr/>
          </a:p>
          <a:p>
            <a:r>
              <a:t>按顺序讲清采样与优化的分离。首先取任务批次，保存旧策略快照或旧log概率。为每个任务生成多个回答或多步执行，评分后计算组内优势。固定当前批次的旧log概率与优势，在若干优化步骤中重新计算当前log概率、裁剪项与KL项，反向传播。然后刷新采样策略，重新采样。工具型Agent的rollout需要运行真实工具，耗时和环境重置成本常高于单轮文本生成。若使用异步采样或长时间重放，会增加策略滞后，需要额外的off-policy处理。下方是教学伪代码，不是可直接训练大模型的完整程序。资料https://arxiv.org/html/2402.03300v3 Algorithm 1及https://arxiv.org/abs/2508.03680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32—33 分钟</a:t>
            </a:r>
          </a:p>
          <a:p>
            <a:endParaRPr/>
          </a:p>
          <a:p>
            <a:r>
              <a:t>1分钟。模型动作可以是一段文字或结构化工具请求。工具返回的结果会影响后续决策，但不是模型生成token，不应直接计算这些观察token的策略梯度。多轮轨迹可以拼接并掩码，也可以组织成每次调用的transition。用终局奖励统一给所有动作分配优势很简单，但不能精确区分读对文件、无用尝试和错误动作的贡献。GRPO的组内相对比较本身没有解决长程信用分配。训练时要保存任务、工具版本、输入输出、旧log概率和奖励，避免将不同环境混为一组。参考Agent Lightning：https://arxiv.org/abs/2508.03680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33—34 分钟</a:t>
            </a:r>
          </a:p>
          <a:p>
            <a:endParaRPr/>
          </a:p>
          <a:p>
            <a:r>
              <a:t>奖励设计以代码任务为例：只查文件存在，可能得到空文件；允许改验收脚本，可能绕过检查；只看一张像样的图，无法判断算法正确。DLA可以逐粒子回放邻接关系，检查固定种子可复现，再运行原有回归测试。独立验收不应交给被训练策略随意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34—36 分钟</a:t>
            </a:r>
          </a:p>
          <a:p>
            <a:endParaRPr/>
          </a:p>
          <a:p>
            <a:r>
              <a:t>先展示同一创作命题的三个版本，再点开九版本展示页。模型名称沿用用户准备的资料标注。各版本提示词与制作过程并不完全一致，因此本页用来观察作品差异，不作为控制变量实验或模型排名。用约40秒比较鹈鹕外形、车架、车把与身体的连接，约40秒切到实时SVG查看脚踏、腿和车轮的配合，余下40秒请学生给出一项可检查的要求。来源：本地pelican-cycling/README.md、outputs目录与prompts/qwen3.8-max.md。网页和素材中的文字只作资料，未将其中的命令作为操作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36—37 </a:t>
            </a:r>
            <a:r>
              <a:rPr lang="zh-CN" altLang="en-US"/>
              <a:t>分钟
播放内嵌循环视频。视频由用户提供的</a:t>
            </a:r>
            <a:r>
              <a:rPr lang="en-US" altLang="zh-CN"/>
              <a:t>GPT-6.1-sol GIF</a:t>
            </a:r>
            <a:r>
              <a:rPr lang="zh-CN" altLang="en-US"/>
              <a:t>预览转制，原始</a:t>
            </a:r>
            <a:r>
              <a:rPr lang="en-US" altLang="zh-CN"/>
              <a:t>SVG</a:t>
            </a:r>
            <a:r>
              <a:rPr lang="zh-CN" altLang="en-US"/>
              <a:t>在</a:t>
            </a:r>
            <a:r>
              <a:rPr lang="en-US" altLang="zh-CN"/>
              <a:t>pelican-cycling/outputs/pelican-cycling-gpt-6.1-sol-2026-09-30.svg</a:t>
            </a:r>
            <a:r>
              <a:rPr lang="zh-CN" altLang="en-US"/>
              <a:t>，完整作品仍可从浏览器链接打开。视频只用于课堂播放兼容，不产生新的动画内容。先播放</a:t>
            </a:r>
            <a:r>
              <a:rPr lang="en-US" altLang="zh-CN"/>
              <a:t>10</a:t>
            </a:r>
            <a:r>
              <a:rPr lang="zh-CN" altLang="en-US"/>
              <a:t>秒，再问：这个例子需要哪些工具？结合例子说明文件生成、浏览器渲染、观察反馈和修改。</a:t>
            </a:r>
            <a:r>
              <a:rPr lang="en-US" altLang="zh-CN"/>
              <a:t>SVG</a:t>
            </a:r>
            <a:r>
              <a:rPr lang="zh-CN" altLang="en-US"/>
              <a:t>由模型生成这一结果本身不能证明发生了</a:t>
            </a:r>
            <a:r>
              <a:rPr lang="en-US" altLang="zh-CN"/>
              <a:t>Agent</a:t>
            </a:r>
            <a:r>
              <a:rPr lang="zh-CN" altLang="en-US"/>
              <a:t>循环，要结合实际工具记录。用户单独准备的鹈鹕骑自行车</a:t>
            </a:r>
            <a:r>
              <a:rPr lang="en-US" altLang="zh-CN"/>
              <a:t>_</a:t>
            </a:r>
            <a:r>
              <a:rPr lang="zh-CN" altLang="en-US"/>
              <a:t>动态</a:t>
            </a:r>
            <a:r>
              <a:rPr lang="en-US" altLang="zh-CN"/>
              <a:t>.svg</a:t>
            </a:r>
            <a:r>
              <a:rPr lang="zh-CN" altLang="en-US"/>
              <a:t>也作为另一版本提供链接。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369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37—38 分钟</a:t>
            </a:r>
          </a:p>
          <a:p>
            <a:endParaRPr/>
          </a:p>
          <a:p>
            <a:r>
              <a:t>这是2026年10月公开的Battle Drones，不是单页网页概念图。作者记录了从早期原型到3D游戏的过程，也公开了代码、若干对话和可以玩的版本。课堂可以从来源链接进入游戏，用一分钟看一下模型、地图和操作。这里只用这个项目说明今天的代码Agent能处理多文件、素材和运行反馈，不能把作者个人项目当成所有任务的成功率。主要开发工具是Claude Code。</a:t>
            </a:r>
          </a:p>
          <a:p>
            <a:r>
              <a:t>原文、图源、代码和在线演示：https://simonwillison.net/2026/Oct/20/battledrones/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38—39 分钟</a:t>
            </a:r>
          </a:p>
          <a:p>
            <a:endParaRPr/>
          </a:p>
          <a:p>
            <a:r>
              <a:t>这是为本课制作的离线网页，不依赖网络。它读取实际计算得到的KHI快照，提供时间滑块、求解器切换和密度切片导出。网页没有在浏览器里实时解Euler方程，计算数据来自Python和pyro2。前端的价值在于把结果变成可以操作和检查的东西。展示时先拨到t=0，再拨回t=2。后面Computer Use会回到同一个网页，执行一次导出任务。打开链接需把PPT与“Agent课程演示”文件夹一起保留。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39—40 分钟</a:t>
            </a:r>
          </a:p>
          <a:p>
            <a:endParaRPr/>
          </a:p>
          <a:p>
            <a:r>
              <a:t>本课求解的是二维可压缩、无黏Euler方程，使用理想气体状态方程。U中的四个分量分别是质量、两个方向的动量和总能量密度。计算机不能直接演化连续场，需要网格、界面通量和时间推进。右边的小图是本课模型的密度初值，颜色表示密度。这里不要求学生现场推导通量，只要理解：方程、初值、边界和离散方法共同决定计算。KHI不是对一张图施加旋转特效，而是剪切层受到扰动后在动力学方程下演化。</a:t>
            </a:r>
          </a:p>
          <a:p>
            <a:r>
              <a:t>模型与初值参考：https://arxiv.org/abs/1111.1764</a:t>
            </a:r>
          </a:p>
          <a:p>
            <a:r>
              <a:t>代码：https://github.com/python-hydro/pyro2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40—41 </a:t>
            </a:r>
            <a:r>
              <a:rPr lang="zh-CN" altLang="en-US"/>
              <a:t>分钟
本页嵌入</a:t>
            </a:r>
            <a:r>
              <a:rPr lang="en-US" altLang="zh-CN"/>
              <a:t>MP4</a:t>
            </a:r>
            <a:r>
              <a:rPr lang="zh-CN" altLang="en-US"/>
              <a:t>视频，时长约</a:t>
            </a:r>
            <a:r>
              <a:rPr lang="en-US" altLang="zh-CN"/>
              <a:t>11</a:t>
            </a:r>
            <a:r>
              <a:rPr lang="zh-CN" altLang="en-US"/>
              <a:t>秒，设为放映时自动循环播放。视频使用</a:t>
            </a:r>
            <a:r>
              <a:rPr lang="en-US" altLang="zh-CN"/>
              <a:t>pyro2</a:t>
            </a:r>
            <a:r>
              <a:rPr lang="zh-CN" altLang="en-US"/>
              <a:t>在</a:t>
            </a:r>
            <a:r>
              <a:rPr lang="en-US" altLang="zh-CN"/>
              <a:t>256²</a:t>
            </a:r>
            <a:r>
              <a:rPr lang="zh-CN" altLang="en-US"/>
              <a:t>网格上的</a:t>
            </a:r>
            <a:r>
              <a:rPr lang="en-US" altLang="zh-CN"/>
              <a:t>21</a:t>
            </a:r>
            <a:r>
              <a:rPr lang="zh-CN" altLang="en-US"/>
              <a:t>个实际输出快照，右侧模拟时刻从</a:t>
            </a:r>
            <a:r>
              <a:rPr lang="en-US" altLang="zh-CN"/>
              <a:t>0</a:t>
            </a:r>
            <a:r>
              <a:rPr lang="zh-CN" altLang="en-US"/>
              <a:t>推进到</a:t>
            </a:r>
            <a:r>
              <a:rPr lang="en-US" altLang="zh-CN"/>
              <a:t>2</a:t>
            </a:r>
            <a:r>
              <a:rPr lang="zh-CN" altLang="en-US"/>
              <a:t>，视频播放时间不是物理模拟时间。编辑视图可点击视频上的播放按钮。若其他查看器不支持嵌入媒体，使用同目录</a:t>
            </a:r>
            <a:r>
              <a:rPr lang="en-US" altLang="zh-CN"/>
              <a:t>Agent</a:t>
            </a:r>
            <a:r>
              <a:rPr lang="zh-CN" altLang="en-US"/>
              <a:t>课程演示</a:t>
            </a:r>
            <a:r>
              <a:rPr lang="en-US" altLang="zh-CN"/>
              <a:t>/KHI_</a:t>
            </a:r>
            <a:r>
              <a:rPr lang="zh-CN" altLang="en-US"/>
              <a:t>时间演化</a:t>
            </a:r>
            <a:r>
              <a:rPr lang="en-US" altLang="zh-CN"/>
              <a:t>.mp4</a:t>
            </a:r>
            <a:r>
              <a:rPr lang="zh-CN" altLang="en-US"/>
              <a:t>，或打开原</a:t>
            </a:r>
            <a:r>
              <a:rPr lang="en-US" altLang="zh-CN"/>
              <a:t>KHI</a:t>
            </a:r>
            <a:r>
              <a:rPr lang="zh-CN" altLang="en-US"/>
              <a:t>实验台拖动时间。请学生先描述看到的变化，再联系初始剪切和扰动。不是</a:t>
            </a:r>
            <a:r>
              <a:rPr lang="en-US" altLang="zh-CN"/>
              <a:t>AI</a:t>
            </a:r>
            <a:r>
              <a:rPr lang="zh-CN" altLang="en-US"/>
              <a:t>生成的流体插画，也没有靠视觉插帧制造新物理状态。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34693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41—42 分钟</a:t>
            </a:r>
          </a:p>
          <a:p>
            <a:endParaRPr/>
          </a:p>
          <a:p>
            <a:r>
              <a:t>左边是本课由AI编写的一阶Rusanov有限体积原型；右边是pyro2的二阶HLLC求解器。两者共享同一份初始数组和周期边界。第一份程序能运行，密度保持正值，总质量也很好，但数值耗散把剪切层抹得很宽，扰动几乎没有长成卷曲结构。这个例子说明“程序没报错”和“研究问题已算清楚”之间有距离。不能由此推断AI一定写不好CFD，也不能仅凭右图更清晰就说它已经收敛；这里展示的是这两个具体实现的差异。</a:t>
            </a:r>
          </a:p>
          <a:p>
            <a:r>
              <a:t>pyro2：https://github.com/python-hydro/pyro2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42—43 分钟</a:t>
            </a:r>
          </a:p>
          <a:p>
            <a:endParaRPr/>
          </a:p>
          <a:p>
            <a:r>
              <a:t>先用一个熟悉的随机过程过渡到后面的枝状聚集。粒子在二维正方格上每步等概率向上下左右走一格。步长取1，n步的均方位移期望是n，单条轨迹却会东拐西绕。蒙特卡洛的基本做法是重复随机采样，用样本平均估计关心的量；独立、有限方差样本的标准误通常按样本数的平方根缩小。DLA不只是在估计一个积分，而是用大量随机游走构造一个随机生长模型。它可以帮助理解枝状结构，但不是完整的真实晶体生长模型。</a:t>
            </a:r>
          </a:p>
          <a:p>
            <a:r>
              <a:t>DLA模型：https://doi.org/10.1103/PhysRevLett.47.1400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43—44 分钟</a:t>
            </a:r>
          </a:p>
          <a:p>
            <a:endParaRPr/>
          </a:p>
          <a:p>
            <a:r>
              <a:t>这是一次模拟的三个时刻，而不是三个独立图案。一个固定种子放在中央，新的粒子从团簇外侧出发，随机游走，一旦和团簇四邻接就黏住。靠外的尖端更容易先遇到新粒子，内部凹陷较难被随机游走访问，因此生长会分枝。颜色只编码加入顺序，不能解释为温度或元素。模型没有潜热、界面能或结晶取向，所以称它为扩散限制聚集，不把它当作真实雪花或材料凝固的定量模型。</a:t>
            </a:r>
          </a:p>
          <a:p>
            <a:r>
              <a:t>Witten与Sander原模型：https://doi.org/10.1103/PhysRevLett.47.1400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44—45 分钟</a:t>
            </a:r>
          </a:p>
          <a:p>
            <a:endParaRPr/>
          </a:p>
          <a:p>
            <a:r>
              <a:t>这段是算法伪代码，省去了如何从外部发射粒子、如何杀死跑远的粒子和性能优化。请学生说说哪个参数会改变形状：邻接规则、黏附概率、发射边界都可能。真实运行代码在演示目录里，采用701²格点、固定随机种子；若一个粒子长期未黏附，程序有最大游走步数，所以统计研究还要检查这个截断是否影响结果。这里最值得让Agent帮忙的是把规则写成程序、做动画和参数扫描，规则本身仍需要我们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45—50 分钟</a:t>
            </a:r>
          </a:p>
          <a:p>
            <a:endParaRPr/>
          </a:p>
          <a:p>
            <a:r>
              <a:t>4分钟 coding 演示。第一分钟交任务，观察Agent生成文件和选择运行方式。第二分钟运行1000粒子版本，打开代码核对四方向随机游走和四邻接黏附。第三分钟固定种子，只把黏附邻居列表改为八邻接，重跑并比较。第四分钟导出坐标，逐粒子检查新粒子是否与当时已有团簇相邻，同时检查重复坐标。八邻接版本仍采用上下左右四方向随机游走。改变黏附规则会改变后续轨迹，不根据单次图样归纳普遍物理结论。</a:t>
            </a:r>
          </a:p>
          <a:p>
            <a:r>
              <a:t>在线生成较慢时，打开备用的实时DLA.html，它会重新计算随机游走，支持暂停、重置和CSV导出。明确说明该程序是课前准备，不冒充现场生成。旧页面DLA枝状生长.html仅播放预计算轨迹。完整任务见Agent课程演示60/04_DLA/现场Coding任务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50—51 分钟</a:t>
            </a:r>
          </a:p>
          <a:p>
            <a:endParaRPr/>
          </a:p>
          <a:p>
            <a:r>
              <a:t>Co-Work部分共6分钟，介绍工作流跨软件时怎样读取资料、调用接口和写回文件。邮件、日历、网盘和Office均为接入类别。具体工具是否支持读写由服务与权限决定。本节只保留一个简短办公案例，不现场运行办公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51—52 分钟</a:t>
            </a:r>
          </a:p>
          <a:p>
            <a:endParaRPr/>
          </a:p>
          <a:p>
            <a:r>
              <a:t>这是软件类别示例，不表示任意一个产品默认全都接好了。邮件和日历分别提供通信内容与时间约束；文件库提供上次纪要、附件和版本；表格与文稿提供计算和交付场所。不同平台的连接器可能只支持检索，也可能支持说明的创建或修改工具。必须看具体工具清单，不能从“连上”推断“可以随便写入”。下面的例子从这些类别里各选一项，不要求课堂同时登录多套账号。</a:t>
            </a:r>
          </a:p>
          <a:p>
            <a:r>
              <a:t>参考：https://support.claude.com/en/articles/11176164-use-connectors-to-extend-claude-s-capabilities</a:t>
            </a:r>
          </a:p>
          <a:p>
            <a:r>
              <a:t>https://claude.com/resources/articles/cowork-plugins-across-enterprise</a:t>
            </a:r>
          </a:p>
          <a:p>
            <a:r>
              <a:t>https://support.microsoft.com/en-us/microsoft-365-copilot/understand-copilot-connectors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52—53 分钟</a:t>
            </a:r>
          </a:p>
          <a:p>
            <a:endParaRPr/>
          </a:p>
          <a:p>
            <a:r>
              <a:t>MCP是AI应用与工具服务通信的一套约定，包含工具、资源和提示模板等概念。这里聚焦工具：服务端提供工具名、用途和参数schema，客户端按协议请求调用。服务端背后仍可使用既有软件API。MCP本身不替代软件的身份与权限系统，也不会自动赋予更多权限。连接器是用户看到的接入入口，可能使用MCP或其他集成方式。插件常把工具与技能等打包；Skill复用任务步骤、模板或领域做法。Office插件或加载项则把AI放在文档所在的应用里。这些是不同层次，不是互相竞争的同义词。</a:t>
            </a:r>
          </a:p>
          <a:p>
            <a:r>
              <a:t>参考：https://github.com/modelcontextprotocol/modelcontextprotocol/blob/main/docs/docs/2026-07-28/learn/architecture.mdx</a:t>
            </a:r>
          </a:p>
          <a:p>
            <a:r>
              <a:t>https://support.claude.com/en/articles/11176164-use-connectors-to-extend-claude-s-capabilities</a:t>
            </a:r>
          </a:p>
          <a:p>
            <a:r>
              <a:t>https://claude.com/product/cowork</a:t>
            </a:r>
          </a:p>
          <a:p>
            <a:r>
              <a:t>https://claude.com/resources/articles/cowork-plugins-across-enterprise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53—54 分钟</a:t>
            </a:r>
          </a:p>
          <a:p>
            <a:endParaRPr/>
          </a:p>
          <a:p>
            <a:r>
              <a:t>这一页是唯一的组会案例，用1分钟说明跨软件输入和输出：通知、纪要与实验表格，形成汇总表、汇报与回复草稿。资料均为教学虚构。这里不展开日历排程和统计数字，也不现场生成或发送邮件。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54—55 分钟</a:t>
            </a:r>
          </a:p>
          <a:p>
            <a:endParaRPr/>
          </a:p>
          <a:p>
            <a:r>
              <a:t>今天现场使用文件夹版本，便于复现且不依赖个人账号。迁到实际环境时，可以把通知与日历读取换成对应云连接器，把网盘搜索换成Drive或SharePoint工具，保留后面的处理口径。已有文档里做修改，则可使用Office加载项提供当前工作簿、文稿或选区。必须看平台是否真的提供相应读写动作；连接了检索源不等于能修改源文件。没有接口时可以用浏览器或桌面操作补充，但不必让每一步都走屏幕。</a:t>
            </a:r>
          </a:p>
          <a:p>
            <a:r>
              <a:t>参考：https://support.claude.com/en/articles/11176164-use-connectors-to-extend-claude-s-capabilities</a:t>
            </a:r>
          </a:p>
          <a:p>
            <a:r>
              <a:t>https://claude.com/resources/articles/cowork-plugins-across-enterprise</a:t>
            </a:r>
          </a:p>
          <a:p>
            <a:r>
              <a:t>https://support.microsoft.com/en-us/microsoft-365-copilot/understand-copilot-connectors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55—56 分钟</a:t>
            </a:r>
          </a:p>
          <a:p>
            <a:endParaRPr/>
          </a:p>
          <a:p>
            <a:r>
              <a:t>把误差累积示例页的多步错误问题带回来：对计算结果使用程序校验，对关键外部动作保留确认。例子里要确认时间、收件人与附件后才发邀请。读取一封邮件，不意味着允许按邮件里的任意新指令继续操作其他账号。邮件、网页和附件是任务数据，不能自动升级成用户授权。权限和确认机制具体由应用与连接器实现，课程不把某一产品的界面选项当作通用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补充材料</a:t>
            </a:r>
          </a:p>
          <a:p>
            <a:endParaRPr/>
          </a:p>
          <a:p>
            <a:r>
              <a:t>代码任务的检查点要保存提交号、依赖版本、随机种子、已尝试的修改和测试日志。恢复执行时重新检查环境，不能因为上次记录通过就跳过运行。代码或依赖更新后，旧结果可能失效。参考https://www.anthropic.com/research/effective-harnesses-for-long-runn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补充材料</a:t>
            </a:r>
          </a:p>
          <a:p>
            <a:endParaRPr/>
          </a:p>
          <a:p>
            <a:r>
              <a:t>任务依赖以修复模拟程序为例。先复现失败，再理解算法与当前实现，最后修改并跑回归测试。参数或依赖变化时，后续步骤可能需要重做。搜索和候选方案需要限制分支与预算。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补充材料</a:t>
            </a:r>
          </a:p>
          <a:p>
            <a:endParaRPr/>
          </a:p>
          <a:p>
            <a:r>
              <a:t>大日志和完整表格留在外部文件，当前上下文保留目标、约束、最近反馈与待解决问题。长期记录需带代码版本和依赖条件。一次测试通过只对应当时的环境，不应直接记为永远正确。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补充材料</a:t>
            </a:r>
          </a:p>
          <a:p>
            <a:endParaRPr/>
          </a:p>
          <a:p>
            <a:r>
              <a:t>编译器报错、测试结果和人工反馈会提供新观察。Reflexion将失败经验写成语言反馈，保存在跨试次的情节记忆中，以影响后续试次，实验中不更新模型权重。微调或强化学习则在训练过程中改变参数，两者可以结合。不能把模型自述“我反思了”直接当作正确性证据。尤其同一模型反复评价自己时，错误可能高度相关。反馈强弱应看能否验证：断言失败比一句“看起来对”更具体。来源：https://arxiv.org/abs/2303.11366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补充材料</a:t>
            </a:r>
          </a:p>
          <a:p>
            <a:endParaRPr/>
          </a:p>
          <a:p>
            <a:r>
              <a:t>回到我们的实验台。Computer Use让模型观察屏幕，再调用鼠标、键盘和滚动等操作。它执行后必须再看页面，因为点击可能没有生效，也可能弹出了新窗口。与直接调用API相比，这条路径更接近人使用软件的方式，适合没有接口的应用。很多平台也提供结构化浏览器工具，能读页面元素；这和只看像素定位不完全相同。下一页给的是本课网页真实执行过的浏览器操作记录，操作工具是浏览器自动化，不把它伪装成某个产品完整自主操作的录像。</a:t>
            </a:r>
          </a:p>
          <a:p>
            <a:r>
              <a:t>原理与限制参考：https://claude.com/resources/articles/dispatch-and-computer-use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补充材料</a:t>
            </a:r>
          </a:p>
          <a:p>
            <a:endParaRPr/>
          </a:p>
          <a:p>
            <a:r>
              <a:t>多Agent可以按角色拆分检索、计算与复核。潜在收益来自并行和专业分工，但通信、上下文重复和结果合并增加成本。若多个Agent拿到相同缺失材料或依赖同一错误前提，不能按独立投票估计可靠性。对于短而确定的流程，一个Agent加程序检查可能已经足够。这是架构取舍，不列一个未经对照实验支持的优劣排名。研究生可以设计消融：单Agent、单Agent加验收器、多Agent，在相同预算下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56—60 分钟</a:t>
            </a:r>
          </a:p>
          <a:p>
            <a:endParaRPr/>
          </a:p>
          <a:p>
            <a:r>
              <a:t>Q&amp;A</a:t>
            </a:r>
          </a:p>
          <a:p>
            <a:endParaRPr/>
          </a:p>
          <a:p>
            <a:r>
              <a:t>回答课堂问题。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F7217-8211-45FE-85F8-EC05228F2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A0460E-70B6-9212-0144-D321CC4B9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63626-7DC7-E234-6BC2-E0237998D7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0C838-720C-1DEE-BA65-7F605E6B37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F3AE9-2F43-74D0-0645-6AA7D621CC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AD140-6DB1-87CB-6386-11E85C00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17F870-7D64-B282-3AE0-366638D7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80DBE-83DC-9CC6-AC27-F7344D3842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3C6F2-C562-7DC6-3AD4-15B6A21346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E1070-E33D-9316-DCD7-AFCA348569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E1216-A6C6-45A2-7EFB-545B735B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CC1E10-61ED-6B4B-0AD6-CBA00C98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8FE82-CB60-063E-55DD-C90C0BA317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42A99B-7CFE-7119-9C6A-0D9E98213B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70E90-CC03-17A1-DFC8-05566BAD7E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C1163-BC9B-1FC2-0D96-3448F8B0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1279-FBCB-7D90-7850-76A3C69E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4F5934-5218-8816-E0F1-FCCB7A6D738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305499-A09D-F3AB-5D1F-E81D1A8478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465F78-D861-27B8-FE86-D2C3A03F04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26FF04-78F1-5FC5-3176-DAAE59DE0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91230-D516-EC0D-8D85-988C326C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620A8D-18E7-6FF7-3306-C55BC790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58F92A-66D8-3764-961A-EFA8FE33B7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4A6290-2985-4DC2-60B4-9091B3B2BF3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FE8328-744C-E319-A1A9-D6DA6FC86D6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964FA0-4247-AEFF-1258-3CA6D68FA5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428CEC-62CD-5AC6-5A78-FD202A4F1C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541C31-D608-51A2-8FA9-FBDBE1A993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FFB17-6389-6B3B-71C0-721AE2DA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E2632E-009E-D74D-5F47-52A90689E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99A468-174F-0830-E148-30AE7EA8E5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88C688-DB8D-7ABE-516E-C9EC194C6D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BFABE6-AFE2-AADC-AB40-F496518B5B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5909D7-35CA-EAE3-D522-6BDFE15E92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FCD879-958B-AFFC-BB28-AB041A49B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93921-A867-7069-31DF-1923FEFE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081D45-E11F-164B-D54A-224BE5597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5CAD3E-7ED2-9D8E-2A3D-18FA094B4E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FBA0-2415-4F6F-5250-EB3AFD089D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67D71B-3523-E05A-1C05-74F0078566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149C9C-3596-3589-28AC-1E2A477449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4374F-27A5-C621-FDF7-541490F7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36385D-312C-B975-8121-FA2A9B5DD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E6EC78-C341-7F85-3C04-F07323A944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D36040-F61D-F7A5-66CF-F1914E7AC8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A0436C-CDC6-EB77-B338-AFC224E348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766DA4-4284-98E4-88D0-89B1C58E9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C4E2F-B589-1754-2FAA-6BAAA27A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F5BE99-CC2F-9CE4-8E77-B9E104B51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B0E518-64D4-E7DD-C3A7-D608FCB5C8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AAA6-9BE5-8BB9-1A72-F0076DF836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4DCDEE-7CB5-755C-B54B-78DA5382CD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105AAB-FCA2-089D-8E3F-1ED0E7B7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660C98-7997-E880-02C1-C7BE53328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12C7A5-540F-8FD4-8C95-1478C417A8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80D295-B83B-4C32-1786-CECC897F79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A07F82-FEAB-702A-0722-E44925C6CE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4AF73-7A55-4C5F-8C47-943FE3EE9F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CE2544-9607-DEB6-1DA0-2B7BDEB8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ECCC2-D32D-4014-6745-32B903E46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2CD249-E7E4-978B-AEAC-CC557071DF8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30173-49BC-4EA8-8C5E-B996930FCC29}" type="datetimeFigureOut">
              <a:t>2026/10/29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FC834E-2BEA-181E-F634-8AC52F67F0C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55223B-EDC0-184C-396A-950D139B6CC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4AF73-7A55-4C5F-8C47-943FE3EE9F9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gent&#35838;&#31243;&#28436;&#31034;60/07_CodingSkill/&#25945;&#23398;&#35828;&#26126;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Agent&#35838;&#31243;&#28436;&#31034;60/06_GRPO/&#35009;&#21098;&#35745;&#31639;&#22120;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hyperlink" Target="pelican-cycling/index.htm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&#40520;&#40533;&#39569;&#33258;&#34892;&#36710;_&#21160;&#24577;.svg" TargetMode="External"/><Relationship Id="rId3" Type="http://schemas.openxmlformats.org/officeDocument/2006/relationships/slideLayout" Target="../slideLayouts/slideLayout7.xml"/><Relationship Id="rId7" Type="http://schemas.openxmlformats.org/officeDocument/2006/relationships/hyperlink" Target="pelican-cycling/index.html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pelican-cycling/outputs/pelican-cycling-gpt-6.1-sol-2026-09-30.svg" TargetMode="Externa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7.xml"/><Relationship Id="rId9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imonwillison.net/2026/Oct/20/battledrones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hyperlink" Target="Agent&#35838;&#31243;&#28436;&#31034;/KHI&#25968;&#20540;&#23454;&#39564;&#21488;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hyperlink" Target="Agent&#35838;&#31243;&#28436;&#31034;/KHI_&#26102;&#38388;&#28436;&#21270;.mp4" TargetMode="Externa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Agent&#35838;&#31243;&#28436;&#31034;60/04_DLA/&#23454;&#26102;DLA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Agent&#35838;&#31243;&#28436;&#31034;60/04_DLA/&#29616;&#22330;Coding&#20219;&#21153;.txt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&#21150;&#20844;&#24037;&#20316;&#27969;_&#35838;&#22530;&#28436;&#31034;/&#35838;&#22530;&#20219;&#21153;.txt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83C38-E38A-B871-E16A-B43D26287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33500"/>
            <a:ext cx="5810250" cy="2333625"/>
          </a:xfrm>
        </p:spPr>
        <p:txBody>
          <a:bodyPr lIns="0" tIns="0" rIns="0" bIns="0"/>
          <a:lstStyle>
            <a:defPPr algn="l"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Few shots</a:t>
            </a:r>
            <a:endParaRPr/>
          </a:p>
          <a:p>
            <a:pPr algn="l">
              <a:buNone/>
              <a:def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52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of AI Agents</a:t>
            </a:r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C0CF01-8D55-1658-C73F-F6F053134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4476750"/>
            <a:ext cx="5810250" cy="1047750"/>
          </a:xfrm>
        </p:spPr>
        <p:txBody>
          <a:bodyPr lIns="0" tIns="0" rIns="0" bIns="0"/>
          <a:lstStyle>
            <a:defPPr algn="l"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53657B"/>
                </a:solidFill>
                <a:latin typeface="等线"/>
                <a:ea typeface="等线"/>
                <a:cs typeface="等线"/>
              </a:rPr>
              <a:t>许嘉洲</a:t>
            </a:r>
            <a:endParaRPr/>
          </a:p>
          <a:p>
            <a:pPr algn="l"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53657B"/>
                </a:solidFill>
                <a:latin typeface="等线"/>
                <a:ea typeface="等线"/>
                <a:cs typeface="等线"/>
              </a:rPr>
              <a:t>中国科学技术大学，人工智能与数据科学学院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074E53-2321-4594-8754-3771B50328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r="11111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6" name="2026.10">
            <a:extLst>
              <a:ext uri="{FF2B5EF4-FFF2-40B4-BE49-F238E27FC236}">
                <a16:creationId xmlns:a16="http://schemas.microsoft.com/office/drawing/2014/main" id="{714A7497-CAE0-4A48-8C00-8547B87037B1}"/>
              </a:ext>
            </a:extLst>
          </p:cNvPr>
          <p:cNvSpPr>
            <a:spLocks noGrp="1"/>
          </p:cNvSpPr>
          <p:nvPr/>
        </p:nvSpPr>
        <p:spPr>
          <a:xfrm>
            <a:off x="647700" y="59817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500" b="0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719917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目录">
            <a:extLst>
              <a:ext uri="{FF2B5EF4-FFF2-40B4-BE49-F238E27FC236}">
                <a16:creationId xmlns:a16="http://schemas.microsoft.com/office/drawing/2014/main" id="{906D9847-2096-4CF1-B31C-AFEFCC7C074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内容目录</a:t>
            </a:r>
          </a:p>
        </p:txBody>
      </p:sp>
      <p:sp>
        <p:nvSpPr>
          <p:cNvPr id="2" name="Agent 原理简述">
            <a:extLst>
              <a:ext uri="{FF2B5EF4-FFF2-40B4-BE49-F238E27FC236}">
                <a16:creationId xmlns:a16="http://schemas.microsoft.com/office/drawing/2014/main" id="{9B2DE4A5-097A-43A5-9388-A00DB2ACA141}"/>
              </a:ext>
            </a:extLst>
          </p:cNvPr>
          <p:cNvSpPr>
            <a:spLocks noGrp="1"/>
          </p:cNvSpPr>
          <p:nvPr/>
        </p:nvSpPr>
        <p:spPr>
          <a:xfrm>
            <a:off x="704850" y="1476375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6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Agent 原理简述</a:t>
            </a:r>
          </a:p>
        </p:txBody>
      </p:sp>
      <p:sp>
        <p:nvSpPr>
          <p:cNvPr id="4" name="Agent 原理">
            <a:extLst>
              <a:ext uri="{FF2B5EF4-FFF2-40B4-BE49-F238E27FC236}">
                <a16:creationId xmlns:a16="http://schemas.microsoft.com/office/drawing/2014/main" id="{0BEECD7F-C46E-48E9-A24C-CA7694C1FB7B}"/>
              </a:ext>
            </a:extLst>
          </p:cNvPr>
          <p:cNvSpPr>
            <a:spLocks noGrp="1"/>
          </p:cNvSpPr>
          <p:nvPr/>
        </p:nvSpPr>
        <p:spPr>
          <a:xfrm>
            <a:off x="1181100" y="2152650"/>
            <a:ext cx="5191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Agent 原理</a:t>
            </a:r>
          </a:p>
        </p:txBody>
      </p:sp>
      <p:sp>
        <p:nvSpPr>
          <p:cNvPr id="5" name="状态、动作与任务目标">
            <a:extLst>
              <a:ext uri="{FF2B5EF4-FFF2-40B4-BE49-F238E27FC236}">
                <a16:creationId xmlns:a16="http://schemas.microsoft.com/office/drawing/2014/main" id="{6B279996-681F-4D52-BD37-C757901E4979}"/>
              </a:ext>
            </a:extLst>
          </p:cNvPr>
          <p:cNvSpPr>
            <a:spLocks noGrp="1"/>
          </p:cNvSpPr>
          <p:nvPr/>
        </p:nvSpPr>
        <p:spPr>
          <a:xfrm>
            <a:off x="6638925" y="21907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状态、动作与任务目标</a:t>
            </a:r>
          </a:p>
        </p:txBody>
      </p:sp>
      <p:sp>
        <p:nvSpPr>
          <p:cNvPr id="6" name="Harness（含 tool calling）">
            <a:extLst>
              <a:ext uri="{FF2B5EF4-FFF2-40B4-BE49-F238E27FC236}">
                <a16:creationId xmlns:a16="http://schemas.microsoft.com/office/drawing/2014/main" id="{563F36E2-8F04-4B42-A6D2-E2D742A778E9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5191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Harness</a:t>
            </a:r>
          </a:p>
        </p:txBody>
      </p:sp>
      <p:sp>
        <p:nvSpPr>
          <p:cNvPr id="7" name="执行循环、检查点与错误恢复">
            <a:extLst>
              <a:ext uri="{FF2B5EF4-FFF2-40B4-BE49-F238E27FC236}">
                <a16:creationId xmlns:a16="http://schemas.microsoft.com/office/drawing/2014/main" id="{3058BB1B-E820-4046-952C-8B5EAECF0C4E}"/>
              </a:ext>
            </a:extLst>
          </p:cNvPr>
          <p:cNvSpPr>
            <a:spLocks noGrp="1"/>
          </p:cNvSpPr>
          <p:nvPr/>
        </p:nvSpPr>
        <p:spPr>
          <a:xfrm>
            <a:off x="6638925" y="27051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执行循环、检查点与错误恢复</a:t>
            </a:r>
          </a:p>
        </p:txBody>
      </p:sp>
      <p:sp>
        <p:nvSpPr>
          <p:cNvPr id="8" name="Memory &amp; Skills">
            <a:extLst>
              <a:ext uri="{FF2B5EF4-FFF2-40B4-BE49-F238E27FC236}">
                <a16:creationId xmlns:a16="http://schemas.microsoft.com/office/drawing/2014/main" id="{607E54F2-35C3-4FB7-B269-721D0853AA49}"/>
              </a:ext>
            </a:extLst>
          </p:cNvPr>
          <p:cNvSpPr>
            <a:spLocks noGrp="1"/>
          </p:cNvSpPr>
          <p:nvPr/>
        </p:nvSpPr>
        <p:spPr>
          <a:xfrm>
            <a:off x="1181100" y="3181350"/>
            <a:ext cx="5191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Memory &amp; Skills</a:t>
            </a:r>
          </a:p>
        </p:txBody>
      </p:sp>
      <p:sp>
        <p:nvSpPr>
          <p:cNvPr id="9" name="任务事实、资料检索与可复用做法">
            <a:extLst>
              <a:ext uri="{FF2B5EF4-FFF2-40B4-BE49-F238E27FC236}">
                <a16:creationId xmlns:a16="http://schemas.microsoft.com/office/drawing/2014/main" id="{42972A8F-A6A5-4556-9D2F-8EA2B456F369}"/>
              </a:ext>
            </a:extLst>
          </p:cNvPr>
          <p:cNvSpPr>
            <a:spLocks noGrp="1"/>
          </p:cNvSpPr>
          <p:nvPr/>
        </p:nvSpPr>
        <p:spPr>
          <a:xfrm>
            <a:off x="6638925" y="32194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任务事实、资料检索与可复用做法</a:t>
            </a:r>
          </a:p>
        </p:txBody>
      </p:sp>
      <p:sp>
        <p:nvSpPr>
          <p:cNvPr id="10" name="Agentic RL">
            <a:extLst>
              <a:ext uri="{FF2B5EF4-FFF2-40B4-BE49-F238E27FC236}">
                <a16:creationId xmlns:a16="http://schemas.microsoft.com/office/drawing/2014/main" id="{2A6CF09C-D721-4477-B9C8-E6EABC0220AE}"/>
              </a:ext>
            </a:extLst>
          </p:cNvPr>
          <p:cNvSpPr>
            <a:spLocks noGrp="1"/>
          </p:cNvSpPr>
          <p:nvPr/>
        </p:nvSpPr>
        <p:spPr>
          <a:xfrm>
            <a:off x="1181100" y="3695700"/>
            <a:ext cx="5191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Agentic RL</a:t>
            </a:r>
          </a:p>
        </p:txBody>
      </p:sp>
      <p:sp>
        <p:nvSpPr>
          <p:cNvPr id="11" name="轨迹、奖励与参数更新">
            <a:extLst>
              <a:ext uri="{FF2B5EF4-FFF2-40B4-BE49-F238E27FC236}">
                <a16:creationId xmlns:a16="http://schemas.microsoft.com/office/drawing/2014/main" id="{D20E6C96-2AD0-41F4-9EE6-A96F95A94120}"/>
              </a:ext>
            </a:extLst>
          </p:cNvPr>
          <p:cNvSpPr>
            <a:spLocks noGrp="1"/>
          </p:cNvSpPr>
          <p:nvPr/>
        </p:nvSpPr>
        <p:spPr>
          <a:xfrm>
            <a:off x="6638925" y="37338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策略梯度、PPO 与 GRPO</a:t>
            </a:r>
          </a:p>
        </p:txBody>
      </p:sp>
      <p:sp>
        <p:nvSpPr>
          <p:cNvPr id="12" name="Vibe Coding">
            <a:extLst>
              <a:ext uri="{FF2B5EF4-FFF2-40B4-BE49-F238E27FC236}">
                <a16:creationId xmlns:a16="http://schemas.microsoft.com/office/drawing/2014/main" id="{ED338ABF-1F45-450F-81C3-71AE17E63989}"/>
              </a:ext>
            </a:extLst>
          </p:cNvPr>
          <p:cNvSpPr>
            <a:spLocks noGrp="1"/>
          </p:cNvSpPr>
          <p:nvPr/>
        </p:nvSpPr>
        <p:spPr>
          <a:xfrm>
            <a:off x="704850" y="4524375"/>
            <a:ext cx="76200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Vibe Coding</a:t>
            </a:r>
          </a:p>
        </p:txBody>
      </p:sp>
      <p:sp>
        <p:nvSpPr>
          <p:cNvPr id="14" name="Co-Work">
            <a:extLst>
              <a:ext uri="{FF2B5EF4-FFF2-40B4-BE49-F238E27FC236}">
                <a16:creationId xmlns:a16="http://schemas.microsoft.com/office/drawing/2014/main" id="{98318036-BCC7-416C-8C75-07125E8C63A9}"/>
              </a:ext>
            </a:extLst>
          </p:cNvPr>
          <p:cNvSpPr>
            <a:spLocks noGrp="1"/>
          </p:cNvSpPr>
          <p:nvPr/>
        </p:nvSpPr>
        <p:spPr>
          <a:xfrm>
            <a:off x="704850" y="5076825"/>
            <a:ext cx="76200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Co-Work</a:t>
            </a:r>
          </a:p>
        </p:txBody>
      </p:sp>
      <p:sp>
        <p:nvSpPr>
          <p:cNvPr id="16" name="讨论">
            <a:extLst>
              <a:ext uri="{FF2B5EF4-FFF2-40B4-BE49-F238E27FC236}">
                <a16:creationId xmlns:a16="http://schemas.microsoft.com/office/drawing/2014/main" id="{77E6C9ED-294E-4411-9D91-8950DA5123D4}"/>
              </a:ext>
            </a:extLst>
          </p:cNvPr>
          <p:cNvSpPr>
            <a:spLocks noGrp="1"/>
          </p:cNvSpPr>
          <p:nvPr/>
        </p:nvSpPr>
        <p:spPr>
          <a:xfrm>
            <a:off x="704850" y="5629275"/>
            <a:ext cx="76200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Q&amp;A</a:t>
            </a:r>
          </a:p>
        </p:txBody>
      </p:sp>
      <p:sp>
        <p:nvSpPr>
          <p:cNvPr id="18" name="开场与目录另计 2 分钟">
            <a:extLst>
              <a:ext uri="{FF2B5EF4-FFF2-40B4-BE49-F238E27FC236}">
                <a16:creationId xmlns:a16="http://schemas.microsoft.com/office/drawing/2014/main" id="{669FA4C3-1A8D-4FD8-B9F6-0297A8E9E9C1}"/>
              </a:ext>
            </a:extLst>
          </p:cNvPr>
          <p:cNvSpPr>
            <a:spLocks noGrp="1"/>
          </p:cNvSpPr>
          <p:nvPr/>
        </p:nvSpPr>
        <p:spPr>
          <a:xfrm>
            <a:off x="704850" y="6334125"/>
            <a:ext cx="94297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3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开场与目录另计 2 分钟</a:t>
            </a:r>
          </a:p>
        </p:txBody>
      </p:sp>
      <p:sp>
        <p:nvSpPr>
          <p:cNvPr id="21" name="02">
            <a:extLst>
              <a:ext uri="{FF2B5EF4-FFF2-40B4-BE49-F238E27FC236}">
                <a16:creationId xmlns:a16="http://schemas.microsoft.com/office/drawing/2014/main" id="{9A7ED552-32B6-47F2-8C26-CC61E86E7955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6360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t 的状态与决策">
            <a:extLst>
              <a:ext uri="{FF2B5EF4-FFF2-40B4-BE49-F238E27FC236}">
                <a16:creationId xmlns:a16="http://schemas.microsoft.com/office/drawing/2014/main" id="{35CC85B2-E4BC-45AB-A3ED-A576A9DC3CB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Agent 原理：状态与动作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68C047-5871-4FC7-AB92-DC43DFF94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66925" y="1524000"/>
            <a:ext cx="7867650" cy="10477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9060AD3-394A-4D4D-A65E-1EA671502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4850" y="3013588"/>
            <a:ext cx="10668000" cy="878448"/>
          </a:xfrm>
          <a:prstGeom prst="rect">
            <a:avLst/>
          </a:prstGeom>
        </p:spPr>
      </p:pic>
      <p:sp>
        <p:nvSpPr>
          <p:cNvPr id="4" name="g：目标　　　 o：观察　　　 a：动作　　　 h：上下文">
            <a:extLst>
              <a:ext uri="{FF2B5EF4-FFF2-40B4-BE49-F238E27FC236}">
                <a16:creationId xmlns:a16="http://schemas.microsoft.com/office/drawing/2014/main" id="{C435159B-265B-410D-B5C0-FA4C1B981A28}"/>
              </a:ext>
            </a:extLst>
          </p:cNvPr>
          <p:cNvSpPr>
            <a:spLocks noGrp="1"/>
          </p:cNvSpPr>
          <p:nvPr/>
        </p:nvSpPr>
        <p:spPr>
          <a:xfrm>
            <a:off x="723900" y="4448175"/>
            <a:ext cx="10668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g：目标　　　 o：观察　　　 a：动作　　　 h：上下文</a:t>
            </a:r>
          </a:p>
        </p:txBody>
      </p:sp>
      <p:sp>
        <p:nvSpPr>
          <p:cNvPr id="5" name="工具结果进入下一轮上下文，模型据此再选动作。">
            <a:extLst>
              <a:ext uri="{FF2B5EF4-FFF2-40B4-BE49-F238E27FC236}">
                <a16:creationId xmlns:a16="http://schemas.microsoft.com/office/drawing/2014/main" id="{29BBDADC-6237-438C-86B9-1D5FD60CD24B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0668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工具返回结果后，模型再决定下一步。</a:t>
            </a:r>
          </a:p>
        </p:txBody>
      </p:sp>
      <p:sp>
        <p:nvSpPr>
          <p:cNvPr id="9" name="03">
            <a:extLst>
              <a:ext uri="{FF2B5EF4-FFF2-40B4-BE49-F238E27FC236}">
                <a16:creationId xmlns:a16="http://schemas.microsoft.com/office/drawing/2014/main" id="{A5D98D2F-A4E4-497F-8CD1-D13942106C51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858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状态、观察与部分可观测性">
            <a:extLst>
              <a:ext uri="{FF2B5EF4-FFF2-40B4-BE49-F238E27FC236}">
                <a16:creationId xmlns:a16="http://schemas.microsoft.com/office/drawing/2014/main" id="{03BB3C84-64CF-4AEF-982B-7EBD8B44E78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部分可观测性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8769BE6-8539-4ED3-AADF-8D34A48A2EBE}"/>
              </a:ext>
            </a:extLst>
          </p:cNvPr>
          <p:cNvGraphicFramePr/>
          <p:nvPr/>
        </p:nvGraphicFramePr>
        <p:xfrm>
          <a:off x="666750" y="1495425"/>
          <a:ext cx="10858500" cy="33337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概念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代码任务中的对应项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环境状态 s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代码版本、依赖、文件与运行中的进程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观察 o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读到的代码、测试输出和错误日志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动作 a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读文件、改代码、运行测试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历史 h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任务要求、已做修改与已有测试结果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ₜ₊₁ ∼ P(· | sₜ, aₜ)     oₜ ∼ Ω(">
            <a:extLst>
              <a:ext uri="{FF2B5EF4-FFF2-40B4-BE49-F238E27FC236}">
                <a16:creationId xmlns:a16="http://schemas.microsoft.com/office/drawing/2014/main" id="{43CAF15E-A3B6-474E-AAC1-3FB35044FEB4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62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sₜ₊₁ ∼ P(· | sₜ, aₜ)     oₜ ∼ Ω(· | sₜ)</a:t>
            </a:r>
          </a:p>
        </p:txBody>
      </p:sp>
      <p:sp>
        <p:nvSpPr>
          <p:cNvPr id="4" name="状态转移由环境决定，模型通过观察推断当前状态。">
            <a:extLst>
              <a:ext uri="{FF2B5EF4-FFF2-40B4-BE49-F238E27FC236}">
                <a16:creationId xmlns:a16="http://schemas.microsoft.com/office/drawing/2014/main" id="{14639135-1A4A-4262-9154-1B3256DB38B6}"/>
              </a:ext>
            </a:extLst>
          </p:cNvPr>
          <p:cNvSpPr>
            <a:spLocks noGrp="1"/>
          </p:cNvSpPr>
          <p:nvPr/>
        </p:nvSpPr>
        <p:spPr>
          <a:xfrm>
            <a:off x="723900" y="5838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950" b="0" dirty="0" err="1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模型只能看到工具返回的信息，环境中仍有未知状态</a:t>
            </a:r>
            <a:r>
              <a:rPr sz="1950" b="0" dirty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。</a:t>
            </a:r>
          </a:p>
        </p:txBody>
      </p:sp>
      <p:sp>
        <p:nvSpPr>
          <p:cNvPr id="7" name="04">
            <a:extLst>
              <a:ext uri="{FF2B5EF4-FFF2-40B4-BE49-F238E27FC236}">
                <a16:creationId xmlns:a16="http://schemas.microsoft.com/office/drawing/2014/main" id="{CC97C0B9-3B50-4A97-B8B3-5FF5E2397D0B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17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固定工作流与动态决策">
            <a:extLst>
              <a:ext uri="{FF2B5EF4-FFF2-40B4-BE49-F238E27FC236}">
                <a16:creationId xmlns:a16="http://schemas.microsoft.com/office/drawing/2014/main" id="{F964614D-E626-4375-8416-901D4BACE25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Workflow 与 Agent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948AB34-77EC-48B7-9647-80DD3266B232}"/>
              </a:ext>
            </a:extLst>
          </p:cNvPr>
          <p:cNvGraphicFramePr/>
          <p:nvPr/>
        </p:nvGraphicFramePr>
        <p:xfrm>
          <a:off x="628650" y="1685925"/>
          <a:ext cx="10953750" cy="24765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任务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预先确定的部分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需要临时判断的部分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批量格式化代码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扫描文件，运行格式化工具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哪些生成文件应该跳过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修复测试失败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复现错误，运行回归测试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报错位置与实际原因不一致时如何定位</a:t>
                      </a:r>
                      <a:endParaRPr sz="1875" b="0" dirty="0">
                        <a:solidFill>
                          <a:srgbClr val="172337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同一条工作流里，可以同时使用固定程序和 Agent。">
            <a:extLst>
              <a:ext uri="{FF2B5EF4-FFF2-40B4-BE49-F238E27FC236}">
                <a16:creationId xmlns:a16="http://schemas.microsoft.com/office/drawing/2014/main" id="{11FF43B9-98F6-46DA-AB90-1E48EB6118D5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6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确定的步骤交给程序，需要判断的</a:t>
            </a:r>
            <a:r>
              <a:rPr lang="en-US" sz="2625" b="0" dirty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/</a:t>
            </a:r>
            <a:r>
              <a:rPr lang="zh-CN" altLang="en-US" sz="2625" b="0" dirty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长程的</a:t>
            </a:r>
            <a:r>
              <a:rPr sz="26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步骤</a:t>
            </a:r>
            <a:r>
              <a:rPr lang="zh-CN" altLang="en-US" sz="2625" b="0" dirty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可以</a:t>
            </a:r>
            <a:r>
              <a:rPr sz="26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交给</a:t>
            </a:r>
            <a:r>
              <a:rPr sz="2625" b="0" dirty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 Agent。</a:t>
            </a:r>
          </a:p>
        </p:txBody>
      </p:sp>
      <p:sp>
        <p:nvSpPr>
          <p:cNvPr id="6" name="05">
            <a:extLst>
              <a:ext uri="{FF2B5EF4-FFF2-40B4-BE49-F238E27FC236}">
                <a16:creationId xmlns:a16="http://schemas.microsoft.com/office/drawing/2014/main" id="{30279073-5086-4E26-A396-95D81694CD14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06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Act：行动与观察交替进行">
            <a:extLst>
              <a:ext uri="{FF2B5EF4-FFF2-40B4-BE49-F238E27FC236}">
                <a16:creationId xmlns:a16="http://schemas.microsoft.com/office/drawing/2014/main" id="{71BD0C3B-FFF9-4FAB-9BB1-09F776FACF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ReAct：推理与行动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7643D4A-4553-4730-BAFE-12CCE71F74C3}"/>
              </a:ext>
            </a:extLst>
          </p:cNvPr>
          <p:cNvGraphicFramePr/>
          <p:nvPr/>
        </p:nvGraphicFramePr>
        <p:xfrm>
          <a:off x="657225" y="1466850"/>
          <a:ext cx="10877550" cy="3781428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步骤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可见的执行记录（教学示例）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已有信息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同一随机种子，两次 DLA 结果不同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动作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run_tests(target="test_seed.py")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观察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test_reproducible: FAILED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后续动作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读取随机数初始化代码，修改后重跑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结束条件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复现测试与原有回归测试通过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新观察可以改变后续计划。课堂查看工具记录与结果。">
            <a:extLst>
              <a:ext uri="{FF2B5EF4-FFF2-40B4-BE49-F238E27FC236}">
                <a16:creationId xmlns:a16="http://schemas.microsoft.com/office/drawing/2014/main" id="{FB03A334-0F68-438E-B547-5BDB50CD8520}"/>
              </a:ext>
            </a:extLst>
          </p:cNvPr>
          <p:cNvSpPr>
            <a:spLocks noGrp="1"/>
          </p:cNvSpPr>
          <p:nvPr/>
        </p:nvSpPr>
        <p:spPr>
          <a:xfrm>
            <a:off x="714375" y="56483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测试结果提供新信息，模型据此调整后续修改。</a:t>
            </a:r>
          </a:p>
        </p:txBody>
      </p:sp>
      <p:sp>
        <p:nvSpPr>
          <p:cNvPr id="6" name="06">
            <a:extLst>
              <a:ext uri="{FF2B5EF4-FFF2-40B4-BE49-F238E27FC236}">
                <a16:creationId xmlns:a16="http://schemas.microsoft.com/office/drawing/2014/main" id="{238DAB70-004B-4CFB-970F-1125CCD57C59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322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务目标、约束与停止条件">
            <a:extLst>
              <a:ext uri="{FF2B5EF4-FFF2-40B4-BE49-F238E27FC236}">
                <a16:creationId xmlns:a16="http://schemas.microsoft.com/office/drawing/2014/main" id="{7701D0CD-3DE1-4AA2-ADFF-83047BE633A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任务目标与停止条件</a:t>
            </a:r>
          </a:p>
        </p:txBody>
      </p:sp>
      <p:sp>
        <p:nvSpPr>
          <p:cNvPr id="2" name="最大化期望累计回报，同时满足预算与操作约束。">
            <a:extLst>
              <a:ext uri="{FF2B5EF4-FFF2-40B4-BE49-F238E27FC236}">
                <a16:creationId xmlns:a16="http://schemas.microsoft.com/office/drawing/2014/main" id="{33CE470B-88BB-4162-92DA-454E6E2916A4}"/>
              </a:ext>
            </a:extLst>
          </p:cNvPr>
          <p:cNvSpPr>
            <a:spLocks noGrp="1"/>
          </p:cNvSpPr>
          <p:nvPr/>
        </p:nvSpPr>
        <p:spPr>
          <a:xfrm>
            <a:off x="714375" y="1504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在预算和操作约束下，最大化期望回报。</a:t>
            </a:r>
          </a:p>
        </p:txBody>
      </p:sp>
      <p:sp>
        <p:nvSpPr>
          <p:cNvPr id="3" name="J(π) = Eπ [ Σₜ r(sₜ, aₜ) ]">
            <a:extLst>
              <a:ext uri="{FF2B5EF4-FFF2-40B4-BE49-F238E27FC236}">
                <a16:creationId xmlns:a16="http://schemas.microsoft.com/office/drawing/2014/main" id="{012AA45D-1D01-473A-80B8-19C15929A86F}"/>
              </a:ext>
            </a:extLst>
          </p:cNvPr>
          <p:cNvSpPr>
            <a:spLocks noGrp="1"/>
          </p:cNvSpPr>
          <p:nvPr/>
        </p:nvSpPr>
        <p:spPr>
          <a:xfrm>
            <a:off x="714375" y="21145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62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J(π) = Eπ [ Σₜ r(sₜ, aₜ) ]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D525D99-4869-4072-99F1-3FD66733C4A8}"/>
              </a:ext>
            </a:extLst>
          </p:cNvPr>
          <p:cNvGraphicFramePr/>
          <p:nvPr/>
        </p:nvGraphicFramePr>
        <p:xfrm>
          <a:off x="666750" y="2667000"/>
          <a:ext cx="10858500" cy="30099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项目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验收条件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必须满足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固定种子可复现，新粒子满足四邻接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执行预算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限制运行时长与重试次数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完成条件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独立检查通过，原有功能没有回归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停止并询问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需要改公共接口，或需求存在冲突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07">
            <a:extLst>
              <a:ext uri="{FF2B5EF4-FFF2-40B4-BE49-F238E27FC236}">
                <a16:creationId xmlns:a16="http://schemas.microsoft.com/office/drawing/2014/main" id="{C8863C25-F0DA-4E6A-8E78-49518C9B43BE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44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rness：Agent 的执行环境">
            <a:extLst>
              <a:ext uri="{FF2B5EF4-FFF2-40B4-BE49-F238E27FC236}">
                <a16:creationId xmlns:a16="http://schemas.microsoft.com/office/drawing/2014/main" id="{56C0AA6F-82D3-43B0-A97B-573AB8B4E05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 dirty="0" err="1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Harness：模型</a:t>
            </a:r>
            <a:r>
              <a:rPr lang="zh-CN" altLang="en-US" sz="3450" b="0" dirty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外壳</a:t>
            </a:r>
            <a:r>
              <a:rPr sz="3450" b="0" dirty="0" err="1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的执行逻辑</a:t>
            </a:r>
            <a:endParaRPr sz="3450" b="0" dirty="0">
              <a:solidFill>
                <a:srgbClr val="172337"/>
              </a:solidFill>
              <a:latin typeface="等线 Light"/>
              <a:ea typeface="等线 Light"/>
              <a:cs typeface="等线 Ligh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7F9853-E9AA-413C-A8C7-9F68E04F69F7}"/>
              </a:ext>
            </a:extLst>
          </p:cNvPr>
          <p:cNvGraphicFramePr/>
          <p:nvPr/>
        </p:nvGraphicFramePr>
        <p:xfrm>
          <a:off x="666750" y="1571625"/>
          <a:ext cx="10858500" cy="3333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职责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具体执行内容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构造输入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装入目标、工具说明和当前任务状态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调度工具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校验参数，分配权限，设置运行超时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记录过程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保存调用、结果、错误和输出文件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控制继续或结束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执行验收，处理重试，必要时向人询问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同一个模型，换一组工具和执行规则，会表现出不同的任务能力。">
            <a:extLst>
              <a:ext uri="{FF2B5EF4-FFF2-40B4-BE49-F238E27FC236}">
                <a16:creationId xmlns:a16="http://schemas.microsoft.com/office/drawing/2014/main" id="{72BCD599-477E-4F5B-BB4F-D09E52E2E9C3}"/>
              </a:ext>
            </a:extLst>
          </p:cNvPr>
          <p:cNvSpPr>
            <a:spLocks noGrp="1"/>
          </p:cNvSpPr>
          <p:nvPr/>
        </p:nvSpPr>
        <p:spPr>
          <a:xfrm>
            <a:off x="714375" y="5400675"/>
            <a:ext cx="1066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模型相同，工具和执行规则不同，能完成的任务也不同。</a:t>
            </a:r>
          </a:p>
        </p:txBody>
      </p:sp>
      <p:sp>
        <p:nvSpPr>
          <p:cNvPr id="6" name="08">
            <a:extLst>
              <a:ext uri="{FF2B5EF4-FFF2-40B4-BE49-F238E27FC236}">
                <a16:creationId xmlns:a16="http://schemas.microsoft.com/office/drawing/2014/main" id="{21063CF0-D249-4303-BAFE-6436D29425F7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683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一次工具调用发生了什么">
            <a:extLst>
              <a:ext uri="{FF2B5EF4-FFF2-40B4-BE49-F238E27FC236}">
                <a16:creationId xmlns:a16="http://schemas.microsoft.com/office/drawing/2014/main" id="{4FF2D726-24A9-44E3-B5A8-9AA274F5CBE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Tool Calling</a:t>
            </a:r>
          </a:p>
        </p:txBody>
      </p:sp>
      <p:sp>
        <p:nvSpPr>
          <p:cNvPr id="2" name="1. 应用提供工具说明和参数格式">
            <a:extLst>
              <a:ext uri="{FF2B5EF4-FFF2-40B4-BE49-F238E27FC236}">
                <a16:creationId xmlns:a16="http://schemas.microsoft.com/office/drawing/2014/main" id="{D38E15E7-4635-4001-A55E-C8AF458912B3}"/>
              </a:ext>
            </a:extLst>
          </p:cNvPr>
          <p:cNvSpPr>
            <a:spLocks noGrp="1"/>
          </p:cNvSpPr>
          <p:nvPr/>
        </p:nvSpPr>
        <p:spPr>
          <a:xfrm>
            <a:off x="695325" y="1666875"/>
            <a:ext cx="7000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1. 应用提供工具说明和参数格式</a:t>
            </a:r>
          </a:p>
        </p:txBody>
      </p:sp>
      <p:sp>
        <p:nvSpPr>
          <p:cNvPr id="3" name="2. 模型生成工具名与参数">
            <a:extLst>
              <a:ext uri="{FF2B5EF4-FFF2-40B4-BE49-F238E27FC236}">
                <a16:creationId xmlns:a16="http://schemas.microsoft.com/office/drawing/2014/main" id="{619D571A-4E7E-4F54-A0ED-BF4C3FD54173}"/>
              </a:ext>
            </a:extLst>
          </p:cNvPr>
          <p:cNvSpPr>
            <a:spLocks noGrp="1"/>
          </p:cNvSpPr>
          <p:nvPr/>
        </p:nvSpPr>
        <p:spPr>
          <a:xfrm>
            <a:off x="695325" y="2505075"/>
            <a:ext cx="7000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2. 模型生成工具名与参数</a:t>
            </a:r>
          </a:p>
        </p:txBody>
      </p:sp>
      <p:sp>
        <p:nvSpPr>
          <p:cNvPr id="4" name="3. 执行器调用软件，返回结果">
            <a:extLst>
              <a:ext uri="{FF2B5EF4-FFF2-40B4-BE49-F238E27FC236}">
                <a16:creationId xmlns:a16="http://schemas.microsoft.com/office/drawing/2014/main" id="{1C2AE671-1FAD-4B01-AA5D-270FE2D729DA}"/>
              </a:ext>
            </a:extLst>
          </p:cNvPr>
          <p:cNvSpPr>
            <a:spLocks noGrp="1"/>
          </p:cNvSpPr>
          <p:nvPr/>
        </p:nvSpPr>
        <p:spPr>
          <a:xfrm>
            <a:off x="695325" y="3343275"/>
            <a:ext cx="7000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3. 执行器调用软件，返回结果</a:t>
            </a:r>
          </a:p>
        </p:txBody>
      </p:sp>
      <p:sp>
        <p:nvSpPr>
          <p:cNvPr id="5" name="4. 模型根据结果继续处理">
            <a:extLst>
              <a:ext uri="{FF2B5EF4-FFF2-40B4-BE49-F238E27FC236}">
                <a16:creationId xmlns:a16="http://schemas.microsoft.com/office/drawing/2014/main" id="{51FA2CFD-4E6B-42E9-8445-CB2DFB716A9D}"/>
              </a:ext>
            </a:extLst>
          </p:cNvPr>
          <p:cNvSpPr>
            <a:spLocks noGrp="1"/>
          </p:cNvSpPr>
          <p:nvPr/>
        </p:nvSpPr>
        <p:spPr>
          <a:xfrm>
            <a:off x="695325" y="4181475"/>
            <a:ext cx="7000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4. 模型根据结果继续处理</a:t>
            </a:r>
          </a:p>
        </p:txBody>
      </p:sp>
      <p:sp>
        <p:nvSpPr>
          <p:cNvPr id="6" name="教学简化示例">
            <a:extLst>
              <a:ext uri="{FF2B5EF4-FFF2-40B4-BE49-F238E27FC236}">
                <a16:creationId xmlns:a16="http://schemas.microsoft.com/office/drawing/2014/main" id="{7E5E3CBB-7FA6-4A8E-BC0C-64593F3A8375}"/>
              </a:ext>
            </a:extLst>
          </p:cNvPr>
          <p:cNvSpPr>
            <a:spLocks noGrp="1"/>
          </p:cNvSpPr>
          <p:nvPr/>
        </p:nvSpPr>
        <p:spPr>
          <a:xfrm>
            <a:off x="8172450" y="15811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6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教学简化示例</a:t>
            </a:r>
          </a:p>
        </p:txBody>
      </p:sp>
      <p:sp>
        <p:nvSpPr>
          <p:cNvPr id="7" name="read_range({&#10;  file: &quot;experiment">
            <a:extLst>
              <a:ext uri="{FF2B5EF4-FFF2-40B4-BE49-F238E27FC236}">
                <a16:creationId xmlns:a16="http://schemas.microsoft.com/office/drawing/2014/main" id="{A2DA0B87-0FAA-41AB-9C22-BC96485F96B4}"/>
              </a:ext>
            </a:extLst>
          </p:cNvPr>
          <p:cNvSpPr>
            <a:spLocks noGrp="1"/>
          </p:cNvSpPr>
          <p:nvPr/>
        </p:nvSpPr>
        <p:spPr>
          <a:xfrm>
            <a:off x="8143875" y="2219325"/>
            <a:ext cx="3476625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run_tests({</a:t>
            </a:r>
          </a:p>
          <a:p>
            <a: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target: "test.py",</a:t>
            </a:r>
          </a:p>
          <a:p>
            <a: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timeout_s: 30</a:t>
            </a:r>
          </a:p>
          <a:p>
            <a: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endParaRPr sz="1875" b="0">
              <a:solidFill>
                <a:srgbClr val="172337"/>
              </a:solidFill>
              <a:latin typeface="Consolas"/>
              <a:ea typeface="Consolas"/>
              <a:cs typeface="Consolas"/>
            </a:endParaRPr>
          </a:p>
          <a:p>
            <a:pPr>
              <a:buNone/>
              <a:defRPr sz="18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返回：1 failed, 8 passed</a:t>
            </a:r>
          </a:p>
        </p:txBody>
      </p:sp>
      <p:sp>
        <p:nvSpPr>
          <p:cNvPr id="8" name="请求工具的人是模型。真正读取文件的是外部程序。">
            <a:extLst>
              <a:ext uri="{FF2B5EF4-FFF2-40B4-BE49-F238E27FC236}">
                <a16:creationId xmlns:a16="http://schemas.microsoft.com/office/drawing/2014/main" id="{AA6C51E9-A19A-422F-8BFF-A15F5F2BF8B8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模型请求运行测试，执行器返回退出码和测试结果。</a:t>
            </a:r>
          </a:p>
        </p:txBody>
      </p:sp>
      <p:sp>
        <p:nvSpPr>
          <p:cNvPr id="11" name="09">
            <a:extLst>
              <a:ext uri="{FF2B5EF4-FFF2-40B4-BE49-F238E27FC236}">
                <a16:creationId xmlns:a16="http://schemas.microsoft.com/office/drawing/2014/main" id="{F632F879-956D-4CA4-8CD5-B725E30D6606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74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工具接口与执行约束">
            <a:extLst>
              <a:ext uri="{FF2B5EF4-FFF2-40B4-BE49-F238E27FC236}">
                <a16:creationId xmlns:a16="http://schemas.microsoft.com/office/drawing/2014/main" id="{EEE2D430-D3BC-4EC6-8762-774E5E831D8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工具调用的参数与权限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107372E-F017-4D50-90D4-72DA051EF0C1}"/>
              </a:ext>
            </a:extLst>
          </p:cNvPr>
          <p:cNvGraphicFramePr/>
          <p:nvPr/>
        </p:nvGraphicFramePr>
        <p:xfrm>
          <a:off x="666750" y="1533525"/>
          <a:ext cx="10858500" cy="33718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检查层次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代码任务中的例子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参数格式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路径有效，超时为正数，必填字段齐全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前置条件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代码与依赖版本正确，允许写入目标目录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执行结果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检查退出码，重新读取输出文件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重试规则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记录错误原因，限制次数，避免重复覆盖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参数格式正确，仍可能读错文件、用错版本或算错指标。">
            <a:extLst>
              <a:ext uri="{FF2B5EF4-FFF2-40B4-BE49-F238E27FC236}">
                <a16:creationId xmlns:a16="http://schemas.microsoft.com/office/drawing/2014/main" id="{C68640B3-DC0B-41F6-A03A-1068D09F1AB5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参数合法，也可能读错文件、用错版本或算错指标。</a:t>
            </a:r>
          </a:p>
        </p:txBody>
      </p:sp>
      <p:sp>
        <p:nvSpPr>
          <p:cNvPr id="6" name="10">
            <a:extLst>
              <a:ext uri="{FF2B5EF4-FFF2-40B4-BE49-F238E27FC236}">
                <a16:creationId xmlns:a16="http://schemas.microsoft.com/office/drawing/2014/main" id="{1F4525E6-400A-44A4-A51A-C207B8FD9F8F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694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rness 中的一轮执行">
            <a:extLst>
              <a:ext uri="{FF2B5EF4-FFF2-40B4-BE49-F238E27FC236}">
                <a16:creationId xmlns:a16="http://schemas.microsoft.com/office/drawing/2014/main" id="{10D05748-1F06-4C80-A8F3-3FE6635B10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一个最简单的 Agent 循环</a:t>
            </a:r>
          </a:p>
        </p:txBody>
      </p:sp>
      <p:sp>
        <p:nvSpPr>
          <p:cNvPr id="2" name="while 未完成 and 未超出预算:&#10;    请求 = mo">
            <a:extLst>
              <a:ext uri="{FF2B5EF4-FFF2-40B4-BE49-F238E27FC236}">
                <a16:creationId xmlns:a16="http://schemas.microsoft.com/office/drawing/2014/main" id="{CD204383-70A0-425A-B3D6-AEFF66703A82}"/>
              </a:ext>
            </a:extLst>
          </p:cNvPr>
          <p:cNvSpPr>
            <a:spLocks noGrp="1"/>
          </p:cNvSpPr>
          <p:nvPr/>
        </p:nvSpPr>
        <p:spPr>
          <a:xfrm>
            <a:off x="723900" y="1514475"/>
            <a:ext cx="10668000" cy="3552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while 未完成 and 未超出预算: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请求 = model(当前上下文, 工具说明)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if 请求包含工具调用: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校验参数与权限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结果 = executor(工具名, 参数, 超时)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保存调用与结果，更新上下文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else: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检查输出，决定结束或继续</a:t>
            </a:r>
          </a:p>
        </p:txBody>
      </p:sp>
      <p:sp>
        <p:nvSpPr>
          <p:cNvPr id="6" name="11">
            <a:extLst>
              <a:ext uri="{FF2B5EF4-FFF2-40B4-BE49-F238E27FC236}">
                <a16:creationId xmlns:a16="http://schemas.microsoft.com/office/drawing/2014/main" id="{F97323BC-11A7-4C43-882C-1137FA39CD23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9607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上下文、检索与长期记忆">
            <a:extLst>
              <a:ext uri="{FF2B5EF4-FFF2-40B4-BE49-F238E27FC236}">
                <a16:creationId xmlns:a16="http://schemas.microsoft.com/office/drawing/2014/main" id="{A309E0B8-8D99-4B39-A33A-36B724E8439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Memory：上下文与外部记忆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6CBA0CA-857D-48F6-86F6-B3FEA45CF657}"/>
              </a:ext>
            </a:extLst>
          </p:cNvPr>
          <p:cNvGraphicFramePr/>
          <p:nvPr/>
        </p:nvGraphicFramePr>
        <p:xfrm>
          <a:off x="609600" y="1571625"/>
          <a:ext cx="10972800" cy="28575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放在哪里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能保留什么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常见问题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当前上下文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本轮目标、最近工具结果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长度有限，摘要可能漏约束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外部文件或数据库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历史任务、偏好、已核实规则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需要版本与来源，可能已经过期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检索得到的片段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与当前问题相关的资料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相关不等于有效，可能遗漏更正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检索结果要带文件名、日期和段落位置。">
            <a:extLst>
              <a:ext uri="{FF2B5EF4-FFF2-40B4-BE49-F238E27FC236}">
                <a16:creationId xmlns:a16="http://schemas.microsoft.com/office/drawing/2014/main" id="{61ABF072-0AED-4C73-AE24-D12893FC7CD3}"/>
              </a:ext>
            </a:extLst>
          </p:cNvPr>
          <p:cNvSpPr>
            <a:spLocks noGrp="1"/>
          </p:cNvSpPr>
          <p:nvPr/>
        </p:nvSpPr>
        <p:spPr>
          <a:xfrm>
            <a:off x="714375" y="4972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检索时保留文件名、日期和段落位置。</a:t>
            </a:r>
          </a:p>
        </p:txBody>
      </p:sp>
      <p:sp>
        <p:nvSpPr>
          <p:cNvPr id="4" name="外部记忆进入上下文后才参与本次决策。">
            <a:extLst>
              <a:ext uri="{FF2B5EF4-FFF2-40B4-BE49-F238E27FC236}">
                <a16:creationId xmlns:a16="http://schemas.microsoft.com/office/drawing/2014/main" id="{A8D75ADF-B995-4162-8BFB-5CB567B1CCCB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文件里的记忆需要先读入上下文。</a:t>
            </a:r>
          </a:p>
        </p:txBody>
      </p:sp>
      <p:sp>
        <p:nvSpPr>
          <p:cNvPr id="7" name="12">
            <a:extLst>
              <a:ext uri="{FF2B5EF4-FFF2-40B4-BE49-F238E27FC236}">
                <a16:creationId xmlns:a16="http://schemas.microsoft.com/office/drawing/2014/main" id="{963EBC7D-E060-4AD0-8082-B9849FC60268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8773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G：从文档到可引用的证据">
            <a:extLst>
              <a:ext uri="{FF2B5EF4-FFF2-40B4-BE49-F238E27FC236}">
                <a16:creationId xmlns:a16="http://schemas.microsoft.com/office/drawing/2014/main" id="{621FC9B2-0216-40C8-81C4-970ADC4EE19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RAG：从文档检索证据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1EE6BC2-95A2-4D3C-A253-E87AD19BF475}"/>
              </a:ext>
            </a:extLst>
          </p:cNvPr>
          <p:cNvGraphicFramePr/>
          <p:nvPr/>
        </p:nvGraphicFramePr>
        <p:xfrm>
          <a:off x="666750" y="1581150"/>
          <a:ext cx="10858500" cy="3333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步骤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代码仓库中的处理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解析与切分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读取 README、接口文档，保留版本与行号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检索与排序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查找 seed、boundary、neighbors 的定义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版本核对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核对依赖锁文件与所用 API 版本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生成与引用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说明修改依据，给出文档位置和适用版本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查到相关片段后，还要判断它能否支持当前问题。">
            <a:extLst>
              <a:ext uri="{FF2B5EF4-FFF2-40B4-BE49-F238E27FC236}">
                <a16:creationId xmlns:a16="http://schemas.microsoft.com/office/drawing/2014/main" id="{597F5CB7-40F1-42C0-ADBD-7A5403B2DC72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查到相关内容后，继续核对版本和适用条件。</a:t>
            </a:r>
          </a:p>
        </p:txBody>
      </p:sp>
      <p:sp>
        <p:nvSpPr>
          <p:cNvPr id="6" name="13">
            <a:extLst>
              <a:ext uri="{FF2B5EF4-FFF2-40B4-BE49-F238E27FC236}">
                <a16:creationId xmlns:a16="http://schemas.microsoft.com/office/drawing/2014/main" id="{0AE84B73-E429-4C2E-B9AF-37B003A7260E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046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kills：可复用的任务做法">
            <a:extLst>
              <a:ext uri="{FF2B5EF4-FFF2-40B4-BE49-F238E27FC236}">
                <a16:creationId xmlns:a16="http://schemas.microsoft.com/office/drawing/2014/main" id="{83E3D451-6E27-4D18-B404-3E43B30EE6C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Skills：复用任务经验</a:t>
            </a:r>
          </a:p>
        </p:txBody>
      </p:sp>
      <p:sp>
        <p:nvSpPr>
          <p:cNvPr id="2" name="meeting-report/&#10;  SKILL.md&#10;  scr">
            <a:extLst>
              <a:ext uri="{FF2B5EF4-FFF2-40B4-BE49-F238E27FC236}">
                <a16:creationId xmlns:a16="http://schemas.microsoft.com/office/drawing/2014/main" id="{8744F12A-B694-48B1-ABE0-23CE1BCBCEB2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5905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simulation-check/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SKILL.md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scripts/check_dla.py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references/*.md</a:t>
            </a:r>
          </a:p>
          <a:p>
            <a:pPr>
              <a:buNone/>
              <a:defRPr sz="2175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assets/config.json</a:t>
            </a:r>
          </a:p>
        </p:txBody>
      </p:sp>
      <p:sp>
        <p:nvSpPr>
          <p:cNvPr id="3" name="何时使用：准备组会材料">
            <a:extLst>
              <a:ext uri="{FF2B5EF4-FFF2-40B4-BE49-F238E27FC236}">
                <a16:creationId xmlns:a16="http://schemas.microsoft.com/office/drawing/2014/main" id="{07B66605-C69D-4FAE-809C-C9D1367BFC13}"/>
              </a:ext>
            </a:extLst>
          </p:cNvPr>
          <p:cNvSpPr>
            <a:spLocks noGrp="1"/>
          </p:cNvSpPr>
          <p:nvPr/>
        </p:nvSpPr>
        <p:spPr>
          <a:xfrm>
            <a:off x="6981825" y="1724025"/>
            <a:ext cx="4667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适用任务：检查数值模拟代码</a:t>
            </a:r>
          </a:p>
        </p:txBody>
      </p:sp>
      <p:sp>
        <p:nvSpPr>
          <p:cNvPr id="4" name="怎么处理：失败运行计入成本">
            <a:extLst>
              <a:ext uri="{FF2B5EF4-FFF2-40B4-BE49-F238E27FC236}">
                <a16:creationId xmlns:a16="http://schemas.microsoft.com/office/drawing/2014/main" id="{D8C7D3C9-E184-49A5-AA8C-F88823A5099A}"/>
              </a:ext>
            </a:extLst>
          </p:cNvPr>
          <p:cNvSpPr>
            <a:spLocks noGrp="1"/>
          </p:cNvSpPr>
          <p:nvPr/>
        </p:nvSpPr>
        <p:spPr>
          <a:xfrm>
            <a:off x="6981825" y="2619375"/>
            <a:ext cx="4667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检查规则：固定种子与黏附条件</a:t>
            </a:r>
          </a:p>
        </p:txBody>
      </p:sp>
      <p:sp>
        <p:nvSpPr>
          <p:cNvPr id="5" name="怎样验收：数字可重算，草稿不发送">
            <a:extLst>
              <a:ext uri="{FF2B5EF4-FFF2-40B4-BE49-F238E27FC236}">
                <a16:creationId xmlns:a16="http://schemas.microsoft.com/office/drawing/2014/main" id="{7E6EFECB-46F1-42BC-8807-59316C2AC0DC}"/>
              </a:ext>
            </a:extLst>
          </p:cNvPr>
          <p:cNvSpPr>
            <a:spLocks noGrp="1"/>
          </p:cNvSpPr>
          <p:nvPr/>
        </p:nvSpPr>
        <p:spPr>
          <a:xfrm>
            <a:off x="6981825" y="3514725"/>
            <a:ext cx="4667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验收要求：检查通过，结果可复现</a:t>
            </a:r>
          </a:p>
        </p:txBody>
      </p:sp>
      <p:sp>
        <p:nvSpPr>
          <p:cNvPr id="6" name="Memory 保留任务事实，Skill 记录做法，Tool 执行">
            <a:extLst>
              <a:ext uri="{FF2B5EF4-FFF2-40B4-BE49-F238E27FC236}">
                <a16:creationId xmlns:a16="http://schemas.microsoft.com/office/drawing/2014/main" id="{1722A226-F241-41AE-88B3-F3C61478F005}"/>
              </a:ext>
            </a:extLst>
          </p:cNvPr>
          <p:cNvSpPr>
            <a:spLocks noGrp="1"/>
          </p:cNvSpPr>
          <p:nvPr/>
        </p:nvSpPr>
        <p:spPr>
          <a:xfrm>
            <a:off x="714375" y="4933950"/>
            <a:ext cx="106680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32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Memory 存任务信息，Skill 写处理方法，Tool 提供操作接口。</a:t>
            </a:r>
          </a:p>
        </p:txBody>
      </p:sp>
      <p:sp>
        <p:nvSpPr>
          <p:cNvPr id="7" name="查看本课的 Skill 示例">
            <a:extLst>
              <a:ext uri="{FF2B5EF4-FFF2-40B4-BE49-F238E27FC236}">
                <a16:creationId xmlns:a16="http://schemas.microsoft.com/office/drawing/2014/main" id="{C63F7825-A7FB-4BCE-A274-11C5737D9DFF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357D7"/>
                </a:solidFill>
                <a:latin typeface="等线"/>
                <a:ea typeface="等线"/>
                <a:cs typeface="等线"/>
                <a:hlinkClick r:id="rId3"/>
              </a:rPr>
              <a:t>查看本课的 Skill 示例</a:t>
            </a:r>
            <a:endParaRPr sz="1875" b="0">
              <a:solidFill>
                <a:srgbClr val="2357D7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0" name="14">
            <a:extLst>
              <a:ext uri="{FF2B5EF4-FFF2-40B4-BE49-F238E27FC236}">
                <a16:creationId xmlns:a16="http://schemas.microsoft.com/office/drawing/2014/main" id="{8A4A435C-D1A6-46E4-ADAA-E3EC85D39334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4781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entic RL：优化一段任务轨迹">
            <a:extLst>
              <a:ext uri="{FF2B5EF4-FFF2-40B4-BE49-F238E27FC236}">
                <a16:creationId xmlns:a16="http://schemas.microsoft.com/office/drawing/2014/main" id="{BFC362B2-BAAB-4669-B0E1-E7F15930AE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Agentic RL：根据执行结果训练模型</a:t>
            </a:r>
          </a:p>
        </p:txBody>
      </p:sp>
      <p:sp>
        <p:nvSpPr>
          <p:cNvPr id="2" name="τ = (h₀, a₀, o₁, …, aₙ₋₁, oₙ)   ">
            <a:extLst>
              <a:ext uri="{FF2B5EF4-FFF2-40B4-BE49-F238E27FC236}">
                <a16:creationId xmlns:a16="http://schemas.microsoft.com/office/drawing/2014/main" id="{E28ED72C-93C4-4E15-A8E8-37659CF62410}"/>
              </a:ext>
            </a:extLst>
          </p:cNvPr>
          <p:cNvSpPr>
            <a:spLocks noGrp="1"/>
          </p:cNvSpPr>
          <p:nvPr/>
        </p:nvSpPr>
        <p:spPr>
          <a:xfrm>
            <a:off x="714375" y="1581150"/>
            <a:ext cx="107156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τ = (h₀, a₀, o₁, …, aₙ₋₁, oₙ)       J(θ) = Eτ∼πθ [ R(τ) ]</a:t>
            </a:r>
          </a:p>
        </p:txBody>
      </p:sp>
      <p:sp>
        <p:nvSpPr>
          <p:cNvPr id="3" name="τ：完整执行轨迹　R：总回报　πθ：待训练的策略">
            <a:extLst>
              <a:ext uri="{FF2B5EF4-FFF2-40B4-BE49-F238E27FC236}">
                <a16:creationId xmlns:a16="http://schemas.microsoft.com/office/drawing/2014/main" id="{11C65D1F-2A0D-4AE1-B286-184096419574}"/>
              </a:ext>
            </a:extLst>
          </p:cNvPr>
          <p:cNvSpPr>
            <a:spLocks noGrp="1"/>
          </p:cNvSpPr>
          <p:nvPr/>
        </p:nvSpPr>
        <p:spPr>
          <a:xfrm>
            <a:off x="723900" y="2200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τ：完整执行轨迹　R：总回报　πθ：待训练的策略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8A99869-9856-4ABB-97E1-11F59E35084F}"/>
              </a:ext>
            </a:extLst>
          </p:cNvPr>
          <p:cNvGraphicFramePr/>
          <p:nvPr/>
        </p:nvGraphicFramePr>
        <p:xfrm>
          <a:off x="666750" y="2705100"/>
          <a:ext cx="10858500" cy="2571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训练要素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程序修复任务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策略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模型选择读文件、改代码或运行检查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环境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代码目录、Python 解释器、检查程序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奖励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修复后通过独立检查，且没有修改验收要求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更新对象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语言模型参数 θ，使高回报动作更可能出现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工具观察属于环境反馈，训练时需要区分模型生成的部分。">
            <a:extLst>
              <a:ext uri="{FF2B5EF4-FFF2-40B4-BE49-F238E27FC236}">
                <a16:creationId xmlns:a16="http://schemas.microsoft.com/office/drawing/2014/main" id="{8E80960E-87FD-449F-9549-7D8AA1DA7ED0}"/>
              </a:ext>
            </a:extLst>
          </p:cNvPr>
          <p:cNvSpPr>
            <a:spLocks noGrp="1"/>
          </p:cNvSpPr>
          <p:nvPr/>
        </p:nvSpPr>
        <p:spPr>
          <a:xfrm>
            <a:off x="714375" y="5676900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训练时区分模型输出和工具返回值。</a:t>
            </a:r>
          </a:p>
        </p:txBody>
      </p:sp>
      <p:sp>
        <p:nvSpPr>
          <p:cNvPr id="8" name="15">
            <a:extLst>
              <a:ext uri="{FF2B5EF4-FFF2-40B4-BE49-F238E27FC236}">
                <a16:creationId xmlns:a16="http://schemas.microsoft.com/office/drawing/2014/main" id="{E7580C38-4C7E-4AAE-98E5-D03BF3016D28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9288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策略梯度：奖励怎样影响动作概率">
            <a:extLst>
              <a:ext uri="{FF2B5EF4-FFF2-40B4-BE49-F238E27FC236}">
                <a16:creationId xmlns:a16="http://schemas.microsoft.com/office/drawing/2014/main" id="{03CF7049-3CF4-4A3C-9752-732CCC1B2B1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策略梯度：回报与优势</a:t>
            </a:r>
          </a:p>
        </p:txBody>
      </p:sp>
      <p:sp>
        <p:nvSpPr>
          <p:cNvPr id="2" name="∇θ J = E [ Σₜ ∇θ log πθ(aₜ | hₜ)">
            <a:extLst>
              <a:ext uri="{FF2B5EF4-FFF2-40B4-BE49-F238E27FC236}">
                <a16:creationId xmlns:a16="http://schemas.microsoft.com/office/drawing/2014/main" id="{C5F7895B-D18E-4217-832A-0A28DAFD3BFA}"/>
              </a:ext>
            </a:extLst>
          </p:cNvPr>
          <p:cNvSpPr>
            <a:spLocks noGrp="1"/>
          </p:cNvSpPr>
          <p:nvPr/>
        </p:nvSpPr>
        <p:spPr>
          <a:xfrm>
            <a:off x="695325" y="1562100"/>
            <a:ext cx="10810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40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∇θ J = E [ Σₜ ∇θ log πθ(aₜ | hₜ) · (Gₜ − b(hₜ)) ]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02EEABC-80E7-4D9A-9D16-08778DB1F301}"/>
              </a:ext>
            </a:extLst>
          </p:cNvPr>
          <p:cNvGraphicFramePr/>
          <p:nvPr/>
        </p:nvGraphicFramePr>
        <p:xfrm>
          <a:off x="666750" y="2876550"/>
          <a:ext cx="10858500" cy="2390776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69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量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作用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Gₜ：回报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记录这次执行得到的结果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b(hₜ)：基线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估计当前状态下通常能取得多少回报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Aₜ = Gₜ − b(hₜ)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相对基线更好或更差，决定更新方向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baseline 用来降低方差。优势决定样本的更新方向。">
            <a:extLst>
              <a:ext uri="{FF2B5EF4-FFF2-40B4-BE49-F238E27FC236}">
                <a16:creationId xmlns:a16="http://schemas.microsoft.com/office/drawing/2014/main" id="{A1B540AB-D47B-45E4-A85A-B5736C759DB7}"/>
              </a:ext>
            </a:extLst>
          </p:cNvPr>
          <p:cNvSpPr>
            <a:spLocks noGrp="1"/>
          </p:cNvSpPr>
          <p:nvPr/>
        </p:nvSpPr>
        <p:spPr>
          <a:xfrm>
            <a:off x="714375" y="56673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减去 baseline 可以降低方差，优势决定更新方向。</a:t>
            </a:r>
          </a:p>
        </p:txBody>
      </p:sp>
      <p:sp>
        <p:nvSpPr>
          <p:cNvPr id="7" name="16">
            <a:extLst>
              <a:ext uri="{FF2B5EF4-FFF2-40B4-BE49-F238E27FC236}">
                <a16:creationId xmlns:a16="http://schemas.microsoft.com/office/drawing/2014/main" id="{D40775C1-14CB-4143-853F-A094895F3A9B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37508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O：限制一批数据上的策略更新">
            <a:extLst>
              <a:ext uri="{FF2B5EF4-FFF2-40B4-BE49-F238E27FC236}">
                <a16:creationId xmlns:a16="http://schemas.microsoft.com/office/drawing/2014/main" id="{CB0BAB3F-F6FF-4798-B68F-F333FA6DBA6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PPO：控制更新幅度</a:t>
            </a:r>
          </a:p>
        </p:txBody>
      </p:sp>
      <p:sp>
        <p:nvSpPr>
          <p:cNvPr id="2" name="ρₜ = πθ(aₜ | hₜ) / πold(aₜ | hₜ)">
            <a:extLst>
              <a:ext uri="{FF2B5EF4-FFF2-40B4-BE49-F238E27FC236}">
                <a16:creationId xmlns:a16="http://schemas.microsoft.com/office/drawing/2014/main" id="{0C0ADEA4-6744-494B-BB4D-E15CD70A13D1}"/>
              </a:ext>
            </a:extLst>
          </p:cNvPr>
          <p:cNvSpPr>
            <a:spLocks noGrp="1"/>
          </p:cNvSpPr>
          <p:nvPr/>
        </p:nvSpPr>
        <p:spPr>
          <a:xfrm>
            <a:off x="714375" y="15621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550" dirty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ρₜ = πθ(aₜ | hₜ) / πold(aₜ | hₜ)</a:t>
            </a:r>
          </a:p>
        </p:txBody>
      </p:sp>
      <p:sp>
        <p:nvSpPr>
          <p:cNvPr id="3" name="Lclip = E [ min(ρₜ Aₜ, clip(ρₜ, ">
            <a:extLst>
              <a:ext uri="{FF2B5EF4-FFF2-40B4-BE49-F238E27FC236}">
                <a16:creationId xmlns:a16="http://schemas.microsoft.com/office/drawing/2014/main" id="{9B45215B-AE46-4CC2-89FD-2B3B845970C8}"/>
              </a:ext>
            </a:extLst>
          </p:cNvPr>
          <p:cNvSpPr>
            <a:spLocks noGrp="1"/>
          </p:cNvSpPr>
          <p:nvPr/>
        </p:nvSpPr>
        <p:spPr>
          <a:xfrm>
            <a:off x="714375" y="2419350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400" dirty="0" err="1">
                <a:solidFill>
                  <a:srgbClr val="2357D7"/>
                </a:solidFill>
                <a:latin typeface="等线"/>
                <a:ea typeface="等线"/>
                <a:cs typeface="等线"/>
              </a:rPr>
              <a:t>Lclip</a:t>
            </a:r>
            <a:r>
              <a:rPr sz="2400" dirty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 = E [ min(ρₜ Aₜ, clip(ρₜ, 1−ε, 1+ε) Aₜ) ]</a:t>
            </a:r>
          </a:p>
        </p:txBody>
      </p:sp>
      <p:sp>
        <p:nvSpPr>
          <p:cNvPr id="4" name="旧策略产生训练样本，当前策略计算更新后的概率。">
            <a:extLst>
              <a:ext uri="{FF2B5EF4-FFF2-40B4-BE49-F238E27FC236}">
                <a16:creationId xmlns:a16="http://schemas.microsoft.com/office/drawing/2014/main" id="{88511162-E9AA-4296-892B-B706FC7A64C9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106680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旧策略负责采样，当前策略参与优化。</a:t>
            </a:r>
          </a:p>
        </p:txBody>
      </p:sp>
      <p:sp>
        <p:nvSpPr>
          <p:cNvPr id="5" name="价值函数 V 估计状态回报，配合广义优势估计（GAE）。">
            <a:extLst>
              <a:ext uri="{FF2B5EF4-FFF2-40B4-BE49-F238E27FC236}">
                <a16:creationId xmlns:a16="http://schemas.microsoft.com/office/drawing/2014/main" id="{B4E37F04-43F9-40FD-A021-E4FA87C40912}"/>
              </a:ext>
            </a:extLst>
          </p:cNvPr>
          <p:cNvSpPr>
            <a:spLocks noGrp="1"/>
          </p:cNvSpPr>
          <p:nvPr/>
        </p:nvSpPr>
        <p:spPr>
          <a:xfrm>
            <a:off x="723900" y="4448175"/>
            <a:ext cx="106680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价值函数 V 估计状态回报，配合广义优势估计（GAE）。</a:t>
            </a:r>
          </a:p>
        </p:txBody>
      </p:sp>
      <p:sp>
        <p:nvSpPr>
          <p:cNvPr id="6" name="裁剪限制目标函数的收益，仍需监测实际策略变化。">
            <a:extLst>
              <a:ext uri="{FF2B5EF4-FFF2-40B4-BE49-F238E27FC236}">
                <a16:creationId xmlns:a16="http://schemas.microsoft.com/office/drawing/2014/main" id="{13BBED31-D836-43D8-B012-47D28C2BE255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106680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裁剪限制目标的额外收益，不会把概率变化硬截断。</a:t>
            </a:r>
          </a:p>
        </p:txBody>
      </p:sp>
      <p:sp>
        <p:nvSpPr>
          <p:cNvPr id="9" name="17">
            <a:extLst>
              <a:ext uri="{FF2B5EF4-FFF2-40B4-BE49-F238E27FC236}">
                <a16:creationId xmlns:a16="http://schemas.microsoft.com/office/drawing/2014/main" id="{6B6F6A11-ADC9-4AED-987F-653A2B2E4776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03259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当前策略、旧策略与参考策略">
            <a:extLst>
              <a:ext uri="{FF2B5EF4-FFF2-40B4-BE49-F238E27FC236}">
                <a16:creationId xmlns:a16="http://schemas.microsoft.com/office/drawing/2014/main" id="{E5043C43-52F3-4F7A-AFC8-0FD5EFE6BD9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当前策略、旧策略、参考策略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20C820B-19FD-4BE2-B7F5-8D0F07A0DF05}"/>
              </a:ext>
            </a:extLst>
          </p:cNvPr>
          <p:cNvGraphicFramePr/>
          <p:nvPr/>
        </p:nvGraphicFramePr>
        <p:xfrm>
          <a:off x="619125" y="1543050"/>
          <a:ext cx="10953750" cy="3724278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7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对象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用途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更新时间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当前策略 πθ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计算目标，接受梯度更新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每次优化步骤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旧策略 πold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产生样本，提供概率比的分母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下一轮采样时刷新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参考策略 πref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用于 KL 约束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一个训练阶段通常固定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价值函数 V（PPO）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估计状态价值，辅助计算优势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随训练拟合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奖励规则或模型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给输出或执行结果评分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依训练方案而定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经典 GRPO 用组内比较代替单独的价值函数。">
            <a:extLst>
              <a:ext uri="{FF2B5EF4-FFF2-40B4-BE49-F238E27FC236}">
                <a16:creationId xmlns:a16="http://schemas.microsoft.com/office/drawing/2014/main" id="{3951C726-9D10-4F35-91E2-EE2D1C61BB2E}"/>
              </a:ext>
            </a:extLst>
          </p:cNvPr>
          <p:cNvSpPr>
            <a:spLocks noGrp="1"/>
          </p:cNvSpPr>
          <p:nvPr/>
        </p:nvSpPr>
        <p:spPr>
          <a:xfrm>
            <a:off x="723900" y="5676900"/>
            <a:ext cx="10668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25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GRPO 用组内奖励估计优势，不再单独训练价值函数。</a:t>
            </a:r>
          </a:p>
        </p:txBody>
      </p:sp>
      <p:sp>
        <p:nvSpPr>
          <p:cNvPr id="6" name="18">
            <a:extLst>
              <a:ext uri="{FF2B5EF4-FFF2-40B4-BE49-F238E27FC236}">
                <a16:creationId xmlns:a16="http://schemas.microsoft.com/office/drawing/2014/main" id="{757F869A-B7DF-4733-A2FB-7B780D662D4F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39285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PO：同一任务的组内比较">
            <a:extLst>
              <a:ext uri="{FF2B5EF4-FFF2-40B4-BE49-F238E27FC236}">
                <a16:creationId xmlns:a16="http://schemas.microsoft.com/office/drawing/2014/main" id="{B5085BE2-8F40-4430-86B4-A6B9FD5A89B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GRPO：组内相对优势</a:t>
            </a:r>
          </a:p>
        </p:txBody>
      </p:sp>
      <p:sp>
        <p:nvSpPr>
          <p:cNvPr id="2" name="Aᵢ = (rᵢ − mean(r)) / (std(r) + ">
            <a:extLst>
              <a:ext uri="{FF2B5EF4-FFF2-40B4-BE49-F238E27FC236}">
                <a16:creationId xmlns:a16="http://schemas.microsoft.com/office/drawing/2014/main" id="{02432A0A-A0EC-4674-99AB-A7C5E0F327DA}"/>
              </a:ext>
            </a:extLst>
          </p:cNvPr>
          <p:cNvSpPr>
            <a:spLocks noGrp="1"/>
          </p:cNvSpPr>
          <p:nvPr/>
        </p:nvSpPr>
        <p:spPr>
          <a:xfrm>
            <a:off x="714375" y="1581150"/>
            <a:ext cx="106680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7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70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Aᵢ = (rᵢ − mean(r)) / (std(r) + δ)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B76B92D-3BD3-42AB-B977-3BBC97DCB28C}"/>
              </a:ext>
            </a:extLst>
          </p:cNvPr>
          <p:cNvGraphicFramePr/>
          <p:nvPr/>
        </p:nvGraphicFramePr>
        <p:xfrm>
          <a:off x="666750" y="2743200"/>
          <a:ext cx="10858500" cy="198120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同一任务的 4 次采样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2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4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验收奖励 r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相对优势 A（约）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+1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+1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奖励相同的一组样本，无法提供组内优劣差异。">
            <a:extLst>
              <a:ext uri="{FF2B5EF4-FFF2-40B4-BE49-F238E27FC236}">
                <a16:creationId xmlns:a16="http://schemas.microsoft.com/office/drawing/2014/main" id="{80EA5F3D-1341-4F24-A1C6-D7F123918A8D}"/>
              </a:ext>
            </a:extLst>
          </p:cNvPr>
          <p:cNvSpPr>
            <a:spLocks noGrp="1"/>
          </p:cNvSpPr>
          <p:nvPr/>
        </p:nvSpPr>
        <p:spPr>
          <a:xfrm>
            <a:off x="714375" y="5219700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组内奖励全相同，优势为 0。</a:t>
            </a:r>
          </a:p>
        </p:txBody>
      </p:sp>
      <p:sp>
        <p:nvSpPr>
          <p:cNvPr id="5" name="本页仅说明优势估计。完整更新还需控制策略变化幅度。">
            <a:extLst>
              <a:ext uri="{FF2B5EF4-FFF2-40B4-BE49-F238E27FC236}">
                <a16:creationId xmlns:a16="http://schemas.microsoft.com/office/drawing/2014/main" id="{A5716741-5A75-4FEF-B1AD-C607727FD0BC}"/>
              </a:ext>
            </a:extLst>
          </p:cNvPr>
          <p:cNvSpPr>
            <a:spLocks noGrp="1"/>
          </p:cNvSpPr>
          <p:nvPr/>
        </p:nvSpPr>
        <p:spPr>
          <a:xfrm>
            <a:off x="714375" y="58769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本例使用总体标准差。优势为 0 时，KL 项仍可能影响更新。</a:t>
            </a:r>
          </a:p>
        </p:txBody>
      </p:sp>
      <p:sp>
        <p:nvSpPr>
          <p:cNvPr id="8" name="μ = 0.5　　σ = √[(0.25+0.25+0.25+0">
            <a:extLst>
              <a:ext uri="{FF2B5EF4-FFF2-40B4-BE49-F238E27FC236}">
                <a16:creationId xmlns:a16="http://schemas.microsoft.com/office/drawing/2014/main" id="{887CA0BE-6390-4F22-8307-77A4DDFDC57E}"/>
              </a:ext>
            </a:extLst>
          </p:cNvPr>
          <p:cNvSpPr>
            <a:spLocks noGrp="1"/>
          </p:cNvSpPr>
          <p:nvPr/>
        </p:nvSpPr>
        <p:spPr>
          <a:xfrm>
            <a:off x="714375" y="23145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53657B"/>
                </a:solidFill>
                <a:latin typeface="等线"/>
                <a:ea typeface="等线"/>
                <a:cs typeface="等线"/>
              </a:rPr>
              <a:t>μ = 0.5　　σ = √[(0.25+0.25+0.25+0.25)/4] = 0.5</a:t>
            </a:r>
          </a:p>
        </p:txBody>
      </p:sp>
      <p:sp>
        <p:nvSpPr>
          <p:cNvPr id="9" name="19">
            <a:extLst>
              <a:ext uri="{FF2B5EF4-FFF2-40B4-BE49-F238E27FC236}">
                <a16:creationId xmlns:a16="http://schemas.microsoft.com/office/drawing/2014/main" id="{11CBADD7-E833-4A53-A272-18115F116871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47243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PO：把组内优势放入裁剪目标">
            <a:extLst>
              <a:ext uri="{FF2B5EF4-FFF2-40B4-BE49-F238E27FC236}">
                <a16:creationId xmlns:a16="http://schemas.microsoft.com/office/drawing/2014/main" id="{9A8A9378-E429-45CF-8847-24A43FA9D5D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GRPO 的目标函数</a:t>
            </a:r>
          </a:p>
        </p:txBody>
      </p:sp>
      <p:sp>
        <p:nvSpPr>
          <p:cNvPr id="2" name="ρᵢ,ₜ = πθ(yᵢ,ₜ | x, yᵢ,&lt;ₜ) / πol">
            <a:extLst>
              <a:ext uri="{FF2B5EF4-FFF2-40B4-BE49-F238E27FC236}">
                <a16:creationId xmlns:a16="http://schemas.microsoft.com/office/drawing/2014/main" id="{8AB52F5F-C986-4FF6-8AFE-EC8AF23982D8}"/>
              </a:ext>
            </a:extLst>
          </p:cNvPr>
          <p:cNvSpPr>
            <a:spLocks noGrp="1"/>
          </p:cNvSpPr>
          <p:nvPr/>
        </p:nvSpPr>
        <p:spPr>
          <a:xfrm>
            <a:off x="695325" y="1533525"/>
            <a:ext cx="10810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2357D7"/>
                </a:solidFill>
                <a:latin typeface="等线"/>
                <a:ea typeface="等线"/>
                <a:cs typeface="等线"/>
              </a:rPr>
              <a:t>ρᵢ,ₜ = πθ(yᵢ,ₜ | x, yᵢ,&lt;ₜ) / πold(yᵢ,ₜ | x, yᵢ,&lt;ₜ)</a:t>
            </a:r>
          </a:p>
        </p:txBody>
      </p:sp>
      <p:sp>
        <p:nvSpPr>
          <p:cNvPr id="3" name="ℓᵢ,ₜ = min[ρᵢ,ₜ Aᵢ, clip(ρᵢ,ₜ, 1">
            <a:extLst>
              <a:ext uri="{FF2B5EF4-FFF2-40B4-BE49-F238E27FC236}">
                <a16:creationId xmlns:a16="http://schemas.microsoft.com/office/drawing/2014/main" id="{64B3DBAF-16DE-4B72-998B-97B5392FE152}"/>
              </a:ext>
            </a:extLst>
          </p:cNvPr>
          <p:cNvSpPr>
            <a:spLocks noGrp="1"/>
          </p:cNvSpPr>
          <p:nvPr/>
        </p:nvSpPr>
        <p:spPr>
          <a:xfrm>
            <a:off x="695325" y="2466975"/>
            <a:ext cx="10810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25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ℓᵢ,ₜ = min[ρᵢ,ₜ Aᵢ, clip(ρᵢ,ₜ, 1−ε, 1+ε) Aᵢ]</a:t>
            </a:r>
          </a:p>
        </p:txBody>
      </p:sp>
      <p:sp>
        <p:nvSpPr>
          <p:cNvPr id="4" name="J(θ) = E [ (1/G) Σᵢ (1/Tᵢ) Σₜ (ℓ">
            <a:extLst>
              <a:ext uri="{FF2B5EF4-FFF2-40B4-BE49-F238E27FC236}">
                <a16:creationId xmlns:a16="http://schemas.microsoft.com/office/drawing/2014/main" id="{E58AA3EF-3D92-441E-B9D3-79D34FCC0241}"/>
              </a:ext>
            </a:extLst>
          </p:cNvPr>
          <p:cNvSpPr>
            <a:spLocks noGrp="1"/>
          </p:cNvSpPr>
          <p:nvPr/>
        </p:nvSpPr>
        <p:spPr>
          <a:xfrm>
            <a:off x="695325" y="3419475"/>
            <a:ext cx="10810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25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J(θ) = E [ (1/G) Σᵢ (1/Tᵢ) Σₜ (ℓᵢ,ₜ − β kᵢ,ₜ) ]</a:t>
            </a:r>
          </a:p>
        </p:txBody>
      </p:sp>
      <p:sp>
        <p:nvSpPr>
          <p:cNvPr id="5" name="G：同一问题的采样数　Tᵢ：回答 i 的生成长度">
            <a:extLst>
              <a:ext uri="{FF2B5EF4-FFF2-40B4-BE49-F238E27FC236}">
                <a16:creationId xmlns:a16="http://schemas.microsoft.com/office/drawing/2014/main" id="{00CC63F2-F67C-4B79-919B-5FE915B2C5A1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G：同一问题的采样数　Tᵢ：回答 i 的生成长度</a:t>
            </a:r>
          </a:p>
        </p:txBody>
      </p:sp>
      <p:sp>
        <p:nvSpPr>
          <p:cNvPr id="6" name="Aᵢ：组内优势　ε：裁剪范围　β：KL 惩罚系数">
            <a:extLst>
              <a:ext uri="{FF2B5EF4-FFF2-40B4-BE49-F238E27FC236}">
                <a16:creationId xmlns:a16="http://schemas.microsoft.com/office/drawing/2014/main" id="{1E305CEB-67B3-44EF-B6F5-10745EE71BE8}"/>
              </a:ext>
            </a:extLst>
          </p:cNvPr>
          <p:cNvSpPr>
            <a:spLocks noGrp="1"/>
          </p:cNvSpPr>
          <p:nvPr/>
        </p:nvSpPr>
        <p:spPr>
          <a:xfrm>
            <a:off x="723900" y="50387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Aᵢ：组内优势　ε：裁剪范围　β：KL 惩罚系数</a:t>
            </a:r>
          </a:p>
        </p:txBody>
      </p:sp>
      <p:sp>
        <p:nvSpPr>
          <p:cNvPr id="7" name="kᵢ,ₜ：逐 token KL 估计　训练时最小化 −J。">
            <a:extLst>
              <a:ext uri="{FF2B5EF4-FFF2-40B4-BE49-F238E27FC236}">
                <a16:creationId xmlns:a16="http://schemas.microsoft.com/office/drawing/2014/main" id="{267ACFBF-0037-4675-9545-0146356B93F0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kᵢ,ₜ：逐 token KL 估计　训练时最小化 −J。</a:t>
            </a:r>
          </a:p>
        </p:txBody>
      </p:sp>
      <p:sp>
        <p:nvSpPr>
          <p:cNvPr id="10" name="20">
            <a:extLst>
              <a:ext uri="{FF2B5EF4-FFF2-40B4-BE49-F238E27FC236}">
                <a16:creationId xmlns:a16="http://schemas.microsoft.com/office/drawing/2014/main" id="{F5C66A25-58E4-422F-A36B-5956C3A56C1B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91982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裁剪算例：正优势与负优势">
            <a:extLst>
              <a:ext uri="{FF2B5EF4-FFF2-40B4-BE49-F238E27FC236}">
                <a16:creationId xmlns:a16="http://schemas.microsoft.com/office/drawing/2014/main" id="{4B2401A7-FBB5-4323-8C17-40A06D79E5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裁剪算例：正、负优势</a:t>
            </a:r>
          </a:p>
        </p:txBody>
      </p:sp>
      <p:sp>
        <p:nvSpPr>
          <p:cNvPr id="2" name="ε = 0.2，裁剪区间为 [0.8, 1.2]。本页先不计 K">
            <a:extLst>
              <a:ext uri="{FF2B5EF4-FFF2-40B4-BE49-F238E27FC236}">
                <a16:creationId xmlns:a16="http://schemas.microsoft.com/office/drawing/2014/main" id="{6B3D20B5-F20A-454D-96AF-89A6378BCD05}"/>
              </a:ext>
            </a:extLst>
          </p:cNvPr>
          <p:cNvSpPr>
            <a:spLocks noGrp="1"/>
          </p:cNvSpPr>
          <p:nvPr/>
        </p:nvSpPr>
        <p:spPr>
          <a:xfrm>
            <a:off x="714375" y="1552575"/>
            <a:ext cx="10668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ε = 0.2，裁剪区间为 [0.8, 1.2]。本页先不计 KL。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D29D1A-9405-4335-9402-7279A5FB2F6C}"/>
              </a:ext>
            </a:extLst>
          </p:cNvPr>
          <p:cNvGraphicFramePr/>
          <p:nvPr/>
        </p:nvGraphicFramePr>
        <p:xfrm>
          <a:off x="666750" y="2619375"/>
          <a:ext cx="10858500" cy="2857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优势 A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概率比 ρ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ρA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clip(ρ)A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取较小值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+1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1.2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1.2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−0.5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−0.8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−0.8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+1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0.8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0.5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1.5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−1.2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−1.5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打开裁剪计算器">
            <a:extLst>
              <a:ext uri="{FF2B5EF4-FFF2-40B4-BE49-F238E27FC236}">
                <a16:creationId xmlns:a16="http://schemas.microsoft.com/office/drawing/2014/main" id="{5C7F6339-304A-49C4-B43F-3C23FFB13ABA}"/>
              </a:ext>
            </a:extLst>
          </p:cNvPr>
          <p:cNvSpPr>
            <a:spLocks noGrp="1"/>
          </p:cNvSpPr>
          <p:nvPr/>
        </p:nvSpPr>
        <p:spPr>
          <a:xfrm>
            <a:off x="714375" y="590550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2357D7"/>
                </a:solidFill>
                <a:latin typeface="等线"/>
                <a:ea typeface="等线"/>
                <a:cs typeface="等线"/>
                <a:hlinkClick r:id="rId3"/>
              </a:rPr>
              <a:t>打开裁剪计算器</a:t>
            </a:r>
          </a:p>
        </p:txBody>
      </p:sp>
      <p:sp>
        <p:nvSpPr>
          <p:cNvPr id="7" name="21">
            <a:extLst>
              <a:ext uri="{FF2B5EF4-FFF2-40B4-BE49-F238E27FC236}">
                <a16:creationId xmlns:a16="http://schemas.microsoft.com/office/drawing/2014/main" id="{59287792-A44D-4AD4-A9B0-89A795CA9490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27130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L 约束：偏离哪个分布">
            <a:extLst>
              <a:ext uri="{FF2B5EF4-FFF2-40B4-BE49-F238E27FC236}">
                <a16:creationId xmlns:a16="http://schemas.microsoft.com/office/drawing/2014/main" id="{54C57EF6-920B-466E-BD65-BB9898DCAB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KL 约束与参考策略</a:t>
            </a:r>
          </a:p>
        </p:txBody>
      </p:sp>
      <p:sp>
        <p:nvSpPr>
          <p:cNvPr id="2" name="KL(h) = Σᵥ πθ(v|h) log[πθ(v|h) /">
            <a:extLst>
              <a:ext uri="{FF2B5EF4-FFF2-40B4-BE49-F238E27FC236}">
                <a16:creationId xmlns:a16="http://schemas.microsoft.com/office/drawing/2014/main" id="{EE1D5F30-594B-4762-A51C-6C50738877EB}"/>
              </a:ext>
            </a:extLst>
          </p:cNvPr>
          <p:cNvSpPr>
            <a:spLocks noGrp="1"/>
          </p:cNvSpPr>
          <p:nvPr/>
        </p:nvSpPr>
        <p:spPr>
          <a:xfrm>
            <a:off x="695325" y="1581150"/>
            <a:ext cx="108108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325">
                <a:solidFill>
                  <a:srgbClr val="2357D7"/>
                </a:solidFill>
                <a:latin typeface="等线"/>
                <a:ea typeface="等线"/>
                <a:cs typeface="等线"/>
              </a:rPr>
              <a:t>KL(h) = Σᵥ πθ(v|h) log[πθ(v|h) / πref(v|h)]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BC80111-9E7F-4856-BA93-E6994BFB273C}"/>
              </a:ext>
            </a:extLst>
          </p:cNvPr>
          <p:cNvGraphicFramePr/>
          <p:nvPr/>
        </p:nvGraphicFramePr>
        <p:xfrm>
          <a:off x="666750" y="2943225"/>
          <a:ext cx="10858500" cy="20574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机制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比较对象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控制的变化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PPO 式裁剪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当前策略 与 旧策略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一批采样数据上的更新收益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KL 惩罚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当前策略 与 参考策略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偏离参考输出分布的程度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β 调整学习收益与分布偏离之间的权重。">
            <a:extLst>
              <a:ext uri="{FF2B5EF4-FFF2-40B4-BE49-F238E27FC236}">
                <a16:creationId xmlns:a16="http://schemas.microsoft.com/office/drawing/2014/main" id="{192A0635-8E14-420E-907A-994CD4B108B1}"/>
              </a:ext>
            </a:extLst>
          </p:cNvPr>
          <p:cNvSpPr>
            <a:spLocks noGrp="1"/>
          </p:cNvSpPr>
          <p:nvPr/>
        </p:nvSpPr>
        <p:spPr>
          <a:xfrm>
            <a:off x="714375" y="5638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β 调整学习收益与分布偏离之间的权重。</a:t>
            </a:r>
          </a:p>
        </p:txBody>
      </p:sp>
      <p:sp>
        <p:nvSpPr>
          <p:cNvPr id="7" name="22">
            <a:extLst>
              <a:ext uri="{FF2B5EF4-FFF2-40B4-BE49-F238E27FC236}">
                <a16:creationId xmlns:a16="http://schemas.microsoft.com/office/drawing/2014/main" id="{48BD1683-58C4-4D5C-AA93-B95EF251386F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99037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一轮 GRPO 训练的实际顺序">
            <a:extLst>
              <a:ext uri="{FF2B5EF4-FFF2-40B4-BE49-F238E27FC236}">
                <a16:creationId xmlns:a16="http://schemas.microsoft.com/office/drawing/2014/main" id="{3E5EC32F-1012-429E-BEE2-47D32C3AE49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GRPO 训练流程</a:t>
            </a:r>
          </a:p>
        </p:txBody>
      </p:sp>
      <p:sp>
        <p:nvSpPr>
          <p:cNvPr id="2" name="for 每轮训练:&#10;    用旧策略为每个任务采样 G 次&#10;  ">
            <a:extLst>
              <a:ext uri="{FF2B5EF4-FFF2-40B4-BE49-F238E27FC236}">
                <a16:creationId xmlns:a16="http://schemas.microsoft.com/office/drawing/2014/main" id="{F9039CB4-12B5-42AE-B4CC-F7E59B16C8D5}"/>
              </a:ext>
            </a:extLst>
          </p:cNvPr>
          <p:cNvSpPr>
            <a:spLocks noGrp="1"/>
          </p:cNvSpPr>
          <p:nvPr/>
        </p:nvSpPr>
        <p:spPr>
          <a:xfrm>
            <a:off x="714375" y="1552575"/>
            <a:ext cx="10763250" cy="3743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for 每轮训练: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用旧策略为每个任务采样 G 次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运行验收，得到奖励与组内优势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保存生成 token 的旧 log 概率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for 本批数据的若干优化步: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计算当前 log 概率、裁剪项和 KL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反向传播，更新当前策略</a:t>
            </a:r>
          </a:p>
          <a:p>
            <a:pPr>
              <a:buNone/>
              <a:defRPr sz="210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刷新旧策略，开始下一轮采样</a:t>
            </a:r>
          </a:p>
        </p:txBody>
      </p:sp>
      <p:sp>
        <p:nvSpPr>
          <p:cNvPr id="3" name="采样时用旧策略，优化时更新当前策略。参考策略通常固定。">
            <a:extLst>
              <a:ext uri="{FF2B5EF4-FFF2-40B4-BE49-F238E27FC236}">
                <a16:creationId xmlns:a16="http://schemas.microsoft.com/office/drawing/2014/main" id="{68F1BC7A-21C6-4456-9849-FA1E636B2A8F}"/>
              </a:ext>
            </a:extLst>
          </p:cNvPr>
          <p:cNvSpPr>
            <a:spLocks noGrp="1"/>
          </p:cNvSpPr>
          <p:nvPr/>
        </p:nvSpPr>
        <p:spPr>
          <a:xfrm>
            <a:off x="723900" y="5676900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025">
                <a:solidFill>
                  <a:srgbClr val="2357D7"/>
                </a:solidFill>
                <a:latin typeface="等线"/>
                <a:ea typeface="等线"/>
                <a:cs typeface="等线"/>
              </a:rPr>
              <a:t>旧策略采样，当前策略更新，参考策略通常固定。</a:t>
            </a:r>
          </a:p>
        </p:txBody>
      </p:sp>
      <p:sp>
        <p:nvSpPr>
          <p:cNvPr id="6" name="23">
            <a:extLst>
              <a:ext uri="{FF2B5EF4-FFF2-40B4-BE49-F238E27FC236}">
                <a16:creationId xmlns:a16="http://schemas.microsoft.com/office/drawing/2014/main" id="{7C379C53-6FDC-4A94-98CD-7236E96EF68F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33157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延迟奖励与信用分配">
            <a:extLst>
              <a:ext uri="{FF2B5EF4-FFF2-40B4-BE49-F238E27FC236}">
                <a16:creationId xmlns:a16="http://schemas.microsoft.com/office/drawing/2014/main" id="{804617D9-A214-4E3A-BEEE-EAA5EB65EA9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Agentic RL：多轮工具调用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BFD4A31-45F1-4E70-B502-9498681582D0}"/>
              </a:ext>
            </a:extLst>
          </p:cNvPr>
          <p:cNvGraphicFramePr/>
          <p:nvPr/>
        </p:nvGraphicFramePr>
        <p:xfrm>
          <a:off x="666750" y="1571625"/>
          <a:ext cx="10858500" cy="2638424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60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数据字段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程序修复任务中的对应项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输入 h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任务目标、既有记录与上一次工具结果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动作 a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模型生成的工具名、参数与文本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观察 o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解释器返回值、报错与检查结果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∇θ J ≈ E [ Σₜ ∇θ log πθ(aₜ | hₜ)">
            <a:extLst>
              <a:ext uri="{FF2B5EF4-FFF2-40B4-BE49-F238E27FC236}">
                <a16:creationId xmlns:a16="http://schemas.microsoft.com/office/drawing/2014/main" id="{0E5A2779-6114-42E3-AAAB-71F1576B36A2}"/>
              </a:ext>
            </a:extLst>
          </p:cNvPr>
          <p:cNvSpPr>
            <a:spLocks noGrp="1"/>
          </p:cNvSpPr>
          <p:nvPr/>
        </p:nvSpPr>
        <p:spPr>
          <a:xfrm>
            <a:off x="714375" y="4467225"/>
            <a:ext cx="10668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6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62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策略损失只计算模型生成的 token</a:t>
            </a:r>
          </a:p>
        </p:txBody>
      </p:sp>
      <p:sp>
        <p:nvSpPr>
          <p:cNvPr id="4" name="Gₜ：从第 t 步开始的累计回报">
            <a:extLst>
              <a:ext uri="{FF2B5EF4-FFF2-40B4-BE49-F238E27FC236}">
                <a16:creationId xmlns:a16="http://schemas.microsoft.com/office/drawing/2014/main" id="{206B6EB1-1ADE-4AA6-815E-27CEF3DA2A4C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轨迹回报需要在多次模型调用之间分配</a:t>
            </a:r>
          </a:p>
        </p:txBody>
      </p:sp>
      <p:sp>
        <p:nvSpPr>
          <p:cNvPr id="5" name="终局奖励很稀疏。中间奖励需要可检查的依据。">
            <a:extLst>
              <a:ext uri="{FF2B5EF4-FFF2-40B4-BE49-F238E27FC236}">
                <a16:creationId xmlns:a16="http://schemas.microsoft.com/office/drawing/2014/main" id="{21438B9C-E334-4EAE-9D6E-86AE463B059A}"/>
              </a:ext>
            </a:extLst>
          </p:cNvPr>
          <p:cNvSpPr>
            <a:spLocks noGrp="1"/>
          </p:cNvSpPr>
          <p:nvPr/>
        </p:nvSpPr>
        <p:spPr>
          <a:xfrm>
            <a:off x="714375" y="5591175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工具返回值放入下一轮上下文，不计算它的策略梯度。</a:t>
            </a:r>
          </a:p>
        </p:txBody>
      </p:sp>
      <p:sp>
        <p:nvSpPr>
          <p:cNvPr id="8" name="24">
            <a:extLst>
              <a:ext uri="{FF2B5EF4-FFF2-40B4-BE49-F238E27FC236}">
                <a16:creationId xmlns:a16="http://schemas.microsoft.com/office/drawing/2014/main" id="{7101F7C6-8730-4C7E-9338-EEF9211D6D73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1294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奖励设计与训练后的检验">
            <a:extLst>
              <a:ext uri="{FF2B5EF4-FFF2-40B4-BE49-F238E27FC236}">
                <a16:creationId xmlns:a16="http://schemas.microsoft.com/office/drawing/2014/main" id="{80B85249-C2BD-415A-BD07-8A126DCDB66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奖励设计与验收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BC93FB1-ADEE-4C91-87D6-AF29388577E9}"/>
              </a:ext>
            </a:extLst>
          </p:cNvPr>
          <p:cNvGraphicFramePr/>
          <p:nvPr/>
        </p:nvGraphicFramePr>
        <p:xfrm>
          <a:off x="666750" y="1552575"/>
          <a:ext cx="10858500" cy="333375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奖励或评估设计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可能遗漏什么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只检查文件是否存在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文件为空、数字错误、引用失效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允许修改验收脚本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模型修改检查，绕过原有要求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只测试训练中见过的任务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记住模板，遇到新格式仍然失败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固定独立验收与调用预算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比较成功率、成本和越权操作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25">
            <a:extLst>
              <a:ext uri="{FF2B5EF4-FFF2-40B4-BE49-F238E27FC236}">
                <a16:creationId xmlns:a16="http://schemas.microsoft.com/office/drawing/2014/main" id="{D52A5DF4-A152-4E9D-8357-E23BBE21AEC9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37214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鹈鹕骑自行车：不同版本的 SVG">
            <a:extLst>
              <a:ext uri="{FF2B5EF4-FFF2-40B4-BE49-F238E27FC236}">
                <a16:creationId xmlns:a16="http://schemas.microsoft.com/office/drawing/2014/main" id="{29AE65ED-63D6-4D4F-A0D6-343AB8308EE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Vibe Coding 之一：前端演示</a:t>
            </a:r>
          </a:p>
        </p:txBody>
      </p:sp>
      <p:sp>
        <p:nvSpPr>
          <p:cNvPr id="2" name="GPT-5.6-sol（Max）">
            <a:extLst>
              <a:ext uri="{FF2B5EF4-FFF2-40B4-BE49-F238E27FC236}">
                <a16:creationId xmlns:a16="http://schemas.microsoft.com/office/drawing/2014/main" id="{39C946D0-5AE0-494B-A5B2-93D15BEBBF73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352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GPT-5.6-sol（Max）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42AF53-982E-4D73-9E99-73A15848D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293938"/>
            <a:ext cx="3524250" cy="2232025"/>
          </a:xfrm>
          <a:prstGeom prst="rect">
            <a:avLst/>
          </a:prstGeom>
        </p:spPr>
      </p:pic>
      <p:sp>
        <p:nvSpPr>
          <p:cNvPr id="4" name="Qwen3.8-Flash">
            <a:extLst>
              <a:ext uri="{FF2B5EF4-FFF2-40B4-BE49-F238E27FC236}">
                <a16:creationId xmlns:a16="http://schemas.microsoft.com/office/drawing/2014/main" id="{2363A8BC-04CC-4642-ADF6-9C3ECBE5037C}"/>
              </a:ext>
            </a:extLst>
          </p:cNvPr>
          <p:cNvSpPr>
            <a:spLocks noGrp="1"/>
          </p:cNvSpPr>
          <p:nvPr/>
        </p:nvSpPr>
        <p:spPr>
          <a:xfrm>
            <a:off x="4324350" y="1552575"/>
            <a:ext cx="352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Qwen3.8-Flash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831254-2527-4F32-8156-2EF19C1D7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293938"/>
            <a:ext cx="3524250" cy="2232025"/>
          </a:xfrm>
          <a:prstGeom prst="rect">
            <a:avLst/>
          </a:prstGeom>
        </p:spPr>
      </p:pic>
      <p:sp>
        <p:nvSpPr>
          <p:cNvPr id="6" name="GPT-6.1-sol">
            <a:extLst>
              <a:ext uri="{FF2B5EF4-FFF2-40B4-BE49-F238E27FC236}">
                <a16:creationId xmlns:a16="http://schemas.microsoft.com/office/drawing/2014/main" id="{16F93DB6-5E50-4E0A-A10B-AD5C695F8070}"/>
              </a:ext>
            </a:extLst>
          </p:cNvPr>
          <p:cNvSpPr>
            <a:spLocks noGrp="1"/>
          </p:cNvSpPr>
          <p:nvPr/>
        </p:nvSpPr>
        <p:spPr>
          <a:xfrm>
            <a:off x="8039100" y="1552575"/>
            <a:ext cx="352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GPT-6.1-sol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4981A6-2A45-4F9F-AD43-50C7882B9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39100" y="2293938"/>
            <a:ext cx="3524250" cy="2232025"/>
          </a:xfrm>
          <a:prstGeom prst="rect">
            <a:avLst/>
          </a:prstGeom>
        </p:spPr>
      </p:pic>
      <p:sp>
        <p:nvSpPr>
          <p:cNvPr id="8" name="观察：脚与踏板是否连接，车轮与踩踏是否同步。">
            <a:extLst>
              <a:ext uri="{FF2B5EF4-FFF2-40B4-BE49-F238E27FC236}">
                <a16:creationId xmlns:a16="http://schemas.microsoft.com/office/drawing/2014/main" id="{7098A208-A86D-40CD-9D54-D5BFF331B634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看两个细节：脚是否连着踏板，踩踏和车轮是否同步。</a:t>
            </a:r>
          </a:p>
        </p:txBody>
      </p:sp>
      <p:sp>
        <p:nvSpPr>
          <p:cNvPr id="9" name="打开九版本实时 SVG 展示">
            <a:extLst>
              <a:ext uri="{FF2B5EF4-FFF2-40B4-BE49-F238E27FC236}">
                <a16:creationId xmlns:a16="http://schemas.microsoft.com/office/drawing/2014/main" id="{512B0271-2CCD-4502-9BE7-209B826AAE15}"/>
              </a:ext>
            </a:extLst>
          </p:cNvPr>
          <p:cNvSpPr>
            <a:spLocks noGrp="1"/>
          </p:cNvSpPr>
          <p:nvPr/>
        </p:nvSpPr>
        <p:spPr>
          <a:xfrm>
            <a:off x="695325" y="5829300"/>
            <a:ext cx="7048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357D7"/>
                </a:solidFill>
                <a:latin typeface="等线"/>
                <a:ea typeface="等线"/>
                <a:cs typeface="等线"/>
                <a:hlinkClick r:id="rId6"/>
              </a:rPr>
              <a:t>打开九版本实时 SVG 展示</a:t>
            </a:r>
          </a:p>
        </p:txBody>
      </p:sp>
      <p:sp>
        <p:nvSpPr>
          <p:cNvPr id="12" name="26">
            <a:extLst>
              <a:ext uri="{FF2B5EF4-FFF2-40B4-BE49-F238E27FC236}">
                <a16:creationId xmlns:a16="http://schemas.microsoft.com/office/drawing/2014/main" id="{5B9E965D-33F4-4164-BABA-151D8776D76A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00487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动态展示：鹈鹕怎样踩动自行车">
            <a:extLst>
              <a:ext uri="{FF2B5EF4-FFF2-40B4-BE49-F238E27FC236}">
                <a16:creationId xmlns:a16="http://schemas.microsoft.com/office/drawing/2014/main" id="{57936C88-CF09-4262-85AB-E716AB0C488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lang="zh-CN" altLang="en-US"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鹈鹕骑自行车：动态展示</a:t>
            </a:r>
            <a:endParaRPr sz="3450" b="0">
              <a:solidFill>
                <a:srgbClr val="172337"/>
              </a:solidFill>
              <a:latin typeface="等线 Light"/>
              <a:ea typeface="等线 Light"/>
              <a:cs typeface="等线 Ligh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516F623-D9D5-4FC5-A28E-668A96693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16919" y="1409700"/>
            <a:ext cx="7519737" cy="4762500"/>
          </a:xfrm>
          <a:prstGeom prst="rect">
            <a:avLst/>
          </a:prstGeom>
        </p:spPr>
      </p:pic>
      <p:sp>
        <p:nvSpPr>
          <p:cNvPr id="3" name="播放时观察">
            <a:extLst>
              <a:ext uri="{FF2B5EF4-FFF2-40B4-BE49-F238E27FC236}">
                <a16:creationId xmlns:a16="http://schemas.microsoft.com/office/drawing/2014/main" id="{C2FCDCA9-198F-4BBE-B330-53649A8E87A0}"/>
              </a:ext>
            </a:extLst>
          </p:cNvPr>
          <p:cNvSpPr>
            <a:spLocks noGrp="1"/>
          </p:cNvSpPr>
          <p:nvPr/>
        </p:nvSpPr>
        <p:spPr>
          <a:xfrm>
            <a:off x="9277350" y="1609725"/>
            <a:ext cx="22383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0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202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看动画里的细节</a:t>
            </a:r>
            <a:endParaRPr sz="2025" b="0">
              <a:solidFill>
                <a:srgbClr val="2357D7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腿与踏板的连接">
            <a:extLst>
              <a:ext uri="{FF2B5EF4-FFF2-40B4-BE49-F238E27FC236}">
                <a16:creationId xmlns:a16="http://schemas.microsoft.com/office/drawing/2014/main" id="{15AEF1DB-B67F-4568-A09F-09449B811EDA}"/>
              </a:ext>
            </a:extLst>
          </p:cNvPr>
          <p:cNvSpPr>
            <a:spLocks noGrp="1"/>
          </p:cNvSpPr>
          <p:nvPr/>
        </p:nvSpPr>
        <p:spPr>
          <a:xfrm>
            <a:off x="9277350" y="2371725"/>
            <a:ext cx="2286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腿与踏板的连接</a:t>
            </a:r>
          </a:p>
        </p:txBody>
      </p:sp>
      <p:sp>
        <p:nvSpPr>
          <p:cNvPr id="5" name="前后脚的相位">
            <a:extLst>
              <a:ext uri="{FF2B5EF4-FFF2-40B4-BE49-F238E27FC236}">
                <a16:creationId xmlns:a16="http://schemas.microsoft.com/office/drawing/2014/main" id="{E716D80E-A49D-49EE-A839-9BA2BCDFAC43}"/>
              </a:ext>
            </a:extLst>
          </p:cNvPr>
          <p:cNvSpPr>
            <a:spLocks noGrp="1"/>
          </p:cNvSpPr>
          <p:nvPr/>
        </p:nvSpPr>
        <p:spPr>
          <a:xfrm>
            <a:off x="9277350" y="3238500"/>
            <a:ext cx="2286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前后脚的相位</a:t>
            </a:r>
          </a:p>
        </p:txBody>
      </p:sp>
      <p:sp>
        <p:nvSpPr>
          <p:cNvPr id="6" name="循环交界处的变化">
            <a:extLst>
              <a:ext uri="{FF2B5EF4-FFF2-40B4-BE49-F238E27FC236}">
                <a16:creationId xmlns:a16="http://schemas.microsoft.com/office/drawing/2014/main" id="{B15A8264-1583-4DE4-A6CC-784DF082278B}"/>
              </a:ext>
            </a:extLst>
          </p:cNvPr>
          <p:cNvSpPr>
            <a:spLocks noGrp="1"/>
          </p:cNvSpPr>
          <p:nvPr/>
        </p:nvSpPr>
        <p:spPr>
          <a:xfrm>
            <a:off x="9277350" y="4105275"/>
            <a:ext cx="2286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循环交界处的变化</a:t>
            </a:r>
          </a:p>
        </p:txBody>
      </p:sp>
      <p:sp>
        <p:nvSpPr>
          <p:cNvPr id="7" name="打开原始 SVG">
            <a:extLst>
              <a:ext uri="{FF2B5EF4-FFF2-40B4-BE49-F238E27FC236}">
                <a16:creationId xmlns:a16="http://schemas.microsoft.com/office/drawing/2014/main" id="{F184D69F-975C-4B10-9BE8-6EBD6F4965F1}"/>
              </a:ext>
            </a:extLst>
          </p:cNvPr>
          <p:cNvSpPr>
            <a:spLocks noGrp="1"/>
          </p:cNvSpPr>
          <p:nvPr/>
        </p:nvSpPr>
        <p:spPr>
          <a:xfrm>
            <a:off x="9267825" y="525780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357D7"/>
                </a:solidFill>
                <a:latin typeface="等线"/>
                <a:ea typeface="等线"/>
                <a:cs typeface="等线"/>
                <a:hlinkClick r:id="rId6"/>
              </a:rPr>
              <a:t>打开原始 SVG</a:t>
            </a:r>
          </a:p>
        </p:txBody>
      </p:sp>
      <p:sp>
        <p:nvSpPr>
          <p:cNvPr id="8" name="另一个动态版本">
            <a:extLst>
              <a:ext uri="{FF2B5EF4-FFF2-40B4-BE49-F238E27FC236}">
                <a16:creationId xmlns:a16="http://schemas.microsoft.com/office/drawing/2014/main" id="{B57A1048-EC59-4122-B07D-5E97375D9FD2}"/>
              </a:ext>
            </a:extLst>
          </p:cNvPr>
          <p:cNvSpPr>
            <a:spLocks noGrp="1"/>
          </p:cNvSpPr>
          <p:nvPr/>
        </p:nvSpPr>
        <p:spPr>
          <a:xfrm>
            <a:off x="9267825" y="5800725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lang="zh-CN" altLang="en-US" sz="1725" b="0" dirty="0">
                <a:solidFill>
                  <a:srgbClr val="2357D7"/>
                </a:solidFill>
                <a:latin typeface="等线"/>
                <a:ea typeface="等线"/>
                <a:cs typeface="等线"/>
                <a:hlinkClick r:id="rId7" action="ppaction://hlinkfile"/>
              </a:rPr>
              <a:t>多种对比</a:t>
            </a:r>
            <a:r>
              <a:rPr sz="1725" b="0" dirty="0" err="1">
                <a:solidFill>
                  <a:srgbClr val="2357D7"/>
                </a:solidFill>
                <a:latin typeface="等线"/>
                <a:ea typeface="等线"/>
                <a:cs typeface="等线"/>
                <a:hlinkClick r:id="rId7" action="ppaction://hlinkfile"/>
              </a:rPr>
              <a:t>动态</a:t>
            </a:r>
            <a:r>
              <a:rPr lang="en-US" sz="1725" b="0" dirty="0" err="1">
                <a:solidFill>
                  <a:srgbClr val="2357D7"/>
                </a:solidFill>
                <a:latin typeface="等线"/>
                <a:ea typeface="等线"/>
                <a:cs typeface="等线"/>
                <a:hlinkClick r:id="rId7" action="ppaction://hlinkfile"/>
              </a:rPr>
              <a:t>`</a:t>
            </a:r>
            <a:r>
              <a:rPr sz="1725" b="0" dirty="0" err="1">
                <a:solidFill>
                  <a:srgbClr val="2357D7"/>
                </a:solidFill>
                <a:latin typeface="等线"/>
                <a:ea typeface="等线"/>
                <a:cs typeface="等线"/>
                <a:hlinkClick r:id="rId7" action="ppaction://hlinkfile"/>
              </a:rPr>
              <a:t>版本</a:t>
            </a:r>
            <a:endParaRPr sz="1725" b="0" dirty="0">
              <a:solidFill>
                <a:srgbClr val="2357D7"/>
              </a:solidFill>
              <a:latin typeface="等线"/>
              <a:ea typeface="等线"/>
              <a:cs typeface="等线"/>
              <a:hlinkClick r:id="rId8"/>
            </a:endParaRPr>
          </a:p>
        </p:txBody>
      </p:sp>
      <p:pic>
        <p:nvPicPr>
          <p:cNvPr id="11" name="Pelican_Embedded_Video">
            <a:hlinkClick r:id="" action="ppaction://media"/>
            <a:extLst>
              <a:ext uri="{FF2B5EF4-FFF2-40B4-BE49-F238E27FC236}">
                <a16:creationId xmlns:a16="http://schemas.microsoft.com/office/drawing/2014/main" id="{7A8A3336-5CED-F261-80A2-C0E8AE039E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66788" y="1409700"/>
            <a:ext cx="7620000" cy="4762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30F7670-431D-62F0-B962-E2D57FD7F1AE}"/>
              </a:ext>
            </a:extLst>
          </p:cNvPr>
          <p:cNvSpPr txBox="1"/>
          <p:nvPr/>
        </p:nvSpPr>
        <p:spPr>
          <a:xfrm>
            <a:off x="11077575" y="6334125"/>
            <a:ext cx="476250" cy="24237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275">
                <a:solidFill>
                  <a:srgbClr val="53657B"/>
                </a:solidFill>
                <a:latin typeface="Consolas" panose="020B0609020204030204" pitchFamily="49" charset="0"/>
              </a:rPr>
              <a:t>27</a:t>
            </a:r>
            <a:endParaRPr lang="zh-CN" altLang="en-US" sz="1275">
              <a:solidFill>
                <a:srgbClr val="53657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43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ttle Drones：一个完整的浏览器游戏">
            <a:extLst>
              <a:ext uri="{FF2B5EF4-FFF2-40B4-BE49-F238E27FC236}">
                <a16:creationId xmlns:a16="http://schemas.microsoft.com/office/drawing/2014/main" id="{B1AE6ADC-A248-416D-8A55-97F40295EDD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前端代码：Battle Drones</a:t>
            </a:r>
          </a:p>
        </p:txBody>
      </p:sp>
      <p:sp>
        <p:nvSpPr>
          <p:cNvPr id="2" name="Simon Willison · 2026-10-20 · 原项目截图">
            <a:extLst>
              <a:ext uri="{FF2B5EF4-FFF2-40B4-BE49-F238E27FC236}">
                <a16:creationId xmlns:a16="http://schemas.microsoft.com/office/drawing/2014/main" id="{70DF6ADC-9A45-4333-BE7F-34982F8AF3A6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728096"/>
                </a:solidFill>
                <a:latin typeface="等线"/>
                <a:ea typeface="等线"/>
                <a:cs typeface="等线"/>
              </a:rPr>
              <a:t>Simon Willison · 2026-10-20 · 原项目截图与开发记录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634A50-38DC-4B69-8B66-60977D09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7742" y="1323975"/>
            <a:ext cx="7367592" cy="4762500"/>
          </a:xfrm>
          <a:prstGeom prst="rect">
            <a:avLst/>
          </a:prstGeom>
        </p:spPr>
      </p:pic>
      <p:sp>
        <p:nvSpPr>
          <p:cNvPr id="5" name="3D 场景&#10;单位与建筑&#10;地图与游戏规则&#10;浏览器中直接运行">
            <a:extLst>
              <a:ext uri="{FF2B5EF4-FFF2-40B4-BE49-F238E27FC236}">
                <a16:creationId xmlns:a16="http://schemas.microsoft.com/office/drawing/2014/main" id="{98F0ADAB-338F-4A3D-9CCA-BD22470DCB57}"/>
              </a:ext>
            </a:extLst>
          </p:cNvPr>
          <p:cNvSpPr>
            <a:spLocks noGrp="1"/>
          </p:cNvSpPr>
          <p:nvPr/>
        </p:nvSpPr>
        <p:spPr>
          <a:xfrm>
            <a:off x="9182100" y="1943100"/>
            <a:ext cx="25336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3D 场景</a:t>
            </a:r>
          </a:p>
          <a:p>
            <a: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单位与建筑</a:t>
            </a:r>
          </a:p>
          <a:p>
            <a: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地图与游戏规则</a:t>
            </a:r>
          </a:p>
          <a:p>
            <a: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浏览器中直接运行</a:t>
            </a:r>
          </a:p>
        </p:txBody>
      </p:sp>
      <p:sp>
        <p:nvSpPr>
          <p:cNvPr id="6" name="原项目与开发过程">
            <a:extLst>
              <a:ext uri="{FF2B5EF4-FFF2-40B4-BE49-F238E27FC236}">
                <a16:creationId xmlns:a16="http://schemas.microsoft.com/office/drawing/2014/main" id="{C60F6E1D-7CCC-41DB-B9AF-00A0D21E26FB}"/>
              </a:ext>
            </a:extLst>
          </p:cNvPr>
          <p:cNvSpPr>
            <a:spLocks noGrp="1"/>
          </p:cNvSpPr>
          <p:nvPr/>
        </p:nvSpPr>
        <p:spPr>
          <a:xfrm>
            <a:off x="9182100" y="4914900"/>
            <a:ext cx="2428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7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357D7"/>
                </a:solidFill>
                <a:latin typeface="等线"/>
                <a:ea typeface="等线"/>
                <a:cs typeface="等线"/>
                <a:hlinkClick r:id="rId4"/>
              </a:rPr>
              <a:t>原项目与开发过程</a:t>
            </a:r>
          </a:p>
        </p:txBody>
      </p:sp>
      <p:sp>
        <p:nvSpPr>
          <p:cNvPr id="8" name="28">
            <a:extLst>
              <a:ext uri="{FF2B5EF4-FFF2-40B4-BE49-F238E27FC236}">
                <a16:creationId xmlns:a16="http://schemas.microsoft.com/office/drawing/2014/main" id="{915A400F-E533-4C44-B3A0-5407167CE3B4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1714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数值实验的交互界面">
            <a:extLst>
              <a:ext uri="{FF2B5EF4-FFF2-40B4-BE49-F238E27FC236}">
                <a16:creationId xmlns:a16="http://schemas.microsoft.com/office/drawing/2014/main" id="{0E59548F-588A-43D5-84F6-0EEFCB6F282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流体力学：交互展示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CDBCA7-D7F2-4514-B501-777F831C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0030" y="1238250"/>
            <a:ext cx="7435516" cy="4905375"/>
          </a:xfrm>
          <a:prstGeom prst="rect">
            <a:avLst/>
          </a:prstGeom>
        </p:spPr>
      </p:pic>
      <p:sp>
        <p:nvSpPr>
          <p:cNvPr id="4" name="拖动时间&#10;切换程序&#10;导出数据">
            <a:extLst>
              <a:ext uri="{FF2B5EF4-FFF2-40B4-BE49-F238E27FC236}">
                <a16:creationId xmlns:a16="http://schemas.microsoft.com/office/drawing/2014/main" id="{6C04D5F8-ABED-4708-B803-1530C00C65DA}"/>
              </a:ext>
            </a:extLst>
          </p:cNvPr>
          <p:cNvSpPr>
            <a:spLocks noGrp="1"/>
          </p:cNvSpPr>
          <p:nvPr/>
        </p:nvSpPr>
        <p:spPr>
          <a:xfrm>
            <a:off x="10106025" y="1866900"/>
            <a:ext cx="1666875" cy="1952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拖动时间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切换程序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导出数据</a:t>
            </a:r>
          </a:p>
        </p:txBody>
      </p:sp>
      <p:sp>
        <p:nvSpPr>
          <p:cNvPr id="5" name="打开实验台">
            <a:extLst>
              <a:ext uri="{FF2B5EF4-FFF2-40B4-BE49-F238E27FC236}">
                <a16:creationId xmlns:a16="http://schemas.microsoft.com/office/drawing/2014/main" id="{46DC6B5E-1066-4117-960D-F7607B3F8AE0}"/>
              </a:ext>
            </a:extLst>
          </p:cNvPr>
          <p:cNvSpPr>
            <a:spLocks noGrp="1"/>
          </p:cNvSpPr>
          <p:nvPr/>
        </p:nvSpPr>
        <p:spPr>
          <a:xfrm>
            <a:off x="10067925" y="4638675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6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650" b="0">
                <a:solidFill>
                  <a:srgbClr val="2357D7"/>
                </a:solidFill>
                <a:latin typeface="等线"/>
                <a:ea typeface="等线"/>
                <a:cs typeface="等线"/>
                <a:hlinkClick r:id="rId4"/>
              </a:rPr>
              <a:t>打开实验台</a:t>
            </a:r>
          </a:p>
        </p:txBody>
      </p:sp>
      <p:sp>
        <p:nvSpPr>
          <p:cNvPr id="7" name="29">
            <a:extLst>
              <a:ext uri="{FF2B5EF4-FFF2-40B4-BE49-F238E27FC236}">
                <a16:creationId xmlns:a16="http://schemas.microsoft.com/office/drawing/2014/main" id="{C68E63CF-B9AD-4D02-8A0A-881229EC2F3B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46741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ibe coding 之二：流体力学">
            <a:extLst>
              <a:ext uri="{FF2B5EF4-FFF2-40B4-BE49-F238E27FC236}">
                <a16:creationId xmlns:a16="http://schemas.microsoft.com/office/drawing/2014/main" id="{45747A0B-FA6F-4215-B0D5-CBB74A0919F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Vibe Coding 之二：流体力学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8F1A4E-DC22-4C86-ADA7-CD5AC7D47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01179" y="1666875"/>
            <a:ext cx="5912992" cy="11906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2AF6CE7-A2DE-484C-A02C-306FBEC21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97380" y="3028950"/>
            <a:ext cx="5606291" cy="9048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B1EEB8D-A7E1-4CFF-AF53-10CF75FE9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652" y="4191000"/>
            <a:ext cx="6807745" cy="952500"/>
          </a:xfrm>
          <a:prstGeom prst="rect">
            <a:avLst/>
          </a:prstGeom>
        </p:spPr>
      </p:pic>
      <p:sp>
        <p:nvSpPr>
          <p:cNvPr id="6" name="守恒方程">
            <a:extLst>
              <a:ext uri="{FF2B5EF4-FFF2-40B4-BE49-F238E27FC236}">
                <a16:creationId xmlns:a16="http://schemas.microsoft.com/office/drawing/2014/main" id="{AC960336-E1B7-4649-9D0A-87F0C3D0140C}"/>
              </a:ext>
            </a:extLst>
          </p:cNvPr>
          <p:cNvSpPr>
            <a:spLocks noGrp="1"/>
          </p:cNvSpPr>
          <p:nvPr/>
        </p:nvSpPr>
        <p:spPr>
          <a:xfrm>
            <a:off x="714375" y="13906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6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守恒方程</a:t>
            </a:r>
          </a:p>
        </p:txBody>
      </p:sp>
      <p:sp>
        <p:nvSpPr>
          <p:cNvPr id="7" name="所有变量均已无量纲化">
            <a:extLst>
              <a:ext uri="{FF2B5EF4-FFF2-40B4-BE49-F238E27FC236}">
                <a16:creationId xmlns:a16="http://schemas.microsoft.com/office/drawing/2014/main" id="{B0E58AA6-4ECF-4701-8209-3D679DE73A3C}"/>
              </a:ext>
            </a:extLst>
          </p:cNvPr>
          <p:cNvSpPr>
            <a:spLocks noGrp="1"/>
          </p:cNvSpPr>
          <p:nvPr/>
        </p:nvSpPr>
        <p:spPr>
          <a:xfrm>
            <a:off x="733425" y="55054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所有变量均已无量纲化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94D864D-AA27-4C41-ACC5-53C9EC6AF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72475" y="1857375"/>
            <a:ext cx="3143250" cy="3143250"/>
          </a:xfrm>
          <a:prstGeom prst="rect">
            <a:avLst/>
          </a:prstGeom>
        </p:spPr>
      </p:pic>
      <p:sp>
        <p:nvSpPr>
          <p:cNvPr id="9" name="密度初值">
            <a:extLst>
              <a:ext uri="{FF2B5EF4-FFF2-40B4-BE49-F238E27FC236}">
                <a16:creationId xmlns:a16="http://schemas.microsoft.com/office/drawing/2014/main" id="{0CABDB7D-ECE4-4B94-ADF4-EDE6BC521A67}"/>
              </a:ext>
            </a:extLst>
          </p:cNvPr>
          <p:cNvSpPr>
            <a:spLocks noGrp="1"/>
          </p:cNvSpPr>
          <p:nvPr/>
        </p:nvSpPr>
        <p:spPr>
          <a:xfrm>
            <a:off x="8391525" y="521970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87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密度初值</a:t>
            </a:r>
          </a:p>
        </p:txBody>
      </p:sp>
      <p:sp>
        <p:nvSpPr>
          <p:cNvPr id="11" name="30">
            <a:extLst>
              <a:ext uri="{FF2B5EF4-FFF2-40B4-BE49-F238E27FC236}">
                <a16:creationId xmlns:a16="http://schemas.microsoft.com/office/drawing/2014/main" id="{071FD67E-22C3-4FF2-8A4F-3E173E2F46A2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90586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HI：剪切层的时间演化">
            <a:extLst>
              <a:ext uri="{FF2B5EF4-FFF2-40B4-BE49-F238E27FC236}">
                <a16:creationId xmlns:a16="http://schemas.microsoft.com/office/drawing/2014/main" id="{DBD8F654-7F22-4A19-870E-4F16D8F73F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lang="en-US"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KHI：</a:t>
            </a:r>
            <a:r>
              <a:rPr lang="zh-CN" altLang="en-US"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时间演化</a:t>
            </a:r>
            <a:endParaRPr sz="3450" b="0">
              <a:solidFill>
                <a:srgbClr val="172337"/>
              </a:solidFill>
              <a:latin typeface="等线 Light"/>
              <a:ea typeface="等线 Light"/>
              <a:cs typeface="等线 Ligh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810745-A293-427F-AB87-6AC11B0C2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626519" y="1295400"/>
            <a:ext cx="5186363" cy="5186363"/>
          </a:xfrm>
          <a:prstGeom prst="rect">
            <a:avLst/>
          </a:prstGeom>
        </p:spPr>
      </p:pic>
      <p:sp>
        <p:nvSpPr>
          <p:cNvPr id="3" name="约 11 秒&#10;&#10;放映时&#10;自动循环播放&#10;&#10;编辑视图&#10;点视频播放">
            <a:extLst>
              <a:ext uri="{FF2B5EF4-FFF2-40B4-BE49-F238E27FC236}">
                <a16:creationId xmlns:a16="http://schemas.microsoft.com/office/drawing/2014/main" id="{876389E3-4FA2-48D7-8015-426C28A14B76}"/>
              </a:ext>
            </a:extLst>
          </p:cNvPr>
          <p:cNvSpPr>
            <a:spLocks noGrp="1"/>
          </p:cNvSpPr>
          <p:nvPr/>
        </p:nvSpPr>
        <p:spPr>
          <a:xfrm>
            <a:off x="10096500" y="1828800"/>
            <a:ext cx="1619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约 11 秒</a:t>
            </a:r>
          </a:p>
          <a:p>
            <a:endParaRPr sz="1950" b="0">
              <a:solidFill>
                <a:srgbClr val="172337"/>
              </a:solidFill>
              <a:latin typeface="等线"/>
              <a:ea typeface="等线"/>
              <a:cs typeface="等线"/>
            </a:endParaRPr>
          </a:p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放映时</a:t>
            </a:r>
          </a:p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自动循环播放</a:t>
            </a:r>
          </a:p>
          <a:p>
            <a:endParaRPr sz="1950" b="0">
              <a:solidFill>
                <a:srgbClr val="172337"/>
              </a:solidFill>
              <a:latin typeface="等线"/>
              <a:ea typeface="等线"/>
              <a:cs typeface="等线"/>
            </a:endParaRPr>
          </a:p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编辑视图</a:t>
            </a:r>
          </a:p>
          <a:p>
            <a:pPr>
              <a:defRPr sz="19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点视频播放</a:t>
            </a:r>
          </a:p>
        </p:txBody>
      </p:sp>
      <p:sp>
        <p:nvSpPr>
          <p:cNvPr id="4" name="单独打开视频">
            <a:extLst>
              <a:ext uri="{FF2B5EF4-FFF2-40B4-BE49-F238E27FC236}">
                <a16:creationId xmlns:a16="http://schemas.microsoft.com/office/drawing/2014/main" id="{3B73B445-4F68-4C2A-9D34-AF738CE42D68}"/>
              </a:ext>
            </a:extLst>
          </p:cNvPr>
          <p:cNvSpPr>
            <a:spLocks noGrp="1"/>
          </p:cNvSpPr>
          <p:nvPr/>
        </p:nvSpPr>
        <p:spPr>
          <a:xfrm>
            <a:off x="10058400" y="5438775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57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575" b="0">
                <a:solidFill>
                  <a:srgbClr val="2357D7"/>
                </a:solidFill>
                <a:latin typeface="等线"/>
                <a:ea typeface="等线"/>
                <a:cs typeface="等线"/>
                <a:hlinkClick r:id="rId6"/>
              </a:rPr>
              <a:t>单独打开视频</a:t>
            </a:r>
          </a:p>
        </p:txBody>
      </p:sp>
      <p:pic>
        <p:nvPicPr>
          <p:cNvPr id="7" name="KHI_Embedded_Video">
            <a:hlinkClick r:id="" action="ppaction://media"/>
            <a:extLst>
              <a:ext uri="{FF2B5EF4-FFF2-40B4-BE49-F238E27FC236}">
                <a16:creationId xmlns:a16="http://schemas.microsoft.com/office/drawing/2014/main" id="{33E426CD-9FFD-60B0-0FAB-09F3CE5399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9600" y="1295400"/>
            <a:ext cx="9220200" cy="51863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6E11D94-256F-E11B-EF73-B8745C11E07B}"/>
              </a:ext>
            </a:extLst>
          </p:cNvPr>
          <p:cNvSpPr txBox="1"/>
          <p:nvPr/>
        </p:nvSpPr>
        <p:spPr>
          <a:xfrm>
            <a:off x="11077575" y="6334125"/>
            <a:ext cx="476250" cy="24237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275">
                <a:solidFill>
                  <a:srgbClr val="53657B"/>
                </a:solidFill>
                <a:latin typeface="Consolas" panose="020B0609020204030204" pitchFamily="49" charset="0"/>
              </a:rPr>
              <a:t>31</a:t>
            </a:r>
            <a:endParaRPr lang="zh-CN" altLang="en-US" sz="1275">
              <a:solidFill>
                <a:srgbClr val="53657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5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同一初值，两种程序">
            <a:extLst>
              <a:ext uri="{FF2B5EF4-FFF2-40B4-BE49-F238E27FC236}">
                <a16:creationId xmlns:a16="http://schemas.microsoft.com/office/drawing/2014/main" id="{0A9A3C9F-10CD-438A-81EC-07B35D6A03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同一初值：一阶原型与二阶程序</a:t>
            </a:r>
          </a:p>
        </p:txBody>
      </p:sp>
      <p:sp>
        <p:nvSpPr>
          <p:cNvPr id="2" name="本课实算：二维 Euler，γ = 1.4，128²，t = 2；颜色">
            <a:extLst>
              <a:ext uri="{FF2B5EF4-FFF2-40B4-BE49-F238E27FC236}">
                <a16:creationId xmlns:a16="http://schemas.microsoft.com/office/drawing/2014/main" id="{231A12B8-86C1-4DF6-97D4-9051CEE4FCA5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200" b="0">
                <a:solidFill>
                  <a:srgbClr val="728096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728096"/>
                </a:solidFill>
                <a:latin typeface="等线"/>
                <a:ea typeface="等线"/>
                <a:cs typeface="等线"/>
              </a:rPr>
              <a:t>本课实算：二维 Euler，γ = 1.4，128²，t = 2；颜色范围均为密度 1—2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5A183E-9607-449F-9983-73D4981B6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04950"/>
            <a:ext cx="4410075" cy="44100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24DE8F-09C5-4CFE-8651-642BDB150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57925" y="1504950"/>
            <a:ext cx="4410075" cy="4410075"/>
          </a:xfrm>
          <a:prstGeom prst="rect">
            <a:avLst/>
          </a:prstGeom>
        </p:spPr>
      </p:pic>
      <p:sp>
        <p:nvSpPr>
          <p:cNvPr id="6" name="AI 编写的一阶原型">
            <a:extLst>
              <a:ext uri="{FF2B5EF4-FFF2-40B4-BE49-F238E27FC236}">
                <a16:creationId xmlns:a16="http://schemas.microsoft.com/office/drawing/2014/main" id="{F3F6590A-4CD2-46F0-AA50-B363E82AAB5B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AI 编写的一阶原型</a:t>
            </a:r>
          </a:p>
        </p:txBody>
      </p:sp>
      <p:sp>
        <p:nvSpPr>
          <p:cNvPr id="7" name="pyro2 二阶 HLLC">
            <a:extLst>
              <a:ext uri="{FF2B5EF4-FFF2-40B4-BE49-F238E27FC236}">
                <a16:creationId xmlns:a16="http://schemas.microsoft.com/office/drawing/2014/main" id="{38BE3958-EB4A-40D1-ACC8-3872CED38D8B}"/>
              </a:ext>
            </a:extLst>
          </p:cNvPr>
          <p:cNvSpPr>
            <a:spLocks noGrp="1"/>
          </p:cNvSpPr>
          <p:nvPr/>
        </p:nvSpPr>
        <p:spPr>
          <a:xfrm>
            <a:off x="6257925" y="11239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0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pyro2 二阶 HLLC</a:t>
            </a:r>
          </a:p>
        </p:txBody>
      </p:sp>
      <p:sp>
        <p:nvSpPr>
          <p:cNvPr id="8" name="数值耗散明显">
            <a:extLst>
              <a:ext uri="{FF2B5EF4-FFF2-40B4-BE49-F238E27FC236}">
                <a16:creationId xmlns:a16="http://schemas.microsoft.com/office/drawing/2014/main" id="{FA89115E-684B-4409-B906-21314802B9AC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数值耗散明显</a:t>
            </a:r>
          </a:p>
        </p:txBody>
      </p:sp>
      <p:sp>
        <p:nvSpPr>
          <p:cNvPr id="9" name="剪切层卷曲得到保留">
            <a:extLst>
              <a:ext uri="{FF2B5EF4-FFF2-40B4-BE49-F238E27FC236}">
                <a16:creationId xmlns:a16="http://schemas.microsoft.com/office/drawing/2014/main" id="{ADF66220-243B-4A5E-98F9-4C8567E97080}"/>
              </a:ext>
            </a:extLst>
          </p:cNvPr>
          <p:cNvSpPr>
            <a:spLocks noGrp="1"/>
          </p:cNvSpPr>
          <p:nvPr/>
        </p:nvSpPr>
        <p:spPr>
          <a:xfrm>
            <a:off x="6381750" y="59055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80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剪切层卷曲得到保留</a:t>
            </a:r>
          </a:p>
        </p:txBody>
      </p:sp>
      <p:sp>
        <p:nvSpPr>
          <p:cNvPr id="11" name="32">
            <a:extLst>
              <a:ext uri="{FF2B5EF4-FFF2-40B4-BE49-F238E27FC236}">
                <a16:creationId xmlns:a16="http://schemas.microsoft.com/office/drawing/2014/main" id="{E3722433-9646-41BF-A4C9-6B7C57ADF268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50144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ibe coding 之三：蒙特卡洛">
            <a:extLst>
              <a:ext uri="{FF2B5EF4-FFF2-40B4-BE49-F238E27FC236}">
                <a16:creationId xmlns:a16="http://schemas.microsoft.com/office/drawing/2014/main" id="{3C6DAC20-E2F0-47C2-A6B6-5760F14C01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Vibe Coding 之三：蒙特卡洛</a:t>
            </a:r>
          </a:p>
        </p:txBody>
      </p:sp>
      <p:sp>
        <p:nvSpPr>
          <p:cNvPr id="3" name="重复采样，估计一个量">
            <a:extLst>
              <a:ext uri="{FF2B5EF4-FFF2-40B4-BE49-F238E27FC236}">
                <a16:creationId xmlns:a16="http://schemas.microsoft.com/office/drawing/2014/main" id="{844052C6-B350-4EB5-9D89-2BA4C293C112}"/>
              </a:ext>
            </a:extLst>
          </p:cNvPr>
          <p:cNvSpPr>
            <a:spLocks noGrp="1"/>
          </p:cNvSpPr>
          <p:nvPr/>
        </p:nvSpPr>
        <p:spPr>
          <a:xfrm>
            <a:off x="647700" y="15906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6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6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重复采样，估计一个量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480AC1-EF84-4ABA-9AFE-957C962FB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1544" y="2162175"/>
            <a:ext cx="5823162" cy="1190625"/>
          </a:xfrm>
          <a:prstGeom prst="rect">
            <a:avLst/>
          </a:prstGeom>
        </p:spPr>
      </p:pic>
      <p:sp>
        <p:nvSpPr>
          <p:cNvPr id="5" name="二维随机游走：每步等概率向上下左右走一格">
            <a:extLst>
              <a:ext uri="{FF2B5EF4-FFF2-40B4-BE49-F238E27FC236}">
                <a16:creationId xmlns:a16="http://schemas.microsoft.com/office/drawing/2014/main" id="{05BFC648-BD24-41B7-A0DB-B8E3F970312E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二维随机游走：每步等概率向上下左右走一格</a:t>
            </a:r>
          </a:p>
        </p:txBody>
      </p:sp>
      <p:sp>
        <p:nvSpPr>
          <p:cNvPr id="6" name="rₙ₊₁ = rₙ + ξₙ">
            <a:extLst>
              <a:ext uri="{FF2B5EF4-FFF2-40B4-BE49-F238E27FC236}">
                <a16:creationId xmlns:a16="http://schemas.microsoft.com/office/drawing/2014/main" id="{E70DF4F8-9358-404D-A9C8-669E3BD6B925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4953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defPPr>
            <a:lvl1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1pPr>
            <a:lvl2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2pPr>
            <a:lvl3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3pPr>
            <a:lvl4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4pPr>
            <a:lvl5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5pPr>
            <a:lvl6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6pPr>
            <a:lvl7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7pPr>
            <a:lvl8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8pPr>
            <a:lvl9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lvl9pPr>
          </a:lstStyle>
          <a:p>
            <a:pPr algn="l">
              <a:buNone/>
              <a:def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0">
                <a:solidFill>
                  <a:srgbClr val="2357D7"/>
                </a:solidFill>
                <a:latin typeface="Cambria Math"/>
                <a:ea typeface="Cambria Math"/>
                <a:cs typeface="Cambria Math"/>
              </a:rPr>
              <a:t>rₙ₊₁ = rₙ + ξₙ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6329F0-990E-4CC2-A1A5-82E0F57A3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50878" y="4486275"/>
            <a:ext cx="4709844" cy="885825"/>
          </a:xfrm>
          <a:prstGeom prst="rect">
            <a:avLst/>
          </a:prstGeom>
        </p:spPr>
      </p:pic>
      <p:sp>
        <p:nvSpPr>
          <p:cNvPr id="8" name="接下来：让粒子走到已有团簇旁边后停下来。">
            <a:extLst>
              <a:ext uri="{FF2B5EF4-FFF2-40B4-BE49-F238E27FC236}">
                <a16:creationId xmlns:a16="http://schemas.microsoft.com/office/drawing/2014/main" id="{CC3789E8-D751-4219-943D-7B3785FE4E3B}"/>
              </a:ext>
            </a:extLst>
          </p:cNvPr>
          <p:cNvSpPr>
            <a:spLocks noGrp="1"/>
          </p:cNvSpPr>
          <p:nvPr/>
        </p:nvSpPr>
        <p:spPr>
          <a:xfrm>
            <a:off x="666750" y="57245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粒子随机游走，碰到已有团簇后黏附。</a:t>
            </a:r>
          </a:p>
        </p:txBody>
      </p:sp>
      <p:sp>
        <p:nvSpPr>
          <p:cNvPr id="10" name="33">
            <a:extLst>
              <a:ext uri="{FF2B5EF4-FFF2-40B4-BE49-F238E27FC236}">
                <a16:creationId xmlns:a16="http://schemas.microsoft.com/office/drawing/2014/main" id="{BD66A1A8-F961-45DB-9B3F-7F766A38309E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267554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随机游走，也能长出枝状结构">
            <a:extLst>
              <a:ext uri="{FF2B5EF4-FFF2-40B4-BE49-F238E27FC236}">
                <a16:creationId xmlns:a16="http://schemas.microsoft.com/office/drawing/2014/main" id="{5CA6C585-06ED-4ED3-A799-514A5DE58F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F1F5FC"/>
                </a:solidFill>
                <a:latin typeface="等线 Light"/>
                <a:ea typeface="等线 Light"/>
                <a:cs typeface="等线 Light"/>
              </a:rPr>
              <a:t>DLA：扩散限制凝聚</a:t>
            </a:r>
          </a:p>
        </p:txBody>
      </p:sp>
      <p:sp>
        <p:nvSpPr>
          <p:cNvPr id="2" name="DLA 四邻接模型 · 本课运行 · 同一次生长记录，颜色表示加入顺序">
            <a:extLst>
              <a:ext uri="{FF2B5EF4-FFF2-40B4-BE49-F238E27FC236}">
                <a16:creationId xmlns:a16="http://schemas.microsoft.com/office/drawing/2014/main" id="{5D31A804-1FCD-4BFA-BE81-43FAB15F26CA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200" b="0">
                <a:solidFill>
                  <a:srgbClr val="A5B5C7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A5B5C7"/>
                </a:solidFill>
                <a:latin typeface="等线"/>
                <a:ea typeface="等线"/>
                <a:cs typeface="等线"/>
              </a:rPr>
              <a:t>DLA 四邻接模型 · 本课运行 · 同一次生长记录，颜色表示加入顺序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10163F-DE0F-43A3-BDF9-08897C26C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95450"/>
            <a:ext cx="3524250" cy="3524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DCFDAA-3E97-412A-9438-223F8924B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1695450"/>
            <a:ext cx="3524250" cy="3524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20F692-8FF2-4FF9-8AE5-BC5354316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0550" y="1695450"/>
            <a:ext cx="3524250" cy="3524250"/>
          </a:xfrm>
          <a:prstGeom prst="rect">
            <a:avLst/>
          </a:prstGeom>
        </p:spPr>
      </p:pic>
      <p:sp>
        <p:nvSpPr>
          <p:cNvPr id="7" name="500 个粒子">
            <a:extLst>
              <a:ext uri="{FF2B5EF4-FFF2-40B4-BE49-F238E27FC236}">
                <a16:creationId xmlns:a16="http://schemas.microsoft.com/office/drawing/2014/main" id="{3DED1964-4851-4C70-BAB5-437AE0772871}"/>
              </a:ext>
            </a:extLst>
          </p:cNvPr>
          <p:cNvSpPr>
            <a:spLocks noGrp="1"/>
          </p:cNvSpPr>
          <p:nvPr/>
        </p:nvSpPr>
        <p:spPr>
          <a:xfrm>
            <a:off x="676275" y="54387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F1F5FC"/>
                </a:solidFill>
                <a:latin typeface="等线"/>
                <a:ea typeface="等线"/>
                <a:cs typeface="等线"/>
              </a:rPr>
              <a:t>500 个粒子</a:t>
            </a:r>
          </a:p>
        </p:txBody>
      </p:sp>
      <p:sp>
        <p:nvSpPr>
          <p:cNvPr id="8" name="2000 个粒子">
            <a:extLst>
              <a:ext uri="{FF2B5EF4-FFF2-40B4-BE49-F238E27FC236}">
                <a16:creationId xmlns:a16="http://schemas.microsoft.com/office/drawing/2014/main" id="{06DBBD15-A92D-4CC0-A7AF-9D039CE73313}"/>
              </a:ext>
            </a:extLst>
          </p:cNvPr>
          <p:cNvSpPr>
            <a:spLocks noGrp="1"/>
          </p:cNvSpPr>
          <p:nvPr/>
        </p:nvSpPr>
        <p:spPr>
          <a:xfrm>
            <a:off x="4562475" y="54387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F1F5FC"/>
                </a:solidFill>
                <a:latin typeface="等线"/>
                <a:ea typeface="等线"/>
                <a:cs typeface="等线"/>
              </a:rPr>
              <a:t>2000 个粒子</a:t>
            </a:r>
          </a:p>
        </p:txBody>
      </p:sp>
      <p:sp>
        <p:nvSpPr>
          <p:cNvPr id="9" name="6000 个粒子">
            <a:extLst>
              <a:ext uri="{FF2B5EF4-FFF2-40B4-BE49-F238E27FC236}">
                <a16:creationId xmlns:a16="http://schemas.microsoft.com/office/drawing/2014/main" id="{447B558B-CB05-4897-8CCF-4CF2C8F482DD}"/>
              </a:ext>
            </a:extLst>
          </p:cNvPr>
          <p:cNvSpPr>
            <a:spLocks noGrp="1"/>
          </p:cNvSpPr>
          <p:nvPr/>
        </p:nvSpPr>
        <p:spPr>
          <a:xfrm>
            <a:off x="8439150" y="54387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100" b="0">
                <a:solidFill>
                  <a:srgbClr val="F1F5FC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F1F5FC"/>
                </a:solidFill>
                <a:latin typeface="等线"/>
                <a:ea typeface="等线"/>
                <a:cs typeface="等线"/>
              </a:rPr>
              <a:t>6000 个粒子</a:t>
            </a:r>
          </a:p>
        </p:txBody>
      </p:sp>
      <p:sp>
        <p:nvSpPr>
          <p:cNvPr id="11" name="34">
            <a:extLst>
              <a:ext uri="{FF2B5EF4-FFF2-40B4-BE49-F238E27FC236}">
                <a16:creationId xmlns:a16="http://schemas.microsoft.com/office/drawing/2014/main" id="{DCFF6E66-8570-4DF6-9C49-F42BE4E66DCC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79306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这幅图，核心规则只有几行">
            <a:extLst>
              <a:ext uri="{FF2B5EF4-FFF2-40B4-BE49-F238E27FC236}">
                <a16:creationId xmlns:a16="http://schemas.microsoft.com/office/drawing/2014/main" id="{816BDEDF-4E39-4D9E-8472-FA04B930C7A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DLA 的格点算法</a:t>
            </a:r>
          </a:p>
        </p:txBody>
      </p:sp>
      <p:sp>
        <p:nvSpPr>
          <p:cNvPr id="3" name="cluster = {中心格点}&#10;&#10;for particle in r">
            <a:extLst>
              <a:ext uri="{FF2B5EF4-FFF2-40B4-BE49-F238E27FC236}">
                <a16:creationId xmlns:a16="http://schemas.microsoft.com/office/drawing/2014/main" id="{FC52B6D3-3AF5-436B-9EB6-74890231C308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7334250" cy="409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cluster = {中心格点}</a:t>
            </a:r>
          </a:p>
          <a:p>
            <a:endParaRPr sz="2100" b="0">
              <a:solidFill>
                <a:srgbClr val="172337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for particle in range(N):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x = 从团簇外侧发射()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while True: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x += 随机选择一个方向()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if x 与 cluster 相邻: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    cluster.add(x)</a:t>
            </a:r>
          </a:p>
          <a:p>
            <a:pPr algn="l">
              <a:buNone/>
              <a:defRPr sz="2100" b="0">
                <a:solidFill>
                  <a:srgbClr val="172337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2337"/>
                </a:solidFill>
                <a:latin typeface="Consolas"/>
                <a:ea typeface="Consolas"/>
                <a:cs typeface="Consolas"/>
              </a:rPr>
              <a:t>            break</a:t>
            </a:r>
          </a:p>
        </p:txBody>
      </p:sp>
      <p:sp>
        <p:nvSpPr>
          <p:cNvPr id="4" name="随机游走">
            <a:extLst>
              <a:ext uri="{FF2B5EF4-FFF2-40B4-BE49-F238E27FC236}">
                <a16:creationId xmlns:a16="http://schemas.microsoft.com/office/drawing/2014/main" id="{2D3F3AA2-DC27-4CBA-8C6A-436FFDF7E128}"/>
              </a:ext>
            </a:extLst>
          </p:cNvPr>
          <p:cNvSpPr>
            <a:spLocks noGrp="1"/>
          </p:cNvSpPr>
          <p:nvPr/>
        </p:nvSpPr>
        <p:spPr>
          <a:xfrm>
            <a:off x="8791575" y="2019300"/>
            <a:ext cx="27622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随机游走</a:t>
            </a:r>
          </a:p>
        </p:txBody>
      </p:sp>
      <p:sp>
        <p:nvSpPr>
          <p:cNvPr id="5" name="遇到团簇后黏附">
            <a:extLst>
              <a:ext uri="{FF2B5EF4-FFF2-40B4-BE49-F238E27FC236}">
                <a16:creationId xmlns:a16="http://schemas.microsoft.com/office/drawing/2014/main" id="{9D92CF29-D71C-48C8-813C-57CB32A9AEC1}"/>
              </a:ext>
            </a:extLst>
          </p:cNvPr>
          <p:cNvSpPr>
            <a:spLocks noGrp="1"/>
          </p:cNvSpPr>
          <p:nvPr/>
        </p:nvSpPr>
        <p:spPr>
          <a:xfrm>
            <a:off x="8791575" y="2990850"/>
            <a:ext cx="27622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遇到团簇后黏附</a:t>
            </a:r>
          </a:p>
        </p:txBody>
      </p:sp>
      <p:sp>
        <p:nvSpPr>
          <p:cNvPr id="6" name="重复加入新粒子">
            <a:extLst>
              <a:ext uri="{FF2B5EF4-FFF2-40B4-BE49-F238E27FC236}">
                <a16:creationId xmlns:a16="http://schemas.microsoft.com/office/drawing/2014/main" id="{CBB4734A-50B6-4B2C-8DD1-B52843E61D18}"/>
              </a:ext>
            </a:extLst>
          </p:cNvPr>
          <p:cNvSpPr>
            <a:spLocks noGrp="1"/>
          </p:cNvSpPr>
          <p:nvPr/>
        </p:nvSpPr>
        <p:spPr>
          <a:xfrm>
            <a:off x="8791575" y="3962400"/>
            <a:ext cx="27622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2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重复加入新粒子</a:t>
            </a:r>
          </a:p>
        </p:txBody>
      </p:sp>
      <p:sp>
        <p:nvSpPr>
          <p:cNvPr id="7" name="示意伪代码；边界处理见运行脚本">
            <a:extLst>
              <a:ext uri="{FF2B5EF4-FFF2-40B4-BE49-F238E27FC236}">
                <a16:creationId xmlns:a16="http://schemas.microsoft.com/office/drawing/2014/main" id="{C46652EA-8DED-49E8-98CA-67F769ED067F}"/>
              </a:ext>
            </a:extLst>
          </p:cNvPr>
          <p:cNvSpPr>
            <a:spLocks noGrp="1"/>
          </p:cNvSpPr>
          <p:nvPr/>
        </p:nvSpPr>
        <p:spPr>
          <a:xfrm>
            <a:off x="695325" y="5848350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16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6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示意伪代码；边界处理见运行脚本</a:t>
            </a:r>
          </a:p>
        </p:txBody>
      </p:sp>
      <p:sp>
        <p:nvSpPr>
          <p:cNvPr id="9" name="35">
            <a:extLst>
              <a:ext uri="{FF2B5EF4-FFF2-40B4-BE49-F238E27FC236}">
                <a16:creationId xmlns:a16="http://schemas.microsoft.com/office/drawing/2014/main" id="{F89F25D2-B35F-466A-BC37-6CB288C124CC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11596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“许愿式编程”：DLA">
            <a:extLst>
              <a:ext uri="{FF2B5EF4-FFF2-40B4-BE49-F238E27FC236}">
                <a16:creationId xmlns:a16="http://schemas.microsoft.com/office/drawing/2014/main" id="{9D4365FF-D321-4965-86A3-878FB2A969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“许愿式编程”：DLA</a:t>
            </a:r>
          </a:p>
        </p:txBody>
      </p:sp>
      <p:sp>
        <p:nvSpPr>
          <p:cNvPr id="2" name="“写一个 DLA，能运行、能改参数、能导出坐标。”">
            <a:extLst>
              <a:ext uri="{FF2B5EF4-FFF2-40B4-BE49-F238E27FC236}">
                <a16:creationId xmlns:a16="http://schemas.microsoft.com/office/drawing/2014/main" id="{4AFC48FD-61D0-434A-B2C0-D4C8324C7090}"/>
              </a:ext>
            </a:extLst>
          </p:cNvPr>
          <p:cNvSpPr>
            <a:spLocks noGrp="1"/>
          </p:cNvSpPr>
          <p:nvPr/>
        </p:nvSpPr>
        <p:spPr>
          <a:xfrm>
            <a:off x="695325" y="158115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7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7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“写一个 DLA，能运行、能改参数、能导出坐标。”</a:t>
            </a:r>
          </a:p>
        </p:txBody>
      </p:sp>
      <p:sp>
        <p:nvSpPr>
          <p:cNvPr id="3" name="1. 生成：先写 1000 个粒子的版本。">
            <a:extLst>
              <a:ext uri="{FF2B5EF4-FFF2-40B4-BE49-F238E27FC236}">
                <a16:creationId xmlns:a16="http://schemas.microsoft.com/office/drawing/2014/main" id="{F1D95D95-DF6D-47E5-8458-07762365562D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0668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1. 生成：先写 1000 个粒子的版本。</a:t>
            </a:r>
          </a:p>
        </p:txBody>
      </p:sp>
      <p:sp>
        <p:nvSpPr>
          <p:cNvPr id="4" name="2. 运行：看结果，也看随机游走和黏附条件。">
            <a:extLst>
              <a:ext uri="{FF2B5EF4-FFF2-40B4-BE49-F238E27FC236}">
                <a16:creationId xmlns:a16="http://schemas.microsoft.com/office/drawing/2014/main" id="{1FE28267-1DEC-4519-B2B6-CAB1963592AA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10668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2. 运行：看结果，也看随机游走和黏附条件。</a:t>
            </a:r>
          </a:p>
        </p:txBody>
      </p:sp>
      <p:sp>
        <p:nvSpPr>
          <p:cNvPr id="5" name="3. 修改：固定种子，把四邻接黏附改为八邻接。">
            <a:extLst>
              <a:ext uri="{FF2B5EF4-FFF2-40B4-BE49-F238E27FC236}">
                <a16:creationId xmlns:a16="http://schemas.microsoft.com/office/drawing/2014/main" id="{E04D75BB-8EA3-46AB-9C05-61955E400ECB}"/>
              </a:ext>
            </a:extLst>
          </p:cNvPr>
          <p:cNvSpPr>
            <a:spLocks noGrp="1"/>
          </p:cNvSpPr>
          <p:nvPr/>
        </p:nvSpPr>
        <p:spPr>
          <a:xfrm>
            <a:off x="723900" y="4124325"/>
            <a:ext cx="10668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3. 修改：固定种子，把四邻接黏附改为八邻接。</a:t>
            </a:r>
          </a:p>
        </p:txBody>
      </p:sp>
      <p:sp>
        <p:nvSpPr>
          <p:cNvPr id="6" name="4. 检查：导出坐标，逐个粒子回放邻接关系。">
            <a:extLst>
              <a:ext uri="{FF2B5EF4-FFF2-40B4-BE49-F238E27FC236}">
                <a16:creationId xmlns:a16="http://schemas.microsoft.com/office/drawing/2014/main" id="{6FB6BA84-B99E-4EAC-A98B-A0DFBE7D3FBA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668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4. 检查：导出坐标，逐个粒子回放邻接关系。</a:t>
            </a:r>
          </a:p>
        </p:txBody>
      </p:sp>
      <p:sp>
        <p:nvSpPr>
          <p:cNvPr id="7" name="打开实时 DLA">
            <a:extLst>
              <a:ext uri="{FF2B5EF4-FFF2-40B4-BE49-F238E27FC236}">
                <a16:creationId xmlns:a16="http://schemas.microsoft.com/office/drawing/2014/main" id="{879AD2BF-6DB7-4068-84F0-E376AFAF4D76}"/>
              </a:ext>
            </a:extLst>
          </p:cNvPr>
          <p:cNvSpPr>
            <a:spLocks noGrp="1"/>
          </p:cNvSpPr>
          <p:nvPr/>
        </p:nvSpPr>
        <p:spPr>
          <a:xfrm>
            <a:off x="714375" y="5838825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2357D7"/>
                </a:solidFill>
                <a:latin typeface="等线"/>
                <a:ea typeface="等线"/>
                <a:cs typeface="等线"/>
                <a:hlinkClick r:id="rId3"/>
              </a:rPr>
              <a:t>打开实时 DLA</a:t>
            </a:r>
          </a:p>
        </p:txBody>
      </p:sp>
      <p:sp>
        <p:nvSpPr>
          <p:cNvPr id="8" name="课堂任务与提示词">
            <a:extLst>
              <a:ext uri="{FF2B5EF4-FFF2-40B4-BE49-F238E27FC236}">
                <a16:creationId xmlns:a16="http://schemas.microsoft.com/office/drawing/2014/main" id="{C688F072-81A5-43D5-B5D8-AA76C134516D}"/>
              </a:ext>
            </a:extLst>
          </p:cNvPr>
          <p:cNvSpPr>
            <a:spLocks noGrp="1"/>
          </p:cNvSpPr>
          <p:nvPr/>
        </p:nvSpPr>
        <p:spPr>
          <a:xfrm>
            <a:off x="6610350" y="5838825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87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875">
                <a:solidFill>
                  <a:srgbClr val="2357D7"/>
                </a:solidFill>
                <a:latin typeface="等线"/>
                <a:ea typeface="等线"/>
                <a:cs typeface="等线"/>
                <a:hlinkClick r:id="rId4"/>
              </a:rPr>
              <a:t>课堂任务与提示词</a:t>
            </a:r>
          </a:p>
        </p:txBody>
      </p:sp>
      <p:sp>
        <p:nvSpPr>
          <p:cNvPr id="11" name="36">
            <a:extLst>
              <a:ext uri="{FF2B5EF4-FFF2-40B4-BE49-F238E27FC236}">
                <a16:creationId xmlns:a16="http://schemas.microsoft.com/office/drawing/2014/main" id="{7D71F760-4D6F-418D-849B-1942083CD99E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87794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-Work：将大模型接入自己的工作流">
            <a:extLst>
              <a:ext uri="{FF2B5EF4-FFF2-40B4-BE49-F238E27FC236}">
                <a16:creationId xmlns:a16="http://schemas.microsoft.com/office/drawing/2014/main" id="{6320DDDB-A6BA-4B4B-B000-D405A036FA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Co-Work：将大模型接入自己的工作流</a:t>
            </a:r>
          </a:p>
        </p:txBody>
      </p:sp>
      <p:sp>
        <p:nvSpPr>
          <p:cNvPr id="2" name="工作流通常跨越几个软件。">
            <a:extLst>
              <a:ext uri="{FF2B5EF4-FFF2-40B4-BE49-F238E27FC236}">
                <a16:creationId xmlns:a16="http://schemas.microsoft.com/office/drawing/2014/main" id="{AB820571-C49A-448B-B561-9FF06A055152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307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307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工作流通常跨越几个软件。</a:t>
            </a:r>
          </a:p>
        </p:txBody>
      </p:sp>
      <p:sp>
        <p:nvSpPr>
          <p:cNvPr id="3" name="从邮件和文档读取任务要求。">
            <a:extLst>
              <a:ext uri="{FF2B5EF4-FFF2-40B4-BE49-F238E27FC236}">
                <a16:creationId xmlns:a16="http://schemas.microsoft.com/office/drawing/2014/main" id="{32137399-A589-4129-A5C6-BCF1C98A2040}"/>
              </a:ext>
            </a:extLst>
          </p:cNvPr>
          <p:cNvSpPr>
            <a:spLocks noGrp="1"/>
          </p:cNvSpPr>
          <p:nvPr/>
        </p:nvSpPr>
        <p:spPr>
          <a:xfrm>
            <a:off x="723900" y="2981325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从邮件和文档读取任务要求。</a:t>
            </a:r>
          </a:p>
        </p:txBody>
      </p:sp>
      <p:sp>
        <p:nvSpPr>
          <p:cNvPr id="4" name="调用软件接口处理数据、修改文件。">
            <a:extLst>
              <a:ext uri="{FF2B5EF4-FFF2-40B4-BE49-F238E27FC236}">
                <a16:creationId xmlns:a16="http://schemas.microsoft.com/office/drawing/2014/main" id="{21C8A484-640F-4E48-B8C3-F1659F8F42FD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调用软件接口处理数据、修改文件。</a:t>
            </a:r>
          </a:p>
        </p:txBody>
      </p:sp>
      <p:sp>
        <p:nvSpPr>
          <p:cNvPr id="5" name="把结果写回工作簿、文稿或演示文稿。">
            <a:extLst>
              <a:ext uri="{FF2B5EF4-FFF2-40B4-BE49-F238E27FC236}">
                <a16:creationId xmlns:a16="http://schemas.microsoft.com/office/drawing/2014/main" id="{7CFD3A71-F801-43CE-9457-A31C5725B449}"/>
              </a:ext>
            </a:extLst>
          </p:cNvPr>
          <p:cNvSpPr>
            <a:spLocks noGrp="1"/>
          </p:cNvSpPr>
          <p:nvPr/>
        </p:nvSpPr>
        <p:spPr>
          <a:xfrm>
            <a:off x="723900" y="4714875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325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把结果写回工作簿、文稿或演示文稿。</a:t>
            </a:r>
          </a:p>
        </p:txBody>
      </p:sp>
      <p:sp>
        <p:nvSpPr>
          <p:cNvPr id="6" name="37">
            <a:extLst>
              <a:ext uri="{FF2B5EF4-FFF2-40B4-BE49-F238E27FC236}">
                <a16:creationId xmlns:a16="http://schemas.microsoft.com/office/drawing/2014/main" id="{C6757BA0-C2DC-4BD8-812C-36D166FB5697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085298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工作里常见的软件接入点">
            <a:extLst>
              <a:ext uri="{FF2B5EF4-FFF2-40B4-BE49-F238E27FC236}">
                <a16:creationId xmlns:a16="http://schemas.microsoft.com/office/drawing/2014/main" id="{F989FA9D-872F-4BED-8363-494C213F928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办公流程：邮件、文档和表格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575772A-B217-48EF-A17B-F5AED92BF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230599"/>
              </p:ext>
            </p:extLst>
          </p:nvPr>
        </p:nvGraphicFramePr>
        <p:xfrm>
          <a:off x="609600" y="1504950"/>
          <a:ext cx="10972800" cy="38862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材料在哪里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软件示例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可以处理什么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通知与日程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Gmail / Outlook / 日历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定位截止时间，核对忙闲，起草回复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共享资料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Drive / OneDrive / SharePoint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查纪要、读附件、找正确版本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数据与文稿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Excel / Sheets / Word / Docs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清理记录、计算汇总、修改文稿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汇报与协作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PowerPoint / Slides / Slack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生成材料，把待办交给合适的人</a:t>
                      </a:r>
                      <a:endParaRPr sz="1875" b="0" dirty="0">
                        <a:solidFill>
                          <a:srgbClr val="172337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38">
            <a:extLst>
              <a:ext uri="{FF2B5EF4-FFF2-40B4-BE49-F238E27FC236}">
                <a16:creationId xmlns:a16="http://schemas.microsoft.com/office/drawing/2014/main" id="{7B27BFB6-9F21-4EB5-9001-D7C7548A7C62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844883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连接器、MCP、插件：各自做什么">
            <a:extLst>
              <a:ext uri="{FF2B5EF4-FFF2-40B4-BE49-F238E27FC236}">
                <a16:creationId xmlns:a16="http://schemas.microsoft.com/office/drawing/2014/main" id="{BFF6FB71-9243-46EB-8346-EDBB956B7B7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连接器、MCP 与插件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8D50D1A-FB61-4CC8-B300-7F1FA0AD047B}"/>
              </a:ext>
            </a:extLst>
          </p:cNvPr>
          <p:cNvGraphicFramePr/>
          <p:nvPr/>
        </p:nvGraphicFramePr>
        <p:xfrm>
          <a:off x="638175" y="1504950"/>
          <a:ext cx="10906125" cy="383857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771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名词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作用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连接器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把一个账号或服务的可用能力接进 AI 应用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MCP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约定工具如何描述、被调用和返回结果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插件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打包工具与应用配置，具体能力由平台定义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Office 加载项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在当前工作簿或文稿中使用 AI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背后真正执行动作的，仍然是软件接口或本地程序。">
            <a:extLst>
              <a:ext uri="{FF2B5EF4-FFF2-40B4-BE49-F238E27FC236}">
                <a16:creationId xmlns:a16="http://schemas.microsoft.com/office/drawing/2014/main" id="{6E6CF15D-9BE3-449A-B15B-E355DE350007}"/>
              </a:ext>
            </a:extLst>
          </p:cNvPr>
          <p:cNvSpPr>
            <a:spLocks noGrp="1"/>
          </p:cNvSpPr>
          <p:nvPr/>
        </p:nvSpPr>
        <p:spPr>
          <a:xfrm>
            <a:off x="704850" y="5705475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连接器接入服务，工具接口执行操作。</a:t>
            </a:r>
          </a:p>
        </p:txBody>
      </p:sp>
      <p:sp>
        <p:nvSpPr>
          <p:cNvPr id="6" name="39">
            <a:extLst>
              <a:ext uri="{FF2B5EF4-FFF2-40B4-BE49-F238E27FC236}">
                <a16:creationId xmlns:a16="http://schemas.microsoft.com/office/drawing/2014/main" id="{94B22643-A10D-47F1-B86A-AB4E2938E4C8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3961431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-Work 一例：准备组会材料">
            <a:extLst>
              <a:ext uri="{FF2B5EF4-FFF2-40B4-BE49-F238E27FC236}">
                <a16:creationId xmlns:a16="http://schemas.microsoft.com/office/drawing/2014/main" id="{87AC856A-A794-4220-B431-449EAAE2846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def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Co-Work 一例：准备组会材料</a:t>
            </a:r>
          </a:p>
        </p:txBody>
      </p:sp>
      <p:sp>
        <p:nvSpPr>
          <p:cNvPr id="2" name="输入">
            <a:extLst>
              <a:ext uri="{FF2B5EF4-FFF2-40B4-BE49-F238E27FC236}">
                <a16:creationId xmlns:a16="http://schemas.microsoft.com/office/drawing/2014/main" id="{F6E43685-9F07-43A3-8D0E-809E7F4F97BD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输入</a:t>
            </a:r>
          </a:p>
        </p:txBody>
      </p:sp>
      <p:sp>
        <p:nvSpPr>
          <p:cNvPr id="3" name="输出">
            <a:extLst>
              <a:ext uri="{FF2B5EF4-FFF2-40B4-BE49-F238E27FC236}">
                <a16:creationId xmlns:a16="http://schemas.microsoft.com/office/drawing/2014/main" id="{A18DE027-3A40-44D5-8C3F-D1F6B3FF7519}"/>
              </a:ext>
            </a:extLst>
          </p:cNvPr>
          <p:cNvSpPr>
            <a:spLocks noGrp="1"/>
          </p:cNvSpPr>
          <p:nvPr/>
        </p:nvSpPr>
        <p:spPr>
          <a:xfrm>
            <a:off x="6715125" y="160020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输出</a:t>
            </a:r>
          </a:p>
        </p:txBody>
      </p:sp>
      <p:sp>
        <p:nvSpPr>
          <p:cNvPr id="4" name="通知邮件">
            <a:extLst>
              <a:ext uri="{FF2B5EF4-FFF2-40B4-BE49-F238E27FC236}">
                <a16:creationId xmlns:a16="http://schemas.microsoft.com/office/drawing/2014/main" id="{2E6D7F2C-006D-4867-860B-C15BEAC3EFA3}"/>
              </a:ext>
            </a:extLst>
          </p:cNvPr>
          <p:cNvSpPr>
            <a:spLocks noGrp="1"/>
          </p:cNvSpPr>
          <p:nvPr/>
        </p:nvSpPr>
        <p:spPr>
          <a:xfrm>
            <a:off x="723900" y="2543175"/>
            <a:ext cx="4476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通知邮件</a:t>
            </a:r>
          </a:p>
        </p:txBody>
      </p:sp>
      <p:sp>
        <p:nvSpPr>
          <p:cNvPr id="5" name="上次纪要">
            <a:extLst>
              <a:ext uri="{FF2B5EF4-FFF2-40B4-BE49-F238E27FC236}">
                <a16:creationId xmlns:a16="http://schemas.microsoft.com/office/drawing/2014/main" id="{BEF4B076-47C3-4699-A280-651E88F1BC9B}"/>
              </a:ext>
            </a:extLst>
          </p:cNvPr>
          <p:cNvSpPr>
            <a:spLocks noGrp="1"/>
          </p:cNvSpPr>
          <p:nvPr/>
        </p:nvSpPr>
        <p:spPr>
          <a:xfrm>
            <a:off x="723900" y="3400425"/>
            <a:ext cx="4476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上次纪要</a:t>
            </a:r>
          </a:p>
        </p:txBody>
      </p:sp>
      <p:sp>
        <p:nvSpPr>
          <p:cNvPr id="6" name="实验表格">
            <a:extLst>
              <a:ext uri="{FF2B5EF4-FFF2-40B4-BE49-F238E27FC236}">
                <a16:creationId xmlns:a16="http://schemas.microsoft.com/office/drawing/2014/main" id="{B1EEF9AB-6FC1-4DE1-AF55-4AC1B6D1D4F1}"/>
              </a:ext>
            </a:extLst>
          </p:cNvPr>
          <p:cNvSpPr>
            <a:spLocks noGrp="1"/>
          </p:cNvSpPr>
          <p:nvPr/>
        </p:nvSpPr>
        <p:spPr>
          <a:xfrm>
            <a:off x="723900" y="4257675"/>
            <a:ext cx="4476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实验表格</a:t>
            </a:r>
          </a:p>
        </p:txBody>
      </p:sp>
      <p:sp>
        <p:nvSpPr>
          <p:cNvPr id="7" name="数据汇总表">
            <a:extLst>
              <a:ext uri="{FF2B5EF4-FFF2-40B4-BE49-F238E27FC236}">
                <a16:creationId xmlns:a16="http://schemas.microsoft.com/office/drawing/2014/main" id="{3D67FD02-08B8-4346-A423-D728662EE56C}"/>
              </a:ext>
            </a:extLst>
          </p:cNvPr>
          <p:cNvSpPr>
            <a:spLocks noGrp="1"/>
          </p:cNvSpPr>
          <p:nvPr/>
        </p:nvSpPr>
        <p:spPr>
          <a:xfrm>
            <a:off x="6715125" y="2543175"/>
            <a:ext cx="4476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数据汇总表</a:t>
            </a:r>
          </a:p>
        </p:txBody>
      </p:sp>
      <p:sp>
        <p:nvSpPr>
          <p:cNvPr id="8" name="组会汇报 PPT">
            <a:extLst>
              <a:ext uri="{FF2B5EF4-FFF2-40B4-BE49-F238E27FC236}">
                <a16:creationId xmlns:a16="http://schemas.microsoft.com/office/drawing/2014/main" id="{482206CD-3E00-4B38-A1AD-EB90FD26F16A}"/>
              </a:ext>
            </a:extLst>
          </p:cNvPr>
          <p:cNvSpPr>
            <a:spLocks noGrp="1"/>
          </p:cNvSpPr>
          <p:nvPr/>
        </p:nvSpPr>
        <p:spPr>
          <a:xfrm>
            <a:off x="6715125" y="3400425"/>
            <a:ext cx="4476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组会汇报 PPT</a:t>
            </a:r>
          </a:p>
        </p:txBody>
      </p:sp>
      <p:sp>
        <p:nvSpPr>
          <p:cNvPr id="9" name="回复草稿">
            <a:extLst>
              <a:ext uri="{FF2B5EF4-FFF2-40B4-BE49-F238E27FC236}">
                <a16:creationId xmlns:a16="http://schemas.microsoft.com/office/drawing/2014/main" id="{519ABE64-18C8-409B-971E-DBFCFE2C67FA}"/>
              </a:ext>
            </a:extLst>
          </p:cNvPr>
          <p:cNvSpPr>
            <a:spLocks noGrp="1"/>
          </p:cNvSpPr>
          <p:nvPr/>
        </p:nvSpPr>
        <p:spPr>
          <a:xfrm>
            <a:off x="6715125" y="4257675"/>
            <a:ext cx="4476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5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回复草稿</a:t>
            </a:r>
          </a:p>
        </p:txBody>
      </p:sp>
      <p:sp>
        <p:nvSpPr>
          <p:cNvPr id="10" name="核对来源和统计口径，邮件保留草稿。">
            <a:extLst>
              <a:ext uri="{FF2B5EF4-FFF2-40B4-BE49-F238E27FC236}">
                <a16:creationId xmlns:a16="http://schemas.microsoft.com/office/drawing/2014/main" id="{3ECFD1DA-BA3F-454C-A75B-ECEF0610F4F5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225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25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核对来源和统计口径，邮件保留草稿。</a:t>
            </a:r>
          </a:p>
        </p:txBody>
      </p:sp>
      <p:sp>
        <p:nvSpPr>
          <p:cNvPr id="11" name="查看输入与输出材料">
            <a:extLst>
              <a:ext uri="{FF2B5EF4-FFF2-40B4-BE49-F238E27FC236}">
                <a16:creationId xmlns:a16="http://schemas.microsoft.com/office/drawing/2014/main" id="{1A6A7F82-D750-44FD-94A8-F9BE0AD5DEF2}"/>
              </a:ext>
            </a:extLst>
          </p:cNvPr>
          <p:cNvSpPr>
            <a:spLocks noGrp="1"/>
          </p:cNvSpPr>
          <p:nvPr/>
        </p:nvSpPr>
        <p:spPr>
          <a:xfrm>
            <a:off x="723900" y="6067425"/>
            <a:ext cx="10382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defRPr sz="1725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1725">
                <a:solidFill>
                  <a:srgbClr val="2357D7"/>
                </a:solidFill>
                <a:latin typeface="等线"/>
                <a:ea typeface="等线"/>
                <a:cs typeface="等线"/>
                <a:hlinkClick r:id="rId3"/>
              </a:rPr>
              <a:t>查看输入与输出材料</a:t>
            </a:r>
          </a:p>
        </p:txBody>
      </p:sp>
      <p:sp>
        <p:nvSpPr>
          <p:cNvPr id="12" name="40">
            <a:extLst>
              <a:ext uri="{FF2B5EF4-FFF2-40B4-BE49-F238E27FC236}">
                <a16:creationId xmlns:a16="http://schemas.microsoft.com/office/drawing/2014/main" id="{5C70F9A7-1790-4054-9CFA-AC3D6B207D7B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39396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一任务，可以怎样接入 AI">
            <a:extLst>
              <a:ext uri="{FF2B5EF4-FFF2-40B4-BE49-F238E27FC236}">
                <a16:creationId xmlns:a16="http://schemas.microsoft.com/office/drawing/2014/main" id="{544A3916-C8A0-4C17-8E09-4DA83C03810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AI 怎样接入软件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0B8488-EF74-4614-ACB4-F9083BAF67F0}"/>
              </a:ext>
            </a:extLst>
          </p:cNvPr>
          <p:cNvGraphicFramePr/>
          <p:nvPr/>
        </p:nvGraphicFramePr>
        <p:xfrm>
          <a:off x="638175" y="1562100"/>
          <a:ext cx="10906125" cy="37814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28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接入方式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适用环节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本地文件夹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给定材料，生成分析脚本、表格和文稿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云连接器 / API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检索邮件与网盘，读日历，执行明确的服务动作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Office 加载项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在当前工作簿、文稿或演示文稿里修改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Computer Use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缺少可用接口时，操作网页或桌面软件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41">
            <a:extLst>
              <a:ext uri="{FF2B5EF4-FFF2-40B4-BE49-F238E27FC236}">
                <a16:creationId xmlns:a16="http://schemas.microsoft.com/office/drawing/2014/main" id="{6BF22810-B0F7-4E63-A131-DE7B634BA300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64446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里的检查与人工确认">
            <a:extLst>
              <a:ext uri="{FF2B5EF4-FFF2-40B4-BE49-F238E27FC236}">
                <a16:creationId xmlns:a16="http://schemas.microsoft.com/office/drawing/2014/main" id="{6CBD313D-5A0D-440F-9E95-4FB6CA1228E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文件检查与操作确认</a:t>
            </a:r>
          </a:p>
        </p:txBody>
      </p:sp>
      <p:sp>
        <p:nvSpPr>
          <p:cNvPr id="2" name="文件与数字：能回到原始记录，公式能重算。">
            <a:extLst>
              <a:ext uri="{FF2B5EF4-FFF2-40B4-BE49-F238E27FC236}">
                <a16:creationId xmlns:a16="http://schemas.microsoft.com/office/drawing/2014/main" id="{F88B9AD0-9C18-46C5-BAFB-B3CA698491F4}"/>
              </a:ext>
            </a:extLst>
          </p:cNvPr>
          <p:cNvSpPr>
            <a:spLocks noGrp="1"/>
          </p:cNvSpPr>
          <p:nvPr/>
        </p:nvSpPr>
        <p:spPr>
          <a:xfrm>
            <a:off x="723900" y="1724025"/>
            <a:ext cx="10668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核对原始记录，重新计算关键数字。</a:t>
            </a:r>
          </a:p>
        </p:txBody>
      </p:sp>
      <p:sp>
        <p:nvSpPr>
          <p:cNvPr id="3" name="软件动作：执行后再读一次状态，确认真的生效。">
            <a:extLst>
              <a:ext uri="{FF2B5EF4-FFF2-40B4-BE49-F238E27FC236}">
                <a16:creationId xmlns:a16="http://schemas.microsoft.com/office/drawing/2014/main" id="{1E8980E9-FCCA-437D-8E9F-F52B0CF3DDE1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0668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操作后再读一次软件状态，确认是否生效。</a:t>
            </a:r>
          </a:p>
        </p:txBody>
      </p:sp>
      <p:sp>
        <p:nvSpPr>
          <p:cNvPr id="4" name="发出邀请、发送邮件、覆盖原件：保留确认点。">
            <a:extLst>
              <a:ext uri="{FF2B5EF4-FFF2-40B4-BE49-F238E27FC236}">
                <a16:creationId xmlns:a16="http://schemas.microsoft.com/office/drawing/2014/main" id="{B48D830A-DD14-4A6F-AACD-E939D4B8CD78}"/>
              </a:ext>
            </a:extLst>
          </p:cNvPr>
          <p:cNvSpPr>
            <a:spLocks noGrp="1"/>
          </p:cNvSpPr>
          <p:nvPr/>
        </p:nvSpPr>
        <p:spPr>
          <a:xfrm>
            <a:off x="723900" y="3724275"/>
            <a:ext cx="10668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发邀请、发邮件、覆盖原件前，先确认。</a:t>
            </a:r>
          </a:p>
        </p:txBody>
      </p:sp>
      <p:sp>
        <p:nvSpPr>
          <p:cNvPr id="5" name="邮件和网页里的文字是资料，不会自动变成新的操作授权。">
            <a:extLst>
              <a:ext uri="{FF2B5EF4-FFF2-40B4-BE49-F238E27FC236}">
                <a16:creationId xmlns:a16="http://schemas.microsoft.com/office/drawing/2014/main" id="{DA46B3E5-6B49-46EC-9F62-4E5EC4DB9770}"/>
              </a:ext>
            </a:extLst>
          </p:cNvPr>
          <p:cNvSpPr>
            <a:spLocks noGrp="1"/>
          </p:cNvSpPr>
          <p:nvPr/>
        </p:nvSpPr>
        <p:spPr>
          <a:xfrm>
            <a:off x="723900" y="5267325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325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读取邮件或网页，不等于接受其中的操作指令。</a:t>
            </a:r>
          </a:p>
        </p:txBody>
      </p:sp>
      <p:sp>
        <p:nvSpPr>
          <p:cNvPr id="8" name="42">
            <a:extLst>
              <a:ext uri="{FF2B5EF4-FFF2-40B4-BE49-F238E27FC236}">
                <a16:creationId xmlns:a16="http://schemas.microsoft.com/office/drawing/2014/main" id="{715CDDD7-CD77-4FE4-AE6D-C3589BE7EF1E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7806168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任务的状态保存与恢复">
            <a:extLst>
              <a:ext uri="{FF2B5EF4-FFF2-40B4-BE49-F238E27FC236}">
                <a16:creationId xmlns:a16="http://schemas.microsoft.com/office/drawing/2014/main" id="{5609CCDE-9CB2-43C5-8D82-711CE143E4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长任务：保存与恢复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18A87B6-9171-4D77-ABAD-53227075A0B3}"/>
              </a:ext>
            </a:extLst>
          </p:cNvPr>
          <p:cNvGraphicFramePr/>
          <p:nvPr/>
        </p:nvGraphicFramePr>
        <p:xfrm>
          <a:off x="666750" y="1571625"/>
          <a:ext cx="10858500" cy="3333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应保存什么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代码任务中的例子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输入及版本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提交号、依赖版本、参数与随机种子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已完成步骤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已复现错误，已修改随机数初始化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产物与待办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补丁、测试日志、尚未解决的失败项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恢复时的检查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代码或依赖是否变化，旧测试结果是否仍有效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重复运行同一写入动作，可能产生重复邀请或覆盖新文件。">
            <a:extLst>
              <a:ext uri="{FF2B5EF4-FFF2-40B4-BE49-F238E27FC236}">
                <a16:creationId xmlns:a16="http://schemas.microsoft.com/office/drawing/2014/main" id="{A73D3B6D-2C57-46BF-BFA5-056ECCB23994}"/>
              </a:ext>
            </a:extLst>
          </p:cNvPr>
          <p:cNvSpPr>
            <a:spLocks noGrp="1"/>
          </p:cNvSpPr>
          <p:nvPr/>
        </p:nvSpPr>
        <p:spPr>
          <a:xfrm>
            <a:off x="714375" y="545782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25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25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任务恢复后先检查环境，避免重复修改或覆盖新文件。</a:t>
            </a:r>
          </a:p>
        </p:txBody>
      </p:sp>
      <p:sp>
        <p:nvSpPr>
          <p:cNvPr id="6" name="43">
            <a:extLst>
              <a:ext uri="{FF2B5EF4-FFF2-40B4-BE49-F238E27FC236}">
                <a16:creationId xmlns:a16="http://schemas.microsoft.com/office/drawing/2014/main" id="{91CDC785-7BA6-4146-B8E4-C5DAC206E13D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67858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计划、依赖关系与重新规划">
            <a:extLst>
              <a:ext uri="{FF2B5EF4-FFF2-40B4-BE49-F238E27FC236}">
                <a16:creationId xmlns:a16="http://schemas.microsoft.com/office/drawing/2014/main" id="{81A0CC99-1837-443A-B1A9-FB6EC9F764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任务依赖与重新规划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7262BA9-9CBA-4604-BE63-77BE7B5D9980}"/>
              </a:ext>
            </a:extLst>
          </p:cNvPr>
          <p:cNvGraphicFramePr/>
          <p:nvPr/>
        </p:nvGraphicFramePr>
        <p:xfrm>
          <a:off x="666750" y="1581150"/>
          <a:ext cx="10858500" cy="2714624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子任务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先要拿到什么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复现测试失败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代码版本、依赖、输入与错误日志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修改随机游走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边界条件、算法规则与当前实现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运行回归测试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修改后的代码与独立检查程序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发现日志缺失后，原计划需要调整。">
            <a:extLst>
              <a:ext uri="{FF2B5EF4-FFF2-40B4-BE49-F238E27FC236}">
                <a16:creationId xmlns:a16="http://schemas.microsoft.com/office/drawing/2014/main" id="{9A85955F-638D-4963-92A2-A63396CD6150}"/>
              </a:ext>
            </a:extLst>
          </p:cNvPr>
          <p:cNvSpPr>
            <a:spLocks noGrp="1"/>
          </p:cNvSpPr>
          <p:nvPr/>
        </p:nvSpPr>
        <p:spPr>
          <a:xfrm>
            <a:off x="714375" y="479107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参数或依赖变了，需要重新检查后续任务。</a:t>
            </a:r>
          </a:p>
        </p:txBody>
      </p:sp>
      <p:sp>
        <p:nvSpPr>
          <p:cNvPr id="4" name="候选越多，调用成本越高。搜索通常需要限制分支和深度。">
            <a:extLst>
              <a:ext uri="{FF2B5EF4-FFF2-40B4-BE49-F238E27FC236}">
                <a16:creationId xmlns:a16="http://schemas.microsoft.com/office/drawing/2014/main" id="{8E71642D-0CAA-42AB-A59D-1845DB4330A9}"/>
              </a:ext>
            </a:extLst>
          </p:cNvPr>
          <p:cNvSpPr>
            <a:spLocks noGrp="1"/>
          </p:cNvSpPr>
          <p:nvPr/>
        </p:nvSpPr>
        <p:spPr>
          <a:xfrm>
            <a:off x="714375" y="5600700"/>
            <a:ext cx="10668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025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限制搜索分支和深度，避免调用成本失控。</a:t>
            </a:r>
          </a:p>
        </p:txBody>
      </p:sp>
      <p:sp>
        <p:nvSpPr>
          <p:cNvPr id="7" name="44">
            <a:extLst>
              <a:ext uri="{FF2B5EF4-FFF2-40B4-BE49-F238E27FC236}">
                <a16:creationId xmlns:a16="http://schemas.microsoft.com/office/drawing/2014/main" id="{5B1ED2A3-3321-4922-8781-D6792D2C501D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96370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上下文预算与记忆更新">
            <a:extLst>
              <a:ext uri="{FF2B5EF4-FFF2-40B4-BE49-F238E27FC236}">
                <a16:creationId xmlns:a16="http://schemas.microsoft.com/office/drawing/2014/main" id="{1D2A57FF-7329-424F-9D84-52CE733E5C8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上下文长度与记忆更新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AF2C0DD-18E1-499B-963C-D5BA987823E0}"/>
              </a:ext>
            </a:extLst>
          </p:cNvPr>
          <p:cNvGraphicFramePr/>
          <p:nvPr/>
        </p:nvGraphicFramePr>
        <p:xfrm>
          <a:off x="638175" y="1657350"/>
          <a:ext cx="10906125" cy="2762252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保留在上下文中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放入外部文件后按需读取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目标、硬约束、未解决的问题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完整日志与大表格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最近动作和关键工具结果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早期已结束的尝试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采用的来源与当前版本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原始材料和历史版本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记忆更新要注明来源、时间和适用条件。">
            <a:extLst>
              <a:ext uri="{FF2B5EF4-FFF2-40B4-BE49-F238E27FC236}">
                <a16:creationId xmlns:a16="http://schemas.microsoft.com/office/drawing/2014/main" id="{850CB448-D69C-4DFF-B231-6157C65D2F09}"/>
              </a:ext>
            </a:extLst>
          </p:cNvPr>
          <p:cNvSpPr>
            <a:spLocks noGrp="1"/>
          </p:cNvSpPr>
          <p:nvPr/>
        </p:nvSpPr>
        <p:spPr>
          <a:xfrm>
            <a:off x="714375" y="498157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55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55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写入记忆时，记录来源、时间和适用条件。</a:t>
            </a:r>
          </a:p>
        </p:txBody>
      </p:sp>
      <p:sp>
        <p:nvSpPr>
          <p:cNvPr id="4" name="“某天有空”属于一次任务的状态，不能直接当作长期偏好。">
            <a:extLst>
              <a:ext uri="{FF2B5EF4-FFF2-40B4-BE49-F238E27FC236}">
                <a16:creationId xmlns:a16="http://schemas.microsoft.com/office/drawing/2014/main" id="{2C17033D-F4E6-4541-9336-1212CFD67222}"/>
              </a:ext>
            </a:extLst>
          </p:cNvPr>
          <p:cNvSpPr>
            <a:spLocks noGrp="1"/>
          </p:cNvSpPr>
          <p:nvPr/>
        </p:nvSpPr>
        <p:spPr>
          <a:xfrm>
            <a:off x="714375" y="574357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1950" b="0">
                <a:solidFill>
                  <a:srgbClr val="53657B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53657B"/>
                </a:solidFill>
                <a:latin typeface="等线"/>
                <a:ea typeface="等线"/>
                <a:cs typeface="等线"/>
              </a:rPr>
              <a:t>某次测试通过，只对应当时的代码、依赖和输入。</a:t>
            </a:r>
          </a:p>
        </p:txBody>
      </p:sp>
      <p:sp>
        <p:nvSpPr>
          <p:cNvPr id="7" name="45">
            <a:extLst>
              <a:ext uri="{FF2B5EF4-FFF2-40B4-BE49-F238E27FC236}">
                <a16:creationId xmlns:a16="http://schemas.microsoft.com/office/drawing/2014/main" id="{37A23819-D1AD-4D16-B055-D3E24F31085C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5253890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反馈、重试与参数学习">
            <a:extLst>
              <a:ext uri="{FF2B5EF4-FFF2-40B4-BE49-F238E27FC236}">
                <a16:creationId xmlns:a16="http://schemas.microsoft.com/office/drawing/2014/main" id="{42E93E8E-44CA-4882-B043-CF0474D9EEC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重试与参数更新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FB74779-94A8-48C0-A1F0-33BD0EFA812B}"/>
              </a:ext>
            </a:extLst>
          </p:cNvPr>
          <p:cNvGraphicFramePr/>
          <p:nvPr/>
        </p:nvGraphicFramePr>
        <p:xfrm>
          <a:off x="666750" y="1676400"/>
          <a:ext cx="10858500" cy="27813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机制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改变了什么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工具反馈与重试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下一轮输入与动作选择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Reflexion 式经验记录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保存在外部的失败经验，供后续任务读取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微调 / 强化学习</a:t>
                      </a:r>
                    </a:p>
                  </a:txBody>
                  <a:tcPr anchor="ctr">
                    <a:lnL w="5715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337"/>
                          </a:solidFill>
                          <a:latin typeface="等线"/>
                          <a:ea typeface="等线"/>
                          <a:cs typeface="等线"/>
                        </a:rPr>
                        <a:t>训练过程中更新模型参数</a:t>
                      </a:r>
                    </a:p>
                  </a:txBody>
                  <a:tcPr anchor="ctr">
                    <a:lnL w="5715" cmpd="sng">
                      <a:solidFill>
                        <a:srgbClr val="D6DDE8"/>
                      </a:solidFill>
                      <a:prstDash val="solid"/>
                    </a:lnL>
                    <a:lnR w="5715">
                      <a:solidFill>
                        <a:srgbClr val="D6DDE8"/>
                      </a:solidFill>
                      <a:prstDash val="solid"/>
                    </a:lnR>
                    <a:lnT w="5715" cmpd="sng">
                      <a:solidFill>
                        <a:srgbClr val="D6DDE8"/>
                      </a:solidFill>
                      <a:prstDash val="solid"/>
                    </a:lnT>
                    <a:lnB w="5715">
                      <a:solidFill>
                        <a:srgbClr val="D6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程序通过测试后，还要检查测试是否覆盖任务要求。">
            <a:extLst>
              <a:ext uri="{FF2B5EF4-FFF2-40B4-BE49-F238E27FC236}">
                <a16:creationId xmlns:a16="http://schemas.microsoft.com/office/drawing/2014/main" id="{0C23D476-3E0A-46FF-A144-5CEC95B9D14D}"/>
              </a:ext>
            </a:extLst>
          </p:cNvPr>
          <p:cNvSpPr>
            <a:spLocks noGrp="1"/>
          </p:cNvSpPr>
          <p:nvPr/>
        </p:nvSpPr>
        <p:spPr>
          <a:xfrm>
            <a:off x="714375" y="51911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400" b="0">
                <a:solidFill>
                  <a:srgbClr val="2357D7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2357D7"/>
                </a:solidFill>
                <a:latin typeface="等线"/>
                <a:ea typeface="等线"/>
                <a:cs typeface="等线"/>
              </a:rPr>
              <a:t>测试通过后，再看测试本身是否覆盖了任务要求。</a:t>
            </a:r>
          </a:p>
        </p:txBody>
      </p:sp>
      <p:sp>
        <p:nvSpPr>
          <p:cNvPr id="6" name="46">
            <a:extLst>
              <a:ext uri="{FF2B5EF4-FFF2-40B4-BE49-F238E27FC236}">
                <a16:creationId xmlns:a16="http://schemas.microsoft.com/office/drawing/2014/main" id="{760E02EB-7981-4DC0-AB6F-2CAAAB7FE049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837973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-work 一例：Computer Use">
            <a:extLst>
              <a:ext uri="{FF2B5EF4-FFF2-40B4-BE49-F238E27FC236}">
                <a16:creationId xmlns:a16="http://schemas.microsoft.com/office/drawing/2014/main" id="{DB23D825-A98C-4170-BD17-67BE6E6EDE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l"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Co-Work 一例：Computer Use</a:t>
            </a:r>
          </a:p>
        </p:txBody>
      </p:sp>
      <p:sp>
        <p:nvSpPr>
          <p:cNvPr id="4" name="模型看当前页面&#10;找到可操作的控件&#10;点击、输入或拖动&#10;再看页面有没有变化">
            <a:extLst>
              <a:ext uri="{FF2B5EF4-FFF2-40B4-BE49-F238E27FC236}">
                <a16:creationId xmlns:a16="http://schemas.microsoft.com/office/drawing/2014/main" id="{B1AE022F-A5BF-4804-B085-96140C20BA98}"/>
              </a:ext>
            </a:extLst>
          </p:cNvPr>
          <p:cNvSpPr>
            <a:spLocks noGrp="1"/>
          </p:cNvSpPr>
          <p:nvPr/>
        </p:nvSpPr>
        <p:spPr>
          <a:xfrm>
            <a:off x="8686800" y="1924050"/>
            <a:ext cx="3143250" cy="3000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模型看当前页面</a:t>
            </a:r>
            <a:endParaRPr sz="2325" b="0" dirty="0">
              <a:solidFill>
                <a:srgbClr val="172337"/>
              </a:solidFill>
              <a:latin typeface="等线"/>
              <a:ea typeface="等线"/>
              <a:cs typeface="等线"/>
            </a:endParaRPr>
          </a:p>
          <a:p>
            <a: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找到可操作的控件</a:t>
            </a:r>
            <a:endParaRPr sz="2325" b="0" dirty="0">
              <a:solidFill>
                <a:srgbClr val="172337"/>
              </a:solidFill>
              <a:latin typeface="等线"/>
              <a:ea typeface="等线"/>
              <a:cs typeface="等线"/>
            </a:endParaRPr>
          </a:p>
          <a:p>
            <a: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点击、输入或拖动</a:t>
            </a:r>
            <a:endParaRPr sz="2325" b="0" dirty="0">
              <a:solidFill>
                <a:srgbClr val="172337"/>
              </a:solidFill>
              <a:latin typeface="等线"/>
              <a:ea typeface="等线"/>
              <a:cs typeface="等线"/>
            </a:endParaRPr>
          </a:p>
          <a:p>
            <a:pPr algn="l"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 dirty="0" err="1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再看页面有没有变化</a:t>
            </a:r>
            <a:br>
              <a:rPr lang="en-US" sz="2325" b="0" dirty="0">
                <a:solidFill>
                  <a:srgbClr val="172337"/>
                </a:solidFill>
                <a:latin typeface="等线"/>
                <a:ea typeface="等线"/>
                <a:cs typeface="等线"/>
              </a:rPr>
            </a:br>
            <a:br>
              <a:rPr lang="en-US" sz="2325" b="0" dirty="0">
                <a:solidFill>
                  <a:srgbClr val="172337"/>
                </a:solidFill>
                <a:latin typeface="等线"/>
                <a:ea typeface="等线"/>
                <a:cs typeface="等线"/>
              </a:rPr>
            </a:br>
            <a:r>
              <a:rPr lang="zh-CN" altLang="en-US" dirty="0"/>
              <a:t>一般来说，使用</a:t>
            </a:r>
            <a:r>
              <a:rPr lang="en-US" altLang="zh-CN" dirty="0"/>
              <a:t>Agent</a:t>
            </a:r>
            <a:r>
              <a:rPr lang="zh-CN" altLang="en-US" dirty="0"/>
              <a:t>自己的浏览器效果会更好</a:t>
            </a:r>
            <a:endParaRPr sz="2325" b="0" dirty="0">
              <a:solidFill>
                <a:srgbClr val="172337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" name="每次动作后，都要重新读取页面状态。">
            <a:extLst>
              <a:ext uri="{FF2B5EF4-FFF2-40B4-BE49-F238E27FC236}">
                <a16:creationId xmlns:a16="http://schemas.microsoft.com/office/drawing/2014/main" id="{F1390008-E1D4-4764-9147-10C1F6CCE433}"/>
              </a:ext>
            </a:extLst>
          </p:cNvPr>
          <p:cNvSpPr>
            <a:spLocks noGrp="1"/>
          </p:cNvSpPr>
          <p:nvPr/>
        </p:nvSpPr>
        <p:spPr>
          <a:xfrm>
            <a:off x="628650" y="58293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buNone/>
              <a:defRPr sz="217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每做一次操作，再读一次页面。</a:t>
            </a:r>
          </a:p>
        </p:txBody>
      </p:sp>
      <p:sp>
        <p:nvSpPr>
          <p:cNvPr id="7" name="47">
            <a:extLst>
              <a:ext uri="{FF2B5EF4-FFF2-40B4-BE49-F238E27FC236}">
                <a16:creationId xmlns:a16="http://schemas.microsoft.com/office/drawing/2014/main" id="{89F7413E-1F4A-4626-B83C-023D6AB0D3BB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47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944669-10A6-EE24-2259-01D5CA5EE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8" y="1053854"/>
            <a:ext cx="7695880" cy="459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07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多个 Agent 的分工与代价">
            <a:extLst>
              <a:ext uri="{FF2B5EF4-FFF2-40B4-BE49-F238E27FC236}">
                <a16:creationId xmlns:a16="http://schemas.microsoft.com/office/drawing/2014/main" id="{47F14AF0-81C7-4428-8244-F2C182959AF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>
              <a:buNone/>
              <a:def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3450" b="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多 Agent：分工与通信开销</a:t>
            </a:r>
          </a:p>
        </p:txBody>
      </p:sp>
      <p:sp>
        <p:nvSpPr>
          <p:cNvPr id="2" name="可拆分的工作：资料检索、数值计算、结果复核。">
            <a:extLst>
              <a:ext uri="{FF2B5EF4-FFF2-40B4-BE49-F238E27FC236}">
                <a16:creationId xmlns:a16="http://schemas.microsoft.com/office/drawing/2014/main" id="{42319097-3728-43DF-8BAB-C8EFE610F3E1}"/>
              </a:ext>
            </a:extLst>
          </p:cNvPr>
          <p:cNvSpPr>
            <a:spLocks noGrp="1"/>
          </p:cNvSpPr>
          <p:nvPr/>
        </p:nvSpPr>
        <p:spPr>
          <a:xfrm>
            <a:off x="714375" y="1657350"/>
            <a:ext cx="10715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700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700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可以把检索、计算和复核分给不同 Agent。</a:t>
            </a:r>
          </a:p>
        </p:txBody>
      </p:sp>
      <p:sp>
        <p:nvSpPr>
          <p:cNvPr id="3" name="并行执行需要处理依赖和结果合并。">
            <a:extLst>
              <a:ext uri="{FF2B5EF4-FFF2-40B4-BE49-F238E27FC236}">
                <a16:creationId xmlns:a16="http://schemas.microsoft.com/office/drawing/2014/main" id="{36C48BDE-BE3D-4094-9B80-87551C633438}"/>
              </a:ext>
            </a:extLst>
          </p:cNvPr>
          <p:cNvSpPr>
            <a:spLocks noGrp="1"/>
          </p:cNvSpPr>
          <p:nvPr/>
        </p:nvSpPr>
        <p:spPr>
          <a:xfrm>
            <a:off x="714375" y="323850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并行执行需要处理依赖和结果合并。</a:t>
            </a:r>
          </a:p>
        </p:txBody>
      </p:sp>
      <p:sp>
        <p:nvSpPr>
          <p:cNvPr id="4" name="不同角色可能重复同一个错误前提。">
            <a:extLst>
              <a:ext uri="{FF2B5EF4-FFF2-40B4-BE49-F238E27FC236}">
                <a16:creationId xmlns:a16="http://schemas.microsoft.com/office/drawing/2014/main" id="{525BF2B2-64DB-406C-B311-41A7F0532BC6}"/>
              </a:ext>
            </a:extLst>
          </p:cNvPr>
          <p:cNvSpPr>
            <a:spLocks noGrp="1"/>
          </p:cNvSpPr>
          <p:nvPr/>
        </p:nvSpPr>
        <p:spPr>
          <a:xfrm>
            <a:off x="714375" y="409575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分工不同，也可能沿用同一个错误前提。</a:t>
            </a:r>
          </a:p>
        </p:txBody>
      </p:sp>
      <p:sp>
        <p:nvSpPr>
          <p:cNvPr id="5" name="比较时固定任务和总预算，单独统计协调成本。">
            <a:extLst>
              <a:ext uri="{FF2B5EF4-FFF2-40B4-BE49-F238E27FC236}">
                <a16:creationId xmlns:a16="http://schemas.microsoft.com/office/drawing/2014/main" id="{AEA4A435-121A-42FB-B5AA-FD8B0C66364F}"/>
              </a:ext>
            </a:extLst>
          </p:cNvPr>
          <p:cNvSpPr>
            <a:spLocks noGrp="1"/>
          </p:cNvSpPr>
          <p:nvPr/>
        </p:nvSpPr>
        <p:spPr>
          <a:xfrm>
            <a:off x="714375" y="495300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defPPr>
            <a:lvl1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1pPr>
            <a:lvl2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5pPr>
            <a:lvl6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6pPr>
            <a:lvl7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7pPr>
            <a:lvl8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8pPr>
            <a:lvl9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lvl9pPr>
          </a:lstStyle>
          <a:p>
            <a:pPr>
              <a:buNone/>
              <a:defRPr sz="2325" b="0">
                <a:solidFill>
                  <a:srgbClr val="172337"/>
                </a:solidFill>
                <a:latin typeface="等线"/>
                <a:ea typeface="等线"/>
                <a:cs typeface="等线"/>
              </a:defRPr>
            </a:pPr>
            <a:r>
              <a:rPr sz="2325" b="0">
                <a:solidFill>
                  <a:srgbClr val="172337"/>
                </a:solidFill>
                <a:latin typeface="等线"/>
                <a:ea typeface="等线"/>
                <a:cs typeface="等线"/>
              </a:rPr>
              <a:t>用相同任务和预算比较，并计入通信开销。</a:t>
            </a:r>
          </a:p>
        </p:txBody>
      </p:sp>
      <p:sp>
        <p:nvSpPr>
          <p:cNvPr id="8" name="48">
            <a:extLst>
              <a:ext uri="{FF2B5EF4-FFF2-40B4-BE49-F238E27FC236}">
                <a16:creationId xmlns:a16="http://schemas.microsoft.com/office/drawing/2014/main" id="{126F9C5B-3CD7-4B27-8F5E-3845B4327121}"/>
              </a:ext>
            </a:extLst>
          </p:cNvPr>
          <p:cNvSpPr>
            <a:spLocks noGrp="1"/>
          </p:cNvSpPr>
          <p:nvPr/>
        </p:nvSpPr>
        <p:spPr>
          <a:xfrm>
            <a:off x="11077575" y="63341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275">
                <a:solidFill>
                  <a:srgbClr val="53657B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53657B"/>
                </a:solidFill>
                <a:latin typeface="Consolas"/>
                <a:ea typeface="Consolas"/>
                <a:cs typeface="Consola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45960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&amp;A">
            <a:extLst>
              <a:ext uri="{FF2B5EF4-FFF2-40B4-BE49-F238E27FC236}">
                <a16:creationId xmlns:a16="http://schemas.microsoft.com/office/drawing/2014/main" id="{A1EAF261-F8E2-412C-AD3D-8BBBA6E7A010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defPPr>
            <a:lvl1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1pPr>
            <a:lvl2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2pPr>
            <a:lvl3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3pPr>
            <a:lvl4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4pPr>
            <a:lvl5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5pPr>
            <a:lvl6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6pPr>
            <a:lvl7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7pPr>
            <a:lvl8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8pPr>
            <a:lvl9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lvl9pPr>
          </a:lstStyle>
          <a:p>
            <a:pPr algn="ctr">
              <a:buNone/>
              <a:def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defRPr>
            </a:pPr>
            <a:r>
              <a:rPr sz="6600">
                <a:solidFill>
                  <a:srgbClr val="172337"/>
                </a:solidFill>
                <a:latin typeface="等线 Light"/>
                <a:ea typeface="等线 Light"/>
                <a:cs typeface="等线 Ligh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2006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4352</Words>
  <Application>Microsoft Office PowerPoint</Application>
  <DocSecurity>0</DocSecurity>
  <PresentationFormat>宽屏</PresentationFormat>
  <Paragraphs>712</Paragraphs>
  <Slides>49</Slides>
  <Notes>49</Notes>
  <HiddenSlides>0</HiddenSlides>
  <MMClips>2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5" baseType="lpstr">
      <vt:lpstr>等线</vt:lpstr>
      <vt:lpstr>等线 Light</vt:lpstr>
      <vt:lpstr>Arial</vt:lpstr>
      <vt:lpstr>Cambria Math</vt:lpstr>
      <vt:lpstr>Consolas</vt:lpstr>
      <vt:lpstr>Office 主题​​</vt:lpstr>
      <vt:lpstr>Few shots of AI Agents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Jiazhou Xu</cp:lastModifiedBy>
  <cp:revision>17</cp:revision>
  <dcterms:created xsi:type="dcterms:W3CDTF">2026-10-29T07:51:56Z</dcterms:created>
  <dcterms:modified xsi:type="dcterms:W3CDTF">2026-10-29T13:05:05Z</dcterms:modified>
</cp:coreProperties>
</file>