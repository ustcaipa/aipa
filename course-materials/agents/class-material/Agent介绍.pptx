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开场：这次只讲大模型时代的 Agent。沿着产品和能力变化来理解概念，不展开底层实现。时间线从 2022 年 11 月 ChatGPT 发布开始。</a:t>
            </a:r>
          </a:p>
          <a:p/>
          <a:p>
            <a:r>
              <a:t>资料来源（核对日期：2026-10-28）</a:t>
            </a:r>
          </a:p>
          <a:p/>
          <a:p/>
          <a:p>
            <a:r>
              <a:t>改编依据：用户提供的 chapter-3 part 4.pptx。示意案例为讲解用途，非产品实测或性能承诺。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总览是教学性阶段划分，不代表旧能力被新能力取代，也不代表每个产品都只属于一个阶段。OpenClaw 的前身始于 2025 年 11 月，正式命名发生在 2026 年 1 月。</a:t>
            </a:r>
          </a:p>
          <a:p/>
          <a:p>
            <a:r>
              <a:t>资料来源（核对日期：2026-10-28）</a:t>
            </a:r>
          </a:p>
          <a:p>
            <a:r>
              <a:t>[01] ChatGPT 发布 | OpenAI | 2022-11-30 | https://openai.com/index/chatgpt/</a:t>
            </a:r>
          </a:p>
          <a:p>
            <a:r>
              <a:t>[04] Function Calling | OpenAI | 2023-06-13 | https://openai.com/index/function-calling-and-other-api-updates/</a:t>
            </a:r>
          </a:p>
          <a:p>
            <a:r>
              <a:t>[07] MCP 发布 | Anthropic | 2024-11-25 | https://www.anthropic.com/news/model-context-protocol</a:t>
            </a:r>
          </a:p>
          <a:p>
            <a:r>
              <a:t>[13] ChatGPT Agent 发布 | OpenAI | 2025-07-17 | https://openai.com/index/introducing-chatgpt-agent/</a:t>
            </a:r>
          </a:p>
          <a:p>
            <a:r>
              <a:t>[14] OpenClaw 正式命名 | OpenClaw | 2026-01-29 | https://openclaw.ai/blog/introducing-openclaw</a:t>
            </a:r>
          </a:p>
          <a:p>
            <a:r>
              <a:t>[15] Hermes Agent 项目与能力 | Nous Research | 2026 年案例 | https://github.com/NousResearch/hermes-agent</a:t>
            </a:r>
          </a:p>
          <a:p/>
          <a:p>
            <a:r>
              <a:t>改编依据：用户提供的 chapter-3 part 4.pptx。示意案例为讲解用途，非产品实测或性能承诺。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ChatGPT 于 2022 年 11 月 30 日以研究预览形式发布。这里讨论的是发布时以对话为主的体验，而不是把今天的 ChatGPT 限定为纯聊天工具。右侧对话为自绘示意。</a:t>
            </a:r>
          </a:p>
          <a:p/>
          <a:p>
            <a:r>
              <a:t>资料来源（核对日期：2026-10-28）</a:t>
            </a:r>
          </a:p>
          <a:p>
            <a:r>
              <a:t>[01] ChatGPT 发布 | OpenAI | 2022-11-30 | https://openai.com/index/chatgpt/</a:t>
            </a:r>
          </a:p>
          <a:p/>
          <a:p>
            <a:r>
              <a:t>改编依据：用户提供的 chapter-3 part 4.pptx。示意案例为讲解用途，非产品实测或性能承诺。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以教学例子说明动机。初始 ChatGPT 常见限制包含事实错误；插件发布文章进一步解释语言模型原本主要输出文本，需要其他流程实际执行。这不是对今天所有聊天产品能力的结论。</a:t>
            </a:r>
          </a:p>
          <a:p/>
          <a:p>
            <a:r>
              <a:t>资料来源（核对日期：2026-10-28）</a:t>
            </a:r>
          </a:p>
          <a:p>
            <a:r>
              <a:t>[01] ChatGPT 发布 | OpenAI | 2022-11-30 | https://openai.com/index/chatgpt/</a:t>
            </a:r>
          </a:p>
          <a:p>
            <a:r>
              <a:t>[02] ChatGPT Plugins | OpenAI | 2023-03-23 | https://openai.com/index/chatgpt-plugins/</a:t>
            </a:r>
          </a:p>
          <a:p/>
          <a:p>
            <a:r>
              <a:t>改编依据：用户提供的 chapter-3 part 4.pptx。示意案例为讲解用途，非产品实测或性能承诺。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插件功能于 2023 年 3 月 23 日公布。讲解当时历史作用，不介绍已变化的现行插件产品入口。工具调用是构建 Agent 的条件之一，是否为 Agent 还取决于任务决策和执行循环。</a:t>
            </a:r>
          </a:p>
          <a:p/>
          <a:p>
            <a:r>
              <a:t>资料来源（核对日期：2026-10-28）</a:t>
            </a:r>
          </a:p>
          <a:p>
            <a:r>
              <a:t>[02] ChatGPT Plugins | OpenAI | 2023-03-23 | https://openai.com/index/chatgpt-plugins/</a:t>
            </a:r>
          </a:p>
          <a:p/>
          <a:p>
            <a:r>
              <a:t>改编依据：用户提供的 chapter-3 part 4.pptx。示意案例为讲解用途，非产品实测或性能承诺。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参考课件以 2023 年春 AutoGPT 热潮作为节点，本稿采用季节而非把传播月份当成精确首发日。项目定位和能力由官方仓库辅助核验。流程图为概念示意，不是当前平台架构图。</a:t>
            </a:r>
          </a:p>
          <a:p/>
          <a:p>
            <a:r>
              <a:t>资料来源（核对日期：2026-10-28）</a:t>
            </a:r>
          </a:p>
          <a:p>
            <a:r>
              <a:t>[03] AutoGPT 项目 | Significant Gravitas | 项目资料 | https://github.com/Significant-Gravitas/AutoGPT</a:t>
            </a:r>
          </a:p>
          <a:p/>
          <a:p>
            <a:r>
              <a:t>改编依据：用户提供的 chapter-3 part 4.pptx。示意案例为讲解用途，非产品实测或性能承诺。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OpenAI 于 2023 年 6 月 13 日公布函数调用能力。准确区分：模型生成调用请求与参数；外部应用执行工具，并把结果送回。此页只解释职责，不展示 JSON、API 参数或底层实现。</a:t>
            </a:r>
          </a:p>
          <a:p/>
          <a:p>
            <a:r>
              <a:t>资料来源（核对日期：2026-10-28）</a:t>
            </a:r>
          </a:p>
          <a:p>
            <a:r>
              <a:t>[04] Function Calling | OpenAI | 2023-06-13 | https://openai.com/index/function-calling-and-other-api-updates/</a:t>
            </a:r>
          </a:p>
          <a:p/>
          <a:p>
            <a:r>
              <a:t>改编依据：用户提供的 chapter-3 part 4.pptx。示意案例为讲解用途，非产品实测或性能承诺。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微软研究院于 2023 年 9 月 25 日介绍 AutoGen。论文式写作的三个角色是自绘教学例子，说明角色分工，不宣称产品默认包含这三个 Agent。</a:t>
            </a:r>
          </a:p>
          <a:p/>
          <a:p>
            <a:r>
              <a:t>资料来源（核对日期：2026-10-28）</a:t>
            </a:r>
          </a:p>
          <a:p>
            <a:r>
              <a:t>[05] AutoGen 发布 | Microsoft Research | 2023-09-25 | https://www.microsoft.com/en-us/research/blog/autogen-enabling-next-generation-large-language-model-applications/</a:t>
            </a:r>
          </a:p>
          <a:p/>
          <a:p>
            <a:r>
              <a:t>改编依据：用户提供的 chapter-3 part 4.pptx。示意案例为讲解用途，非产品实测或性能承诺。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沿用参考课件“Agent vs Chatbot vs Workflow”的概念，简化为目标、判断、行动、反馈四项。此定义是本报告采用的工作性解释，不把所有智能体研究归为同一种架构。</a:t>
            </a:r>
          </a:p>
          <a:p/>
          <a:p>
            <a:r>
              <a:t>资料来源（核对日期：2026-10-28）</a:t>
            </a:r>
          </a:p>
          <a:p>
            <a:r>
              <a:t>[04] Function Calling | OpenAI | 2023-06-13 | https://openai.com/index/function-calling-and-other-api-updates/</a:t>
            </a:r>
          </a:p>
          <a:p>
            <a:r>
              <a:t>[05] AutoGen 发布 | Microsoft Research | 2023-09-25 | https://www.microsoft.com/en-us/research/blog/autogen-enabling-next-generation-large-language-model-applications/</a:t>
            </a:r>
          </a:p>
          <a:p/>
          <a:p>
            <a:r>
              <a:t>改编依据：用户提供的 chapter-3 part 4.pptx。示意案例为讲解用途，非产品实测或性能承诺。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Computer Use 于 2024 年 10 月 22 日以公开测试形式推出，可观察屏幕、移动光标、点击和输入。发布时被明确描述为实验性、可能出错。界面为自绘示意，不是产品截图。</a:t>
            </a:r>
          </a:p>
          <a:p/>
          <a:p>
            <a:r>
              <a:t>资料来源（核对日期：2026-10-28）</a:t>
            </a:r>
          </a:p>
          <a:p>
            <a:r>
              <a:t>[06] Computer Use 公开测试 | Anthropic | 2024-10-22 | https://www.anthropic.com/news/3-5-models-and-computer-use</a:t>
            </a:r>
          </a:p>
          <a:p/>
          <a:p>
            <a:r>
              <a:t>改编依据：用户提供的 chapter-3 part 4.pptx。示意案例为讲解用途，非产品实测或性能承诺。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Anthropic 于 2024 年 11 月 25 日发布 MCP。此页用概念连接图说明降低集成碎片化的目标，没有展示客户端、服务器及消息协议的底层细节。不能把 MCP 当成模型本身或万能能力。</a:t>
            </a:r>
          </a:p>
          <a:p/>
          <a:p>
            <a:r>
              <a:t>资料来源（核对日期：2026-10-28）</a:t>
            </a:r>
          </a:p>
          <a:p>
            <a:r>
              <a:t>[07] MCP 发布 | Anthropic | 2024-11-25 | https://www.anthropic.com/news/model-context-protocol</a:t>
            </a:r>
          </a:p>
          <a:p/>
          <a:p>
            <a:r>
              <a:t>改编依据：用户提供的 chapter-3 part 4.pptx。示意案例为讲解用途，非产品实测或性能承诺。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Operator 于 2025 年 1 月 23 日发布研究预览，可通过点击、输入、滚动使用网页。酒店筛选是自拟教学任务，不表示服务承诺。2025 年 7 月该能力并入 ChatGPT Agent，后文继续介绍。</a:t>
            </a:r>
          </a:p>
          <a:p/>
          <a:p>
            <a:r>
              <a:t>资料来源（核对日期：2026-10-28）</a:t>
            </a:r>
          </a:p>
          <a:p>
            <a:r>
              <a:t>[08] Operator 发布 | OpenAI | 2025-01-23 | https://openai.com/index/introducing-operator/</a:t>
            </a:r>
          </a:p>
          <a:p/>
          <a:p>
            <a:r>
              <a:t>改编依据：用户提供的 chapter-3 part 4.pptx。示意案例为讲解用途，非产品实测或性能承诺。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OpenAI 于 2025 年 2 月 2 日发布 Deep Research。重点介绍多步网上研究与引用报告。引用并不保证观点一定正确，报告仍需要使用者核对关键证据。例子是教学用途。</a:t>
            </a:r>
          </a:p>
          <a:p/>
          <a:p>
            <a:r>
              <a:t>资料来源（核对日期：2026-10-28）</a:t>
            </a:r>
          </a:p>
          <a:p>
            <a:r>
              <a:t>[09] Deep Research 发布 | OpenAI | 2025-02-02 | https://openai.com/index/introducing-deep-research/</a:t>
            </a:r>
          </a:p>
          <a:p/>
          <a:p>
            <a:r>
              <a:t>改编依据：用户提供的 chapter-3 part 4.pptx。示意案例为讲解用途，非产品实测或性能承诺。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Claude Code 于 2025 年 2 月 24 日以有限研究预览形式公布。这里介绍该历史节点，避免把研究预览日期误写成后续正式可用日期。流程是基于项目操作能力概括的教学图。</a:t>
            </a:r>
          </a:p>
          <a:p/>
          <a:p>
            <a:r>
              <a:t>资料来源（核对日期：2026-10-28）</a:t>
            </a:r>
          </a:p>
          <a:p>
            <a:r>
              <a:t>[10] Claude Code 研究预览 | Anthropic | 2025-02-24 | https://www.anthropic.com/news/claude-3-7-sonnet</a:t>
            </a:r>
          </a:p>
          <a:p/>
          <a:p>
            <a:r>
              <a:t>改编依据：用户提供的 chapter-3 part 4.pptx。示意案例为讲解用途，非产品实测或性能承诺。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沿参考课件保留 Manus 作为通用任务 Agent 案例。时间用 2025 年春，不声称精确首发日期；官方一周年回顾用于核验其围绕任务构建网站、获取数据和产出成果的定位。左右案例自拟，非实测记录。</a:t>
            </a:r>
          </a:p>
          <a:p/>
          <a:p>
            <a:r>
              <a:t>资料来源（核对日期：2026-10-28）</a:t>
            </a:r>
          </a:p>
          <a:p>
            <a:r>
              <a:t>[11] Manus 一周年回顾 | Manus | 2026-03-12 | https://manus.im/blog/year-one</a:t>
            </a:r>
          </a:p>
          <a:p/>
          <a:p>
            <a:r>
              <a:t>改编依据：用户提供的 chapter-3 part 4.pptx。示意案例为讲解用途，非产品实测或性能承诺。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Codex CLI 于 2025 年 4 月公开推出；本页只标月份，区别于 5 月的云端 Agent 研究预览。终端示意为教学绘制，不是运行截图。实际可执行操作受本地环境、权限和配置约束。官方文档：https://developers.openai.com/codex/cli/；官方开源仓库：https://github.com/openai/codex 。2021 年同名模型不在本稿自 2022 年开始的叙事范围内。</a:t>
            </a:r>
          </a:p>
          <a:p/>
          <a:p>
            <a:r>
              <a:t>资料来源（核对日期：2026-10-28）</a:t>
            </a:r>
          </a:p>
          <a:p>
            <a:r>
              <a:t>[12] Codex 云端 Agent 研究预览 | OpenAI | 2025-05-16 | https://openai.com/index/introducing-codex/</a:t>
            </a:r>
          </a:p>
          <a:p/>
          <a:p>
            <a:r>
              <a:t>改编依据：用户提供的 chapter-3 part 4.pptx。示意案例为讲解用途，非产品实测或性能承诺。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日期对应 2025 年 5 月 16 日云端软件工程 Agent 的研究预览，不是 2021 年同名代码模型的发布时间，也不是 CLI 首次公开时间。此页仅概述当时隔离环境中读写代码、运行测试和提交审查的体验。</a:t>
            </a:r>
          </a:p>
          <a:p/>
          <a:p>
            <a:r>
              <a:t>资料来源（核对日期：2026-10-28）</a:t>
            </a:r>
          </a:p>
          <a:p>
            <a:r>
              <a:t>[12] Codex 云端 Agent 研究预览 | OpenAI | 2025-05-16 | https://openai.com/index/introducing-codex/</a:t>
            </a:r>
          </a:p>
          <a:p/>
          <a:p>
            <a:r>
              <a:t>改编依据：用户提供的 chapter-3 part 4.pptx。示意案例为讲解用途，非产品实测或性能承诺。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科研代码任务为自拟概念案例，非产品演示、运行记录或成功率承诺。需具备项目依赖、可读数据和相应执行权限。交付结果由研究者检查，尤其是数据处理逻辑与图表结论。只介绍工程协作方式，不展开模型或 API 底层技术。</a:t>
            </a:r>
          </a:p>
          <a:p/>
          <a:p>
            <a:r>
              <a:t>资料来源（核对日期：2026-10-28）</a:t>
            </a:r>
          </a:p>
          <a:p>
            <a:r>
              <a:t>[12] Codex 云端 Agent 研究预览 | OpenAI | 2025-05-16 | https://openai.com/index/introducing-codex/</a:t>
            </a:r>
          </a:p>
          <a:p/>
          <a:p>
            <a:r>
              <a:t>改编依据：用户提供的 chapter-3 part 4.pptx。示意案例为讲解用途，非产品实测或性能承诺。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2025 年 7 月 17 日 ChatGPT Agent 发布，整合 Operator 的网页交互与 Deep Research 的信息综合，并加入终端和连接器等能力。讲解历史发布，不描述今天的套餐与可用性。</a:t>
            </a:r>
          </a:p>
          <a:p/>
          <a:p>
            <a:r>
              <a:t>资料来源（核对日期：2026-10-28）</a:t>
            </a:r>
          </a:p>
          <a:p>
            <a:r>
              <a:t>[13] ChatGPT Agent 发布 | OpenAI | 2025-07-17 | https://openai.com/index/introducing-chatgpt-agent/</a:t>
            </a:r>
          </a:p>
          <a:p/>
          <a:p>
            <a:r>
              <a:t>改编依据：用户提供的 chapter-3 part 4.pptx。示意案例为讲解用途，非产品实测或性能承诺。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官方 Introducing OpenClaw 文章日期为 2026 年 1 月 29 日，并明确前身 Clawd 于 2025 年 11 月诞生、随后更名 Moltbot。本稿据此更正参考课件中“2025 年 12 月即改名 OpenClaw”的说法。不使用未核验的星标排行或增长数字。</a:t>
            </a:r>
          </a:p>
          <a:p/>
          <a:p>
            <a:r>
              <a:t>资料来源（核对日期：2026-10-28）</a:t>
            </a:r>
          </a:p>
          <a:p>
            <a:r>
              <a:t>[14] OpenClaw 正式命名 | OpenClaw | 2026-01-29 | https://openclaw.ai/blog/introducing-openclaw</a:t>
            </a:r>
          </a:p>
          <a:p/>
          <a:p>
            <a:r>
              <a:t>改编依据：用户提供的 chapter-3 part 4.pptx。示意案例为讲解用途，非产品实测或性能承诺。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OpenClaw 官方定位为可在用户选择的机器运行、通过现有聊天应用工作的开源 Agent 平台。示意图反映使用方式，不将它描述为只做网关，或承诺全部数据永不离机。实际权限与数据流取决于配置和模型服务。</a:t>
            </a:r>
          </a:p>
          <a:p/>
          <a:p>
            <a:r>
              <a:t>资料来源（核对日期：2026-10-28）</a:t>
            </a:r>
          </a:p>
          <a:p>
            <a:r>
              <a:t>[14] OpenClaw 正式命名 | OpenClaw | 2026-01-29 | https://openclaw.ai/blog/introducing-openclaw</a:t>
            </a:r>
          </a:p>
          <a:p/>
          <a:p>
            <a:r>
              <a:t>改编依据：用户提供的 chapter-3 part 4.pptx。示意案例为讲解用途，非产品实测或性能承诺。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官方仓库介绍 Hermes 的闭环学习、跨会话记忆、从经验创建与改进技能，并支持消息入口和任务调度。本页只标 2026 年案例，不把未充分核验的月份写成首发日。能力依据查阅时的官方资料，不比较绝对性能或安全优劣。</a:t>
            </a:r>
          </a:p>
          <a:p/>
          <a:p>
            <a:r>
              <a:t>资料来源（核对日期：2026-10-28）</a:t>
            </a:r>
          </a:p>
          <a:p>
            <a:r>
              <a:t>[15] Hermes Agent 项目与能力 | Nous Research | 2026 年案例 | https://github.com/NousResearch/hermes-agent</a:t>
            </a:r>
          </a:p>
          <a:p>
            <a:r>
              <a:t>[16] Hermes 产品介绍 | Nous Research | 查阅 2026-10-28 | https://hermes-agent.nousresearch.com/</a:t>
            </a:r>
          </a:p>
          <a:p/>
          <a:p>
            <a:r>
              <a:t>改编依据：用户提供的 chapter-3 part 4.pptx。示意案例为讲解用途，非产品实测或性能承诺。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这是基于官方定位的教学对照，不是测评。避免原课件中“OpenClaw 只有网关、Hermes 才有执行引擎”等过强二分，也不重复未核验的固定技能数量、内存预算和安全层数。</a:t>
            </a:r>
          </a:p>
          <a:p/>
          <a:p>
            <a:r>
              <a:t>资料来源（核对日期：2026-10-28）</a:t>
            </a:r>
          </a:p>
          <a:p>
            <a:r>
              <a:t>[14] OpenClaw 正式命名 | OpenClaw | 2026-01-29 | https://openclaw.ai/blog/introducing-openclaw</a:t>
            </a:r>
          </a:p>
          <a:p>
            <a:r>
              <a:t>[15] Hermes Agent 项目与能力 | Nous Research | 2026 年案例 | https://github.com/NousResearch/hermes-agent</a:t>
            </a:r>
          </a:p>
          <a:p>
            <a:r>
              <a:t>[16] Hermes 产品介绍 | Nous Research | 查阅 2026-10-28 | https://hermes-agent.nousresearch.com/</a:t>
            </a:r>
          </a:p>
          <a:p/>
          <a:p>
            <a:r>
              <a:t>改编依据：用户提供的 chapter-3 part 4.pptx。示意案例为讲解用途，非产品实测或性能承诺。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收束只回顾已介绍的历史和能力，不设置未来展望或操作演示。年度划分为教学简化，不表示所有产品都在同一时间具备全部能力。</a:t>
            </a:r>
          </a:p>
          <a:p/>
          <a:p>
            <a:r>
              <a:t>资料来源（核对日期：2026-10-28）</a:t>
            </a:r>
          </a:p>
          <a:p>
            <a:r>
              <a:t>[01] ChatGPT 发布 | OpenAI | 2022-11-30 | https://openai.com/index/chatgpt/</a:t>
            </a:r>
          </a:p>
          <a:p>
            <a:r>
              <a:t>[04] Function Calling | OpenAI | 2023-06-13 | https://openai.com/index/function-calling-and-other-api-updates/</a:t>
            </a:r>
          </a:p>
          <a:p>
            <a:r>
              <a:t>[07] MCP 发布 | Anthropic | 2024-11-25 | https://www.anthropic.com/news/model-context-protocol</a:t>
            </a:r>
          </a:p>
          <a:p>
            <a:r>
              <a:t>[13] ChatGPT Agent 发布 | OpenAI | 2025-07-17 | https://openai.com/index/introducing-chatgpt-agent/</a:t>
            </a:r>
          </a:p>
          <a:p>
            <a:r>
              <a:t>[14] OpenClaw 正式命名 | OpenClaw | 2026-01-29 | https://openclaw.ai/blog/introducing-openclaw</a:t>
            </a:r>
          </a:p>
          <a:p>
            <a:r>
              <a:t>[15] Hermes Agent 项目与能力 | Nous Research | 2026 年案例 | https://github.com/NousResearch/hermes-agent</a:t>
            </a:r>
          </a:p>
          <a:p/>
          <a:p>
            <a:r>
              <a:t>改编依据：用户提供的 chapter-3 part 4.pptx。示意案例为讲解用途，非产品实测或性能承诺。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资料索引。保留精确来源 URL；正文不加入未经核验的增长排行和夸张引语。</a:t>
            </a:r>
          </a:p>
          <a:p/>
          <a:p>
            <a:r>
              <a:t>资料来源（核对日期：2026-10-28）</a:t>
            </a:r>
          </a:p>
          <a:p>
            <a:r>
              <a:t>[01] ChatGPT 发布 | OpenAI | 2022-11-30 | https://openai.com/index/chatgpt/</a:t>
            </a:r>
          </a:p>
          <a:p>
            <a:r>
              <a:t>[02] ChatGPT Plugins | OpenAI | 2023-03-23 | https://openai.com/index/chatgpt-plugins/</a:t>
            </a:r>
          </a:p>
          <a:p>
            <a:r>
              <a:t>[03] AutoGPT 项目 | Significant Gravitas | 项目资料 | https://github.com/Significant-Gravitas/AutoGPT</a:t>
            </a:r>
          </a:p>
          <a:p>
            <a:r>
              <a:t>[04] Function Calling | OpenAI | 2023-06-13 | https://openai.com/index/function-calling-and-other-api-updates/</a:t>
            </a:r>
          </a:p>
          <a:p>
            <a:r>
              <a:t>[05] AutoGen 发布 | Microsoft Research | 2023-09-25 | https://www.microsoft.com/en-us/research/blog/autogen-enabling-next-generation-large-language-model-applications/</a:t>
            </a:r>
          </a:p>
          <a:p>
            <a:r>
              <a:t>[06] Computer Use 公开测试 | Anthropic | 2024-10-22 | https://www.anthropic.com/news/3-5-models-and-computer-use</a:t>
            </a:r>
          </a:p>
          <a:p>
            <a:r>
              <a:t>[07] MCP 发布 | Anthropic | 2024-11-25 | https://www.anthropic.com/news/model-context-protocol</a:t>
            </a:r>
          </a:p>
          <a:p>
            <a:r>
              <a:t>[08] Operator 发布 | OpenAI | 2025-01-23 | https://openai.com/index/introducing-operator/</a:t>
            </a:r>
          </a:p>
          <a:p/>
          <a:p>
            <a:r>
              <a:t>改编依据：用户提供的 chapter-3 part 4.pptx。示意案例为讲解用途，非产品实测或性能承诺。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资料索引。保留精确来源 URL；正文不加入未经核验的增长排行和夸张引语。</a:t>
            </a:r>
          </a:p>
          <a:p/>
          <a:p>
            <a:r>
              <a:t>资料来源（核对日期：2026-10-28）</a:t>
            </a:r>
          </a:p>
          <a:p>
            <a:r>
              <a:t>[09] Deep Research 发布 | OpenAI | 2025-02-02 | https://openai.com/index/introducing-deep-research/</a:t>
            </a:r>
          </a:p>
          <a:p>
            <a:r>
              <a:t>[10] Claude Code 研究预览 | Anthropic | 2025-02-24 | https://www.anthropic.com/news/claude-3-7-sonnet</a:t>
            </a:r>
          </a:p>
          <a:p>
            <a:r>
              <a:t>[11] Manus 一周年回顾 | Manus | 2026-03-12 | https://manus.im/blog/year-one</a:t>
            </a:r>
          </a:p>
          <a:p>
            <a:r>
              <a:t>[12] Codex 云端 Agent 研究预览 | OpenAI | 2025-05-16 | https://openai.com/index/introducing-codex/</a:t>
            </a:r>
          </a:p>
          <a:p>
            <a:r>
              <a:t>[13] ChatGPT Agent 发布 | OpenAI | 2025-07-17 | https://openai.com/index/introducing-chatgpt-agent/</a:t>
            </a:r>
          </a:p>
          <a:p>
            <a:r>
              <a:t>[14] OpenClaw 正式命名 | OpenClaw | 2026-01-29 | https://openclaw.ai/blog/introducing-openclaw</a:t>
            </a:r>
          </a:p>
          <a:p>
            <a:r>
              <a:t>[15] Hermes Agent 项目与能力 | Nous Research | 2026 年案例 | https://github.com/NousResearch/hermes-agent</a:t>
            </a:r>
          </a:p>
          <a:p>
            <a:r>
              <a:t>[16] Hermes 产品介绍 | Nous Research | 查阅 2026-10-28 | https://hermes-agent.nousresearch.com/</a:t>
            </a:r>
          </a:p>
          <a:p/>
          <a:p>
            <a:r>
              <a:t>改编依据：用户提供的 chapter-3 part 4.pptx。示意案例为讲解用途，非产品实测或性能承诺。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结束页，无未来展望和演示环节。</a:t>
            </a:r>
          </a:p>
          <a:p/>
          <a:p>
            <a:r>
              <a:t>资料来源（核对日期：2026-10-28）</a:t>
            </a:r>
          </a:p>
          <a:p/>
          <a:p/>
          <a:p>
            <a:r>
              <a:t>改编依据：用户提供的 chapter-3 part 4.pptx。示意案例为讲解用途，非产品实测或性能承诺。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openai.com/index/chatgpt/" TargetMode="Externa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openai.com/index/chatgpt/" TargetMode="Externa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openai.com/index/chatgpt/" TargetMode="Externa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openai.com/index/chatgpt-plugins/" TargetMode="Externa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ignificant-Gravitas/AutoGPT" TargetMode="Externa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openai.com/index/function-calling-and-other-api-updates/" TargetMode="Externa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icrosoft.com/en-us/research/blog/autogen-enabling-next-generation-large-language-model-applications/" TargetMode="Externa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openai.com/index/function-calling-and-other-api-updates/" TargetMode="Externa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anthropic.com/news/3-5-models-and-computer-use" TargetMode="Externa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anthropic.com/news/model-context-protocol" TargetMode="Externa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openai.com/index/introducing-operator/" TargetMode="Externa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openai.com/index/introducing-deep-research/" TargetMode="Externa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anthropic.com/news/claude-3-7-sonnet" TargetMode="Externa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anus.im/blog/year-one" TargetMode="Externa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openai.com/index/introducing-codex/" TargetMode="Externa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openai.com/index/introducing-codex/" TargetMode="Externa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openai.com/index/introducing-codex/" TargetMode="Externa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openai.com/index/introducing-chatgpt-agent/" TargetMode="Externa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openclaw.ai/blog/introducing-openclaw" TargetMode="Externa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openclaw.ai/blog/introducing-openclaw" TargetMode="Externa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NousResearch/hermes-agent" TargetMode="Externa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openclaw.ai/blog/introducing-openclaw" TargetMode="Externa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openai.com/index/chatgpt/" TargetMode="Externa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openai.com/index/chatgpt/" TargetMode="External"/><Relationship Id="rId3" Type="http://schemas.openxmlformats.org/officeDocument/2006/relationships/hyperlink" Target="https://openai.com/index/chatgpt-plugins/" TargetMode="External"/><Relationship Id="rId4" Type="http://schemas.openxmlformats.org/officeDocument/2006/relationships/hyperlink" Target="https://github.com/Significant-Gravitas/AutoGPT" TargetMode="External"/><Relationship Id="rId5" Type="http://schemas.openxmlformats.org/officeDocument/2006/relationships/hyperlink" Target="https://openai.com/index/function-calling-and-other-api-updates/" TargetMode="External"/><Relationship Id="rId6" Type="http://schemas.openxmlformats.org/officeDocument/2006/relationships/hyperlink" Target="https://www.microsoft.com/en-us/research/blog/autogen-enabling-next-generation-large-language-model-applications/" TargetMode="External"/><Relationship Id="rId7" Type="http://schemas.openxmlformats.org/officeDocument/2006/relationships/hyperlink" Target="https://www.anthropic.com/news/3-5-models-and-computer-use" TargetMode="External"/><Relationship Id="rId8" Type="http://schemas.openxmlformats.org/officeDocument/2006/relationships/hyperlink" Target="https://www.anthropic.com/news/model-context-protocol" TargetMode="External"/><Relationship Id="rId9" Type="http://schemas.openxmlformats.org/officeDocument/2006/relationships/hyperlink" Target="https://openai.com/index/introducing-operator/" TargetMode="External"/><Relationship Id="rId10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openai.com/index/introducing-deep-research/" TargetMode="External"/><Relationship Id="rId3" Type="http://schemas.openxmlformats.org/officeDocument/2006/relationships/hyperlink" Target="https://www.anthropic.com/news/claude-3-7-sonnet" TargetMode="External"/><Relationship Id="rId4" Type="http://schemas.openxmlformats.org/officeDocument/2006/relationships/hyperlink" Target="https://manus.im/blog/year-one" TargetMode="External"/><Relationship Id="rId5" Type="http://schemas.openxmlformats.org/officeDocument/2006/relationships/hyperlink" Target="https://openai.com/index/introducing-codex/" TargetMode="External"/><Relationship Id="rId6" Type="http://schemas.openxmlformats.org/officeDocument/2006/relationships/hyperlink" Target="https://openai.com/index/introducing-chatgpt-agent/" TargetMode="External"/><Relationship Id="rId7" Type="http://schemas.openxmlformats.org/officeDocument/2006/relationships/hyperlink" Target="https://openclaw.ai/blog/introducing-openclaw" TargetMode="External"/><Relationship Id="rId8" Type="http://schemas.openxmlformats.org/officeDocument/2006/relationships/hyperlink" Target="https://github.com/NousResearch/hermes-agent" TargetMode="External"/><Relationship Id="rId9" Type="http://schemas.openxmlformats.org/officeDocument/2006/relationships/hyperlink" Target="https://hermes-agent.nousresearch.com/" TargetMode="External"/><Relationship Id="rId10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91440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AGENT  /  从对话到行动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68096"/>
            <a:ext cx="1100023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从 ChatGPT 到 Agent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391656"/>
            <a:ext cx="11000232" cy="0"/>
          </a:xfrm>
          <a:prstGeom prst="line">
            <a:avLst/>
          </a:prstGeom>
          <a:ln w="15240">
            <a:solidFill>
              <a:srgbClr val="DC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12648" y="6565392"/>
            <a:ext cx="64008" cy="64008"/>
          </a:xfrm>
          <a:prstGeom prst="ellipse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2022</a:t>
            </a:r>
          </a:p>
        </p:txBody>
      </p:sp>
      <p:sp>
        <p:nvSpPr>
          <p:cNvPr id="8" name="Oval 7"/>
          <p:cNvSpPr/>
          <p:nvPr/>
        </p:nvSpPr>
        <p:spPr>
          <a:xfrm>
            <a:off x="143560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6362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2023</a:t>
            </a:r>
          </a:p>
        </p:txBody>
      </p:sp>
      <p:sp>
        <p:nvSpPr>
          <p:cNvPr id="10" name="Oval 9"/>
          <p:cNvSpPr/>
          <p:nvPr/>
        </p:nvSpPr>
        <p:spPr>
          <a:xfrm>
            <a:off x="225856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658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2024</a:t>
            </a:r>
          </a:p>
        </p:txBody>
      </p:sp>
      <p:sp>
        <p:nvSpPr>
          <p:cNvPr id="12" name="Oval 11"/>
          <p:cNvSpPr/>
          <p:nvPr/>
        </p:nvSpPr>
        <p:spPr>
          <a:xfrm>
            <a:off x="308152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954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2025</a:t>
            </a:r>
          </a:p>
        </p:txBody>
      </p:sp>
      <p:sp>
        <p:nvSpPr>
          <p:cNvPr id="14" name="Oval 13"/>
          <p:cNvSpPr/>
          <p:nvPr/>
        </p:nvSpPr>
        <p:spPr>
          <a:xfrm>
            <a:off x="390448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3250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92240"/>
            <a:ext cx="54864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594360"/>
            <a:ext cx="4023360" cy="5422392"/>
          </a:xfrm>
          <a:prstGeom prst="roundRect">
            <a:avLst>
              <a:gd name="adj" fmla="val 12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1938528"/>
            <a:ext cx="6629400" cy="1371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3500" b="1">
                <a:solidFill>
                  <a:srgbClr val="103B73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AI 如何从“会回答”</a:t>
            </a:r>
          </a:p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3500" b="1">
                <a:solidFill>
                  <a:srgbClr val="103B73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走向“能做事”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794760"/>
            <a:ext cx="6400800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一条从 2022 年开始的智能体演进线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" y="4937760"/>
            <a:ext cx="1143000" cy="301752"/>
          </a:xfrm>
          <a:prstGeom prst="roundRect">
            <a:avLst>
              <a:gd name="adj" fmla="val 12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4969764"/>
            <a:ext cx="996696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2022—2026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4937760"/>
            <a:ext cx="1280160" cy="301752"/>
          </a:xfrm>
          <a:prstGeom prst="roundRect">
            <a:avLst>
              <a:gd name="adj" fmla="val 12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66544" y="4969764"/>
            <a:ext cx="1133856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通识介绍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9000" y="4937760"/>
            <a:ext cx="1508760" cy="301752"/>
          </a:xfrm>
          <a:prstGeom prst="roundRect">
            <a:avLst>
              <a:gd name="adj" fmla="val 12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02152" y="4969764"/>
            <a:ext cx="1362456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时间线叙事</a:t>
            </a:r>
          </a:p>
        </p:txBody>
      </p:sp>
      <p:sp>
        <p:nvSpPr>
          <p:cNvPr id="26" name="Oval 25"/>
          <p:cNvSpPr/>
          <p:nvPr/>
        </p:nvSpPr>
        <p:spPr>
          <a:xfrm>
            <a:off x="8046720" y="1344168"/>
            <a:ext cx="146304" cy="146304"/>
          </a:xfrm>
          <a:prstGeom prst="ellipse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48472" y="1234440"/>
            <a:ext cx="91440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1234440"/>
            <a:ext cx="18288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对话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119872" y="1508760"/>
            <a:ext cx="0" cy="585216"/>
          </a:xfrm>
          <a:prstGeom prst="line">
            <a:avLst/>
          </a:prstGeom>
          <a:ln w="25400">
            <a:solidFill>
              <a:srgbClr val="DC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8046720" y="2167128"/>
            <a:ext cx="146304" cy="146304"/>
          </a:xfrm>
          <a:prstGeom prst="ellipse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48472" y="2057400"/>
            <a:ext cx="91440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2057400"/>
            <a:ext cx="18288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工具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119872" y="2331720"/>
            <a:ext cx="0" cy="585216"/>
          </a:xfrm>
          <a:prstGeom prst="line">
            <a:avLst/>
          </a:prstGeom>
          <a:ln w="25400">
            <a:solidFill>
              <a:srgbClr val="DC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8046720" y="2990088"/>
            <a:ext cx="146304" cy="146304"/>
          </a:xfrm>
          <a:prstGeom prst="ellipse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48472" y="2880360"/>
            <a:ext cx="91440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2880360"/>
            <a:ext cx="18288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连接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119872" y="3154680"/>
            <a:ext cx="0" cy="585216"/>
          </a:xfrm>
          <a:prstGeom prst="line">
            <a:avLst/>
          </a:prstGeom>
          <a:ln w="25400">
            <a:solidFill>
              <a:srgbClr val="DC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046720" y="3813048"/>
            <a:ext cx="146304" cy="146304"/>
          </a:xfrm>
          <a:prstGeom prst="ellipse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48472" y="3703320"/>
            <a:ext cx="91440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0" y="3703320"/>
            <a:ext cx="18288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执行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119872" y="3977640"/>
            <a:ext cx="0" cy="585216"/>
          </a:xfrm>
          <a:prstGeom prst="line">
            <a:avLst/>
          </a:prstGeom>
          <a:ln w="25400">
            <a:solidFill>
              <a:srgbClr val="DC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8046720" y="4636008"/>
            <a:ext cx="146304" cy="146304"/>
          </a:xfrm>
          <a:prstGeom prst="ellipse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48472" y="4526280"/>
            <a:ext cx="91440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20" y="4526280"/>
            <a:ext cx="18288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个人助理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91440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AGENT  /  从对话到行动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265176"/>
            <a:ext cx="1847088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2022—2026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68096"/>
            <a:ext cx="1100023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先看全景：每一年多了一种“做事能力”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927080" cy="5303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用能力变化串联事件，比记住产品名字更重要。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391656"/>
            <a:ext cx="11000232" cy="0"/>
          </a:xfrm>
          <a:prstGeom prst="line">
            <a:avLst/>
          </a:prstGeom>
          <a:ln w="15240">
            <a:solidFill>
              <a:srgbClr val="DC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1264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2022</a:t>
            </a:r>
          </a:p>
        </p:txBody>
      </p:sp>
      <p:sp>
        <p:nvSpPr>
          <p:cNvPr id="10" name="Oval 9"/>
          <p:cNvSpPr/>
          <p:nvPr/>
        </p:nvSpPr>
        <p:spPr>
          <a:xfrm>
            <a:off x="143560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6362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2023</a:t>
            </a:r>
          </a:p>
        </p:txBody>
      </p:sp>
      <p:sp>
        <p:nvSpPr>
          <p:cNvPr id="12" name="Oval 11"/>
          <p:cNvSpPr/>
          <p:nvPr/>
        </p:nvSpPr>
        <p:spPr>
          <a:xfrm>
            <a:off x="225856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8658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2024</a:t>
            </a:r>
          </a:p>
        </p:txBody>
      </p:sp>
      <p:sp>
        <p:nvSpPr>
          <p:cNvPr id="14" name="Oval 13"/>
          <p:cNvSpPr/>
          <p:nvPr/>
        </p:nvSpPr>
        <p:spPr>
          <a:xfrm>
            <a:off x="308152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954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2025</a:t>
            </a:r>
          </a:p>
        </p:txBody>
      </p:sp>
      <p:sp>
        <p:nvSpPr>
          <p:cNvPr id="16" name="Oval 15"/>
          <p:cNvSpPr/>
          <p:nvPr/>
        </p:nvSpPr>
        <p:spPr>
          <a:xfrm>
            <a:off x="390448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3250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6501384"/>
            <a:ext cx="598932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919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  <a:hlinkClick r:id="rId2"/>
              </a:rPr>
              <a:t>来源 [01] OpenAI  /  [04] OpenAI  /  [07] Anthropic  /  [13] OpenAI  /  [14] OpenClaw  /  [15] Nous Research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92240"/>
            <a:ext cx="54864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2084831"/>
            <a:ext cx="196596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2022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12648" y="2724912"/>
            <a:ext cx="2057400" cy="0"/>
          </a:xfrm>
          <a:prstGeom prst="line">
            <a:avLst/>
          </a:prstGeom>
          <a:ln w="31750">
            <a:solidFill>
              <a:srgbClr val="0047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12648" y="2651760"/>
            <a:ext cx="146304" cy="146304"/>
          </a:xfrm>
          <a:prstGeom prst="ellipse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2980944"/>
            <a:ext cx="2020824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能对话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3611880"/>
            <a:ext cx="2002536" cy="6400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008C9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ChatGPT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4434840"/>
            <a:ext cx="1965960" cy="8686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理解自然语言</a:t>
            </a:r>
          </a:p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生成文字答案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43784" y="2084831"/>
            <a:ext cx="196596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2023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843784" y="2724912"/>
            <a:ext cx="2057399" cy="0"/>
          </a:xfrm>
          <a:prstGeom prst="line">
            <a:avLst/>
          </a:prstGeom>
          <a:ln w="31750">
            <a:solidFill>
              <a:srgbClr val="0047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2843784" y="2651760"/>
            <a:ext cx="146304" cy="146304"/>
          </a:xfrm>
          <a:prstGeom prst="ellipse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43784" y="2980944"/>
            <a:ext cx="2020824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能用工具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43784" y="3611880"/>
            <a:ext cx="2002536" cy="6400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008C9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AutoGPT / 函数调用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43784" y="4434840"/>
            <a:ext cx="1965960" cy="8686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查询、计算、执行</a:t>
            </a:r>
          </a:p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尝试自主推进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4920" y="2084831"/>
            <a:ext cx="196596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2024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074920" y="2724912"/>
            <a:ext cx="2057400" cy="0"/>
          </a:xfrm>
          <a:prstGeom prst="line">
            <a:avLst/>
          </a:prstGeom>
          <a:ln w="31750">
            <a:solidFill>
              <a:srgbClr val="0047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5074920" y="2651760"/>
            <a:ext cx="146304" cy="146304"/>
          </a:xfrm>
          <a:prstGeom prst="ellipse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4920" y="2980944"/>
            <a:ext cx="2020824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能接环境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74920" y="3611880"/>
            <a:ext cx="2002536" cy="6400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008C9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Computer Use / MC</a:t>
            </a:r>
          </a:p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008C9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74920" y="4434840"/>
            <a:ext cx="1965960" cy="8686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操作图形界面</a:t>
            </a:r>
          </a:p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连接工具与数据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06056" y="2084831"/>
            <a:ext cx="196596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2025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306056" y="2724912"/>
            <a:ext cx="2057400" cy="0"/>
          </a:xfrm>
          <a:prstGeom prst="line">
            <a:avLst/>
          </a:prstGeom>
          <a:ln w="31750">
            <a:solidFill>
              <a:srgbClr val="0047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7306056" y="2651760"/>
            <a:ext cx="146304" cy="146304"/>
          </a:xfrm>
          <a:prstGeom prst="ellipse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06056" y="2980944"/>
            <a:ext cx="2020824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能交付任务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6056" y="3611880"/>
            <a:ext cx="2002536" cy="6400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008C9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Codex / Claude Cod</a:t>
            </a:r>
          </a:p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008C9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06056" y="4434840"/>
            <a:ext cx="1965960" cy="8686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围绕目标连续工作</a:t>
            </a:r>
          </a:p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交付报告与代码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37192" y="2084831"/>
            <a:ext cx="196596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2026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537192" y="2724912"/>
            <a:ext cx="2057400" cy="0"/>
          </a:xfrm>
          <a:prstGeom prst="line">
            <a:avLst/>
          </a:prstGeom>
          <a:ln w="31750">
            <a:solidFill>
              <a:srgbClr val="0047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9537192" y="2651760"/>
            <a:ext cx="146304" cy="146304"/>
          </a:xfrm>
          <a:prstGeom prst="ellipse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37192" y="2980944"/>
            <a:ext cx="2020824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能持续协作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37192" y="3611880"/>
            <a:ext cx="2002536" cy="6400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008C9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OpenClaw / Hermes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37192" y="4434840"/>
            <a:ext cx="1965960" cy="8686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多入口与长期记忆</a:t>
            </a:r>
          </a:p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面向个人工作流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" y="5660136"/>
            <a:ext cx="11000232" cy="521207"/>
          </a:xfrm>
          <a:prstGeom prst="roundRect">
            <a:avLst>
              <a:gd name="adj" fmla="val 12000"/>
            </a:avLst>
          </a:prstGeom>
          <a:solidFill>
            <a:srgbClr val="10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4672" y="5756148"/>
            <a:ext cx="1056132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主线：回答问题 → 调用工具 → 连续行动 → 围绕目标交付结果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91440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AGENT  /  从对话到行动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265176"/>
            <a:ext cx="1847088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2022.11.30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68096"/>
            <a:ext cx="1100023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2022：ChatGPT，让自然语言成为入口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927080" cy="5303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从搜索关键词、点菜单，变成直接描述自己想做什么。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391656"/>
            <a:ext cx="11000232" cy="0"/>
          </a:xfrm>
          <a:prstGeom prst="line">
            <a:avLst/>
          </a:prstGeom>
          <a:ln w="15240">
            <a:solidFill>
              <a:srgbClr val="DC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12648" y="6565392"/>
            <a:ext cx="64008" cy="64008"/>
          </a:xfrm>
          <a:prstGeom prst="ellipse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2022</a:t>
            </a:r>
          </a:p>
        </p:txBody>
      </p:sp>
      <p:sp>
        <p:nvSpPr>
          <p:cNvPr id="10" name="Oval 9"/>
          <p:cNvSpPr/>
          <p:nvPr/>
        </p:nvSpPr>
        <p:spPr>
          <a:xfrm>
            <a:off x="143560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6362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2023</a:t>
            </a:r>
          </a:p>
        </p:txBody>
      </p:sp>
      <p:sp>
        <p:nvSpPr>
          <p:cNvPr id="12" name="Oval 11"/>
          <p:cNvSpPr/>
          <p:nvPr/>
        </p:nvSpPr>
        <p:spPr>
          <a:xfrm>
            <a:off x="225856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8658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2024</a:t>
            </a:r>
          </a:p>
        </p:txBody>
      </p:sp>
      <p:sp>
        <p:nvSpPr>
          <p:cNvPr id="14" name="Oval 13"/>
          <p:cNvSpPr/>
          <p:nvPr/>
        </p:nvSpPr>
        <p:spPr>
          <a:xfrm>
            <a:off x="308152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954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2025</a:t>
            </a:r>
          </a:p>
        </p:txBody>
      </p:sp>
      <p:sp>
        <p:nvSpPr>
          <p:cNvPr id="16" name="Oval 15"/>
          <p:cNvSpPr/>
          <p:nvPr/>
        </p:nvSpPr>
        <p:spPr>
          <a:xfrm>
            <a:off x="390448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3250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6501384"/>
            <a:ext cx="598932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919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  <a:hlinkClick r:id="rId2"/>
              </a:rPr>
              <a:t>来源 [01] OpenAI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92240"/>
            <a:ext cx="54864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2130552"/>
            <a:ext cx="6492240" cy="3044952"/>
          </a:xfrm>
          <a:prstGeom prst="roundRect">
            <a:avLst>
              <a:gd name="adj" fmla="val 12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8680" y="2377440"/>
            <a:ext cx="1024128" cy="301752"/>
          </a:xfrm>
          <a:prstGeom prst="roundRect">
            <a:avLst>
              <a:gd name="adj" fmla="val 12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2409444"/>
            <a:ext cx="877824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对话示意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74519" y="2889504"/>
            <a:ext cx="4873752" cy="5760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66543" y="3017520"/>
            <a:ext cx="4480560" cy="3383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请用通俗语言解释什么是神经网络。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6" y="3712463"/>
            <a:ext cx="5230368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61288" y="3867912"/>
            <a:ext cx="4800600" cy="7863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可以把它理解为一个通过大量例子</a:t>
            </a:r>
          </a:p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学习规律的系统……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62088" y="2304288"/>
            <a:ext cx="3749039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最直观的变化</a:t>
            </a:r>
          </a:p>
        </p:txBody>
      </p:sp>
      <p:sp>
        <p:nvSpPr>
          <p:cNvPr id="28" name="Oval 27"/>
          <p:cNvSpPr/>
          <p:nvPr/>
        </p:nvSpPr>
        <p:spPr>
          <a:xfrm>
            <a:off x="7580375" y="3191256"/>
            <a:ext cx="59436" cy="59436"/>
          </a:xfrm>
          <a:prstGeom prst="ellipse">
            <a:avLst/>
          </a:prstGeom>
          <a:solidFill>
            <a:srgbClr val="008C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63255" y="3081528"/>
            <a:ext cx="3566159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850" b="0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能够追问和改写</a:t>
            </a:r>
          </a:p>
        </p:txBody>
      </p:sp>
      <p:sp>
        <p:nvSpPr>
          <p:cNvPr id="30" name="Oval 29"/>
          <p:cNvSpPr/>
          <p:nvPr/>
        </p:nvSpPr>
        <p:spPr>
          <a:xfrm>
            <a:off x="7580375" y="3886200"/>
            <a:ext cx="59436" cy="59436"/>
          </a:xfrm>
          <a:prstGeom prst="ellipse">
            <a:avLst/>
          </a:prstGeom>
          <a:solidFill>
            <a:srgbClr val="008C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63255" y="3776472"/>
            <a:ext cx="3566159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850" b="0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写作、解释与代码辅助</a:t>
            </a:r>
          </a:p>
        </p:txBody>
      </p:sp>
      <p:sp>
        <p:nvSpPr>
          <p:cNvPr id="32" name="Oval 31"/>
          <p:cNvSpPr/>
          <p:nvPr/>
        </p:nvSpPr>
        <p:spPr>
          <a:xfrm>
            <a:off x="7580375" y="4581144"/>
            <a:ext cx="59436" cy="59436"/>
          </a:xfrm>
          <a:prstGeom prst="ellipse">
            <a:avLst/>
          </a:prstGeom>
          <a:solidFill>
            <a:srgbClr val="008C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63255" y="4471416"/>
            <a:ext cx="3566159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850" b="0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以对话形式获得反馈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5660136"/>
            <a:ext cx="11000232" cy="521207"/>
          </a:xfrm>
          <a:prstGeom prst="roundRect">
            <a:avLst>
              <a:gd name="adj" fmla="val 12000"/>
            </a:avLst>
          </a:prstGeom>
          <a:solidFill>
            <a:srgbClr val="10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" y="5756148"/>
            <a:ext cx="1056132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这一阶段的核心体验：你提问，AI 给出一段答案。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91440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AGENT  /  从对话到行动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265176"/>
            <a:ext cx="1847088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2022 → 2023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68096"/>
            <a:ext cx="1100023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但“能回答”，还不等于“能完成任务”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927080" cy="5303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以“帮我整理一份文献对比表”为例，真正的工作发生在答案之外。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391656"/>
            <a:ext cx="11000232" cy="0"/>
          </a:xfrm>
          <a:prstGeom prst="line">
            <a:avLst/>
          </a:prstGeom>
          <a:ln w="15240">
            <a:solidFill>
              <a:srgbClr val="DC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12648" y="6565392"/>
            <a:ext cx="64008" cy="64008"/>
          </a:xfrm>
          <a:prstGeom prst="ellipse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2022</a:t>
            </a:r>
          </a:p>
        </p:txBody>
      </p:sp>
      <p:sp>
        <p:nvSpPr>
          <p:cNvPr id="10" name="Oval 9"/>
          <p:cNvSpPr/>
          <p:nvPr/>
        </p:nvSpPr>
        <p:spPr>
          <a:xfrm>
            <a:off x="143560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6362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2023</a:t>
            </a:r>
          </a:p>
        </p:txBody>
      </p:sp>
      <p:sp>
        <p:nvSpPr>
          <p:cNvPr id="12" name="Oval 11"/>
          <p:cNvSpPr/>
          <p:nvPr/>
        </p:nvSpPr>
        <p:spPr>
          <a:xfrm>
            <a:off x="225856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8658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2024</a:t>
            </a:r>
          </a:p>
        </p:txBody>
      </p:sp>
      <p:sp>
        <p:nvSpPr>
          <p:cNvPr id="14" name="Oval 13"/>
          <p:cNvSpPr/>
          <p:nvPr/>
        </p:nvSpPr>
        <p:spPr>
          <a:xfrm>
            <a:off x="308152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954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2025</a:t>
            </a:r>
          </a:p>
        </p:txBody>
      </p:sp>
      <p:sp>
        <p:nvSpPr>
          <p:cNvPr id="16" name="Oval 15"/>
          <p:cNvSpPr/>
          <p:nvPr/>
        </p:nvSpPr>
        <p:spPr>
          <a:xfrm>
            <a:off x="390448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3250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6501384"/>
            <a:ext cx="598932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919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  <a:hlinkClick r:id="rId2"/>
              </a:rPr>
              <a:t>来源 [01] OpenAI  /  [02] OpenAI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92240"/>
            <a:ext cx="54864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2194560"/>
            <a:ext cx="5257800" cy="297180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0160"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2194560"/>
            <a:ext cx="41148" cy="2971800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2404872"/>
            <a:ext cx="4837176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你希望获得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2898648"/>
            <a:ext cx="4837176" cy="6858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一份可以使用的文件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703320"/>
            <a:ext cx="4837176" cy="1344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检索论文、读取资料、提取信息、</a:t>
            </a:r>
          </a:p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制作表格，再保存到指定位置。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45352" y="2194560"/>
            <a:ext cx="5257800" cy="297180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0160"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5352" y="2194560"/>
            <a:ext cx="41148" cy="2971800"/>
          </a:xfrm>
          <a:prstGeom prst="rect">
            <a:avLst/>
          </a:prstGeom>
          <a:solidFill>
            <a:srgbClr val="008C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55664" y="2404872"/>
            <a:ext cx="4837176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008C9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早期对话体验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2898648"/>
            <a:ext cx="4837176" cy="6858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一段操作建议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55664" y="3703320"/>
            <a:ext cx="4837176" cy="1344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AI 可以告诉你怎么做；</a:t>
            </a:r>
          </a:p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很多实际步骤仍需要你接着操作。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660136"/>
            <a:ext cx="11000232" cy="521207"/>
          </a:xfrm>
          <a:prstGeom prst="roundRect">
            <a:avLst>
              <a:gd name="adj" fmla="val 12000"/>
            </a:avLst>
          </a:prstGeom>
          <a:solidFill>
            <a:srgbClr val="10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5756148"/>
            <a:ext cx="1056132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要跨过这道差距，AI 需要获得工具、行动能力与反馈。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91440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AGENT  /  从对话到行动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265176"/>
            <a:ext cx="1847088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2023.03.23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68096"/>
            <a:ext cx="1100023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2023 春：插件，让对话连接外部世界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927080" cy="5303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ChatGPT Plugins：查询新信息、调用计算工具、连接第三方服务。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391656"/>
            <a:ext cx="11000232" cy="0"/>
          </a:xfrm>
          <a:prstGeom prst="line">
            <a:avLst/>
          </a:prstGeom>
          <a:ln w="15240">
            <a:solidFill>
              <a:srgbClr val="DC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1264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2022</a:t>
            </a:r>
          </a:p>
        </p:txBody>
      </p:sp>
      <p:sp>
        <p:nvSpPr>
          <p:cNvPr id="10" name="Oval 9"/>
          <p:cNvSpPr/>
          <p:nvPr/>
        </p:nvSpPr>
        <p:spPr>
          <a:xfrm>
            <a:off x="1435608" y="6565392"/>
            <a:ext cx="64008" cy="64008"/>
          </a:xfrm>
          <a:prstGeom prst="ellipse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6362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2023</a:t>
            </a:r>
          </a:p>
        </p:txBody>
      </p:sp>
      <p:sp>
        <p:nvSpPr>
          <p:cNvPr id="12" name="Oval 11"/>
          <p:cNvSpPr/>
          <p:nvPr/>
        </p:nvSpPr>
        <p:spPr>
          <a:xfrm>
            <a:off x="225856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8658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2024</a:t>
            </a:r>
          </a:p>
        </p:txBody>
      </p:sp>
      <p:sp>
        <p:nvSpPr>
          <p:cNvPr id="14" name="Oval 13"/>
          <p:cNvSpPr/>
          <p:nvPr/>
        </p:nvSpPr>
        <p:spPr>
          <a:xfrm>
            <a:off x="308152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954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2025</a:t>
            </a:r>
          </a:p>
        </p:txBody>
      </p:sp>
      <p:sp>
        <p:nvSpPr>
          <p:cNvPr id="16" name="Oval 15"/>
          <p:cNvSpPr/>
          <p:nvPr/>
        </p:nvSpPr>
        <p:spPr>
          <a:xfrm>
            <a:off x="390448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3250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6501384"/>
            <a:ext cx="598932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919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  <a:hlinkClick r:id="rId2"/>
              </a:rPr>
              <a:t>来源 [02] OpenAI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92240"/>
            <a:ext cx="54864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2487168"/>
            <a:ext cx="2407158" cy="941832"/>
          </a:xfrm>
          <a:prstGeom prst="roundRect">
            <a:avLst>
              <a:gd name="adj" fmla="val 12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2670048"/>
            <a:ext cx="2224278" cy="7132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用户提出需求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75838" y="2688336"/>
            <a:ext cx="219456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41014" y="2487168"/>
            <a:ext cx="2407158" cy="941832"/>
          </a:xfrm>
          <a:prstGeom prst="roundRect">
            <a:avLst>
              <a:gd name="adj" fmla="val 12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32454" y="2670048"/>
            <a:ext cx="2224278" cy="7132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AI 选择插件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93892" y="2688336"/>
            <a:ext cx="219456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59068" y="2487168"/>
            <a:ext cx="2407158" cy="941832"/>
          </a:xfrm>
          <a:prstGeom prst="roundRect">
            <a:avLst>
              <a:gd name="adj" fmla="val 12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0508" y="2670048"/>
            <a:ext cx="2224278" cy="7132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外部服务执行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11946" y="2688336"/>
            <a:ext cx="219456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77122" y="2487168"/>
            <a:ext cx="2407158" cy="941832"/>
          </a:xfrm>
          <a:prstGeom prst="roundRect">
            <a:avLst>
              <a:gd name="adj" fmla="val 12000"/>
            </a:avLst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68562" y="2670048"/>
            <a:ext cx="2224278" cy="7132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结果返回对话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" y="3813048"/>
            <a:ext cx="5102352" cy="1444752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0160"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3816" y="3813048"/>
            <a:ext cx="41148" cy="1444752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" y="4023360"/>
            <a:ext cx="468172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能力变化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" y="4517136"/>
            <a:ext cx="4681728" cy="6858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从生成文字，延伸到调用服务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36208" y="3813048"/>
            <a:ext cx="5102352" cy="1444752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0160"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36208" y="3813048"/>
            <a:ext cx="41148" cy="1444752"/>
          </a:xfrm>
          <a:prstGeom prst="rect">
            <a:avLst/>
          </a:prstGeom>
          <a:solidFill>
            <a:srgbClr val="008C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4023360"/>
            <a:ext cx="4681728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008C9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仍有区别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517136"/>
            <a:ext cx="4681728" cy="6858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有工具 ≠ 完整的自主 Agent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5660136"/>
            <a:ext cx="11000232" cy="521207"/>
          </a:xfrm>
          <a:prstGeom prst="roundRect">
            <a:avLst>
              <a:gd name="adj" fmla="val 12000"/>
            </a:avLst>
          </a:prstGeom>
          <a:solidFill>
            <a:srgbClr val="10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" y="5756148"/>
            <a:ext cx="1056132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第一次明显变化：AI 可以借助外部系统做一点事情。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91440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AGENT  /  从对话到行动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265176"/>
            <a:ext cx="1847088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2023 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68096"/>
            <a:ext cx="1100023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2023 春：AutoGPT，把“目标”交给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927080" cy="5303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人不再逐条发指令，而是尝试让系统自己拆任务、选工具、继续推进。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391656"/>
            <a:ext cx="11000232" cy="0"/>
          </a:xfrm>
          <a:prstGeom prst="line">
            <a:avLst/>
          </a:prstGeom>
          <a:ln w="15240">
            <a:solidFill>
              <a:srgbClr val="DC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1264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2022</a:t>
            </a:r>
          </a:p>
        </p:txBody>
      </p:sp>
      <p:sp>
        <p:nvSpPr>
          <p:cNvPr id="10" name="Oval 9"/>
          <p:cNvSpPr/>
          <p:nvPr/>
        </p:nvSpPr>
        <p:spPr>
          <a:xfrm>
            <a:off x="1435608" y="6565392"/>
            <a:ext cx="64008" cy="64008"/>
          </a:xfrm>
          <a:prstGeom prst="ellipse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6362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2023</a:t>
            </a:r>
          </a:p>
        </p:txBody>
      </p:sp>
      <p:sp>
        <p:nvSpPr>
          <p:cNvPr id="12" name="Oval 11"/>
          <p:cNvSpPr/>
          <p:nvPr/>
        </p:nvSpPr>
        <p:spPr>
          <a:xfrm>
            <a:off x="225856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8658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2024</a:t>
            </a:r>
          </a:p>
        </p:txBody>
      </p:sp>
      <p:sp>
        <p:nvSpPr>
          <p:cNvPr id="14" name="Oval 13"/>
          <p:cNvSpPr/>
          <p:nvPr/>
        </p:nvSpPr>
        <p:spPr>
          <a:xfrm>
            <a:off x="308152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954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2025</a:t>
            </a:r>
          </a:p>
        </p:txBody>
      </p:sp>
      <p:sp>
        <p:nvSpPr>
          <p:cNvPr id="16" name="Oval 15"/>
          <p:cNvSpPr/>
          <p:nvPr/>
        </p:nvSpPr>
        <p:spPr>
          <a:xfrm>
            <a:off x="390448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3250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6501384"/>
            <a:ext cx="598932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919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  <a:hlinkClick r:id="rId2"/>
              </a:rPr>
              <a:t>来源 [03] Significant Gravitas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92240"/>
            <a:ext cx="54864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2148840"/>
            <a:ext cx="10607040" cy="5669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“围绕一个主题，搜集资料并整理一份报告。”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127248"/>
            <a:ext cx="2407158" cy="969264"/>
          </a:xfrm>
          <a:prstGeom prst="roundRect">
            <a:avLst>
              <a:gd name="adj" fmla="val 12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310128"/>
            <a:ext cx="2224278" cy="7406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拆分目标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75838" y="3328416"/>
            <a:ext cx="219456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41014" y="3127248"/>
            <a:ext cx="2407158" cy="969264"/>
          </a:xfrm>
          <a:prstGeom prst="roundRect">
            <a:avLst>
              <a:gd name="adj" fmla="val 12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32454" y="3310128"/>
            <a:ext cx="2224278" cy="7406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查询与读取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93892" y="3328416"/>
            <a:ext cx="219456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59068" y="3127248"/>
            <a:ext cx="2407158" cy="969264"/>
          </a:xfrm>
          <a:prstGeom prst="roundRect">
            <a:avLst>
              <a:gd name="adj" fmla="val 12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0508" y="3310128"/>
            <a:ext cx="2224278" cy="7406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整理与执行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11946" y="3328416"/>
            <a:ext cx="219456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77122" y="3127248"/>
            <a:ext cx="2407158" cy="969264"/>
          </a:xfrm>
          <a:prstGeom prst="roundRect">
            <a:avLst>
              <a:gd name="adj" fmla="val 12000"/>
            </a:avLst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68562" y="3310128"/>
            <a:ext cx="2224278" cy="7406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检查并继续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" y="4572000"/>
            <a:ext cx="10149840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价值在于展示自主执行的方向；早期系统也容易循环、跑偏或中断。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5660136"/>
            <a:ext cx="11000232" cy="521207"/>
          </a:xfrm>
          <a:prstGeom prst="roundRect">
            <a:avLst>
              <a:gd name="adj" fmla="val 12000"/>
            </a:avLst>
          </a:prstGeom>
          <a:solidFill>
            <a:srgbClr val="10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5756148"/>
            <a:ext cx="1056132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关注点开始改变：不只是答得好不好，而是能不能把任务往前推进。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91440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AGENT  /  从对话到行动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265176"/>
            <a:ext cx="1847088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2023.06.13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68096"/>
            <a:ext cx="1100023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2023 夏：工具调用，有了更清晰的接口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927080" cy="5303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Function Calling：模型提出调用请求，由外部程序真正执行。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391656"/>
            <a:ext cx="11000232" cy="0"/>
          </a:xfrm>
          <a:prstGeom prst="line">
            <a:avLst/>
          </a:prstGeom>
          <a:ln w="15240">
            <a:solidFill>
              <a:srgbClr val="DC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1264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2022</a:t>
            </a:r>
          </a:p>
        </p:txBody>
      </p:sp>
      <p:sp>
        <p:nvSpPr>
          <p:cNvPr id="10" name="Oval 9"/>
          <p:cNvSpPr/>
          <p:nvPr/>
        </p:nvSpPr>
        <p:spPr>
          <a:xfrm>
            <a:off x="1435608" y="6565392"/>
            <a:ext cx="64008" cy="64008"/>
          </a:xfrm>
          <a:prstGeom prst="ellipse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6362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2023</a:t>
            </a:r>
          </a:p>
        </p:txBody>
      </p:sp>
      <p:sp>
        <p:nvSpPr>
          <p:cNvPr id="12" name="Oval 11"/>
          <p:cNvSpPr/>
          <p:nvPr/>
        </p:nvSpPr>
        <p:spPr>
          <a:xfrm>
            <a:off x="225856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8658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2024</a:t>
            </a:r>
          </a:p>
        </p:txBody>
      </p:sp>
      <p:sp>
        <p:nvSpPr>
          <p:cNvPr id="14" name="Oval 13"/>
          <p:cNvSpPr/>
          <p:nvPr/>
        </p:nvSpPr>
        <p:spPr>
          <a:xfrm>
            <a:off x="308152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954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2025</a:t>
            </a:r>
          </a:p>
        </p:txBody>
      </p:sp>
      <p:sp>
        <p:nvSpPr>
          <p:cNvPr id="16" name="Oval 15"/>
          <p:cNvSpPr/>
          <p:nvPr/>
        </p:nvSpPr>
        <p:spPr>
          <a:xfrm>
            <a:off x="390448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3250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6501384"/>
            <a:ext cx="598932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919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  <a:hlinkClick r:id="rId2"/>
              </a:rPr>
              <a:t>来源 [04] OpenAI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92240"/>
            <a:ext cx="54864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2212848"/>
            <a:ext cx="10652760" cy="740664"/>
          </a:xfrm>
          <a:prstGeom prst="roundRect">
            <a:avLst>
              <a:gd name="adj" fmla="val 12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3271" y="2395728"/>
            <a:ext cx="1014984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例子：“查一下明天的天气，并给我出行建议。”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410712"/>
            <a:ext cx="2407158" cy="960120"/>
          </a:xfrm>
          <a:prstGeom prst="roundRect">
            <a:avLst>
              <a:gd name="adj" fmla="val 12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593592"/>
            <a:ext cx="2224278" cy="7315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理解需求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75838" y="3611880"/>
            <a:ext cx="219456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41014" y="3410712"/>
            <a:ext cx="2407158" cy="960120"/>
          </a:xfrm>
          <a:prstGeom prst="roundRect">
            <a:avLst>
              <a:gd name="adj" fmla="val 12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32454" y="3593592"/>
            <a:ext cx="2224278" cy="7315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选择天气工具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93892" y="3611880"/>
            <a:ext cx="219456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59068" y="3410712"/>
            <a:ext cx="2407158" cy="960120"/>
          </a:xfrm>
          <a:prstGeom prst="roundRect">
            <a:avLst>
              <a:gd name="adj" fmla="val 12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0508" y="3593592"/>
            <a:ext cx="2224278" cy="7315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程序查询天气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11946" y="3611880"/>
            <a:ext cx="219456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77122" y="3410712"/>
            <a:ext cx="2407158" cy="960120"/>
          </a:xfrm>
          <a:prstGeom prst="roundRect">
            <a:avLst>
              <a:gd name="adj" fmla="val 12000"/>
            </a:avLst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68562" y="3593592"/>
            <a:ext cx="2224278" cy="7315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结合结果回答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4800600"/>
            <a:ext cx="1028700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85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不需要了解接口代码，也能理解：模型负责选工具，工具负责实际动作。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5660136"/>
            <a:ext cx="11000232" cy="521207"/>
          </a:xfrm>
          <a:prstGeom prst="roundRect">
            <a:avLst>
              <a:gd name="adj" fmla="val 12000"/>
            </a:avLst>
          </a:prstGeom>
          <a:solidFill>
            <a:srgbClr val="10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" y="5756148"/>
            <a:ext cx="1056132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AI 有了可调用的“手脚”，但工具调用本身仍不等于自主完成任务。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91440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AGENT  /  从对话到行动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265176"/>
            <a:ext cx="1847088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2023.09.25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68096"/>
            <a:ext cx="1100023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2023 秋：从一个助手，到多个角色分工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927080" cy="5303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AutoGen：把多个 Agent 组织起来，通过交互协作完成任务。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391656"/>
            <a:ext cx="11000232" cy="0"/>
          </a:xfrm>
          <a:prstGeom prst="line">
            <a:avLst/>
          </a:prstGeom>
          <a:ln w="15240">
            <a:solidFill>
              <a:srgbClr val="DC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1264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2022</a:t>
            </a:r>
          </a:p>
        </p:txBody>
      </p:sp>
      <p:sp>
        <p:nvSpPr>
          <p:cNvPr id="10" name="Oval 9"/>
          <p:cNvSpPr/>
          <p:nvPr/>
        </p:nvSpPr>
        <p:spPr>
          <a:xfrm>
            <a:off x="1435608" y="6565392"/>
            <a:ext cx="64008" cy="64008"/>
          </a:xfrm>
          <a:prstGeom prst="ellipse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6362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2023</a:t>
            </a:r>
          </a:p>
        </p:txBody>
      </p:sp>
      <p:sp>
        <p:nvSpPr>
          <p:cNvPr id="12" name="Oval 11"/>
          <p:cNvSpPr/>
          <p:nvPr/>
        </p:nvSpPr>
        <p:spPr>
          <a:xfrm>
            <a:off x="225856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8658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2024</a:t>
            </a:r>
          </a:p>
        </p:txBody>
      </p:sp>
      <p:sp>
        <p:nvSpPr>
          <p:cNvPr id="14" name="Oval 13"/>
          <p:cNvSpPr/>
          <p:nvPr/>
        </p:nvSpPr>
        <p:spPr>
          <a:xfrm>
            <a:off x="308152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954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2025</a:t>
            </a:r>
          </a:p>
        </p:txBody>
      </p:sp>
      <p:sp>
        <p:nvSpPr>
          <p:cNvPr id="16" name="Oval 15"/>
          <p:cNvSpPr/>
          <p:nvPr/>
        </p:nvSpPr>
        <p:spPr>
          <a:xfrm>
            <a:off x="390448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3250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6501384"/>
            <a:ext cx="598932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919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  <a:hlinkClick r:id="rId2"/>
              </a:rPr>
              <a:t>来源 [05] Microsoft Research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92240"/>
            <a:ext cx="54864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08</a:t>
            </a:r>
          </a:p>
        </p:txBody>
      </p:sp>
      <p:sp>
        <p:nvSpPr>
          <p:cNvPr id="20" name="Oval 19"/>
          <p:cNvSpPr/>
          <p:nvPr/>
        </p:nvSpPr>
        <p:spPr>
          <a:xfrm>
            <a:off x="1911095" y="2423160"/>
            <a:ext cx="795528" cy="795528"/>
          </a:xfrm>
          <a:prstGeom prst="ellipse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93391" y="2596896"/>
            <a:ext cx="64008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538728"/>
            <a:ext cx="2743200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检索角色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288536"/>
            <a:ext cx="281635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找资料与证据</a:t>
            </a:r>
          </a:p>
        </p:txBody>
      </p:sp>
      <p:sp>
        <p:nvSpPr>
          <p:cNvPr id="24" name="Oval 23"/>
          <p:cNvSpPr/>
          <p:nvPr/>
        </p:nvSpPr>
        <p:spPr>
          <a:xfrm>
            <a:off x="5157216" y="2423160"/>
            <a:ext cx="795528" cy="795528"/>
          </a:xfrm>
          <a:prstGeom prst="ellipse">
            <a:avLst/>
          </a:prstGeom>
          <a:solidFill>
            <a:srgbClr val="008C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39512" y="2596896"/>
            <a:ext cx="64008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3538728"/>
            <a:ext cx="2743200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撰写角色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4288536"/>
            <a:ext cx="281635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整理结构与内容</a:t>
            </a:r>
          </a:p>
        </p:txBody>
      </p:sp>
      <p:sp>
        <p:nvSpPr>
          <p:cNvPr id="28" name="Oval 27"/>
          <p:cNvSpPr/>
          <p:nvPr/>
        </p:nvSpPr>
        <p:spPr>
          <a:xfrm>
            <a:off x="8403336" y="2423160"/>
            <a:ext cx="795528" cy="795528"/>
          </a:xfrm>
          <a:prstGeom prst="ellipse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85632" y="2596896"/>
            <a:ext cx="64008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3538728"/>
            <a:ext cx="2743200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检查角色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4288536"/>
            <a:ext cx="281635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核对来源与遗漏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926080" y="2807208"/>
            <a:ext cx="2240280" cy="0"/>
          </a:xfrm>
          <a:prstGeom prst="line">
            <a:avLst/>
          </a:prstGeom>
          <a:ln w="25400">
            <a:solidFill>
              <a:srgbClr val="DC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172200" y="2807208"/>
            <a:ext cx="2240280" cy="0"/>
          </a:xfrm>
          <a:prstGeom prst="line">
            <a:avLst/>
          </a:prstGeom>
          <a:ln w="25400">
            <a:solidFill>
              <a:srgbClr val="DC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94360" y="5660136"/>
            <a:ext cx="11000232" cy="521207"/>
          </a:xfrm>
          <a:prstGeom prst="roundRect">
            <a:avLst>
              <a:gd name="adj" fmla="val 12000"/>
            </a:avLst>
          </a:prstGeom>
          <a:solidFill>
            <a:srgbClr val="10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" y="5756148"/>
            <a:ext cx="1056132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多个 Agent 的价值来自分工与核对；角色多，并不自动意味着效果更好。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91440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AGENT  /  从对话到行动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265176"/>
            <a:ext cx="1847088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阶段小结 · 2023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68096"/>
            <a:ext cx="1100023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走到这里，Agent 到底是什么？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927080" cy="5303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可以把它理解为：在一定授权范围内，围绕目标持续行动的 AI 系统。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391656"/>
            <a:ext cx="11000232" cy="0"/>
          </a:xfrm>
          <a:prstGeom prst="line">
            <a:avLst/>
          </a:prstGeom>
          <a:ln w="15240">
            <a:solidFill>
              <a:srgbClr val="DC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1264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2022</a:t>
            </a:r>
          </a:p>
        </p:txBody>
      </p:sp>
      <p:sp>
        <p:nvSpPr>
          <p:cNvPr id="10" name="Oval 9"/>
          <p:cNvSpPr/>
          <p:nvPr/>
        </p:nvSpPr>
        <p:spPr>
          <a:xfrm>
            <a:off x="1435608" y="6565392"/>
            <a:ext cx="64008" cy="64008"/>
          </a:xfrm>
          <a:prstGeom prst="ellipse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6362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2023</a:t>
            </a:r>
          </a:p>
        </p:txBody>
      </p:sp>
      <p:sp>
        <p:nvSpPr>
          <p:cNvPr id="12" name="Oval 11"/>
          <p:cNvSpPr/>
          <p:nvPr/>
        </p:nvSpPr>
        <p:spPr>
          <a:xfrm>
            <a:off x="225856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8658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2024</a:t>
            </a:r>
          </a:p>
        </p:txBody>
      </p:sp>
      <p:sp>
        <p:nvSpPr>
          <p:cNvPr id="14" name="Oval 13"/>
          <p:cNvSpPr/>
          <p:nvPr/>
        </p:nvSpPr>
        <p:spPr>
          <a:xfrm>
            <a:off x="308152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954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2025</a:t>
            </a:r>
          </a:p>
        </p:txBody>
      </p:sp>
      <p:sp>
        <p:nvSpPr>
          <p:cNvPr id="16" name="Oval 15"/>
          <p:cNvSpPr/>
          <p:nvPr/>
        </p:nvSpPr>
        <p:spPr>
          <a:xfrm>
            <a:off x="390448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3250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6501384"/>
            <a:ext cx="598932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919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  <a:hlinkClick r:id="rId2"/>
              </a:rPr>
              <a:t>来源 [04] OpenAI  /  [05] Microsoft Research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92240"/>
            <a:ext cx="54864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09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2395728"/>
            <a:ext cx="2651760" cy="1965960"/>
          </a:xfrm>
          <a:prstGeom prst="roundRect">
            <a:avLst>
              <a:gd name="adj" fmla="val 12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" y="2697480"/>
            <a:ext cx="2258568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目标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" y="3529584"/>
            <a:ext cx="2258568" cy="5852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850" b="0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知道要完成什么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93591" y="2395728"/>
            <a:ext cx="2651760" cy="1965960"/>
          </a:xfrm>
          <a:prstGeom prst="roundRect">
            <a:avLst>
              <a:gd name="adj" fmla="val 12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85615" y="2697480"/>
            <a:ext cx="2258568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判断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85615" y="3529584"/>
            <a:ext cx="2258568" cy="5852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850" b="0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决定下一步做什么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55664" y="2395728"/>
            <a:ext cx="2651760" cy="1965960"/>
          </a:xfrm>
          <a:prstGeom prst="roundRect">
            <a:avLst>
              <a:gd name="adj" fmla="val 12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47688" y="2697480"/>
            <a:ext cx="2258568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行动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7688" y="3529584"/>
            <a:ext cx="2258568" cy="5852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850" b="0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调用工具影响环境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17736" y="2395728"/>
            <a:ext cx="2651760" cy="1965960"/>
          </a:xfrm>
          <a:prstGeom prst="roundRect">
            <a:avLst>
              <a:gd name="adj" fmla="val 12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0" y="2697480"/>
            <a:ext cx="2258568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反馈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0" y="3529584"/>
            <a:ext cx="2258568" cy="5852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850" b="0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检查结果、调整步骤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4800600"/>
            <a:ext cx="1042416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聊天助手：主要给答案     固定流程：按预设步骤走     Agent：根据反馈决定下一步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5660136"/>
            <a:ext cx="11000232" cy="521207"/>
          </a:xfrm>
          <a:prstGeom prst="roundRect">
            <a:avLst>
              <a:gd name="adj" fmla="val 12000"/>
            </a:avLst>
          </a:prstGeom>
          <a:solidFill>
            <a:srgbClr val="10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5756148"/>
            <a:ext cx="1056132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关键不在名字，而在它是否能把“判断—行动—反馈”连续组织起来。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91440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AGENT  /  从对话到行动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265176"/>
            <a:ext cx="1847088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2024.10.22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68096"/>
            <a:ext cx="1100023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2024 秋：AI 开始“看屏幕、点按钮”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927080" cy="5303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Anthropic 发布 Computer Use 公开测试，把行动扩展到图形界面。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391656"/>
            <a:ext cx="11000232" cy="0"/>
          </a:xfrm>
          <a:prstGeom prst="line">
            <a:avLst/>
          </a:prstGeom>
          <a:ln w="15240">
            <a:solidFill>
              <a:srgbClr val="DC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1264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2022</a:t>
            </a:r>
          </a:p>
        </p:txBody>
      </p:sp>
      <p:sp>
        <p:nvSpPr>
          <p:cNvPr id="10" name="Oval 9"/>
          <p:cNvSpPr/>
          <p:nvPr/>
        </p:nvSpPr>
        <p:spPr>
          <a:xfrm>
            <a:off x="143560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6362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2023</a:t>
            </a:r>
          </a:p>
        </p:txBody>
      </p:sp>
      <p:sp>
        <p:nvSpPr>
          <p:cNvPr id="12" name="Oval 11"/>
          <p:cNvSpPr/>
          <p:nvPr/>
        </p:nvSpPr>
        <p:spPr>
          <a:xfrm>
            <a:off x="2258568" y="6565392"/>
            <a:ext cx="64008" cy="64008"/>
          </a:xfrm>
          <a:prstGeom prst="ellipse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8658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2024</a:t>
            </a:r>
          </a:p>
        </p:txBody>
      </p:sp>
      <p:sp>
        <p:nvSpPr>
          <p:cNvPr id="14" name="Oval 13"/>
          <p:cNvSpPr/>
          <p:nvPr/>
        </p:nvSpPr>
        <p:spPr>
          <a:xfrm>
            <a:off x="308152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954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2025</a:t>
            </a:r>
          </a:p>
        </p:txBody>
      </p:sp>
      <p:sp>
        <p:nvSpPr>
          <p:cNvPr id="16" name="Oval 15"/>
          <p:cNvSpPr/>
          <p:nvPr/>
        </p:nvSpPr>
        <p:spPr>
          <a:xfrm>
            <a:off x="390448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3250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6501384"/>
            <a:ext cx="598932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919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  <a:hlinkClick r:id="rId2"/>
              </a:rPr>
              <a:t>来源 [06] Anthropic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92240"/>
            <a:ext cx="54864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" y="2148840"/>
            <a:ext cx="6492240" cy="3054096"/>
          </a:xfrm>
          <a:prstGeom prst="roundRect">
            <a:avLst>
              <a:gd name="adj" fmla="val 12000"/>
            </a:avLst>
          </a:prstGeom>
          <a:solidFill>
            <a:srgbClr val="EDF4FC"/>
          </a:solidFill>
          <a:ln w="10160"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24128" y="2359152"/>
            <a:ext cx="6044184" cy="365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88720" y="2487168"/>
            <a:ext cx="64008" cy="64008"/>
          </a:xfrm>
          <a:prstGeom prst="ellipse">
            <a:avLst/>
          </a:prstGeom>
          <a:solidFill>
            <a:srgbClr val="607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53312" y="2487168"/>
            <a:ext cx="64008" cy="64008"/>
          </a:xfrm>
          <a:prstGeom prst="ellipse">
            <a:avLst/>
          </a:prstGeom>
          <a:solidFill>
            <a:srgbClr val="607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517904" y="2487168"/>
            <a:ext cx="64008" cy="64008"/>
          </a:xfrm>
          <a:prstGeom prst="ellipse">
            <a:avLst/>
          </a:prstGeom>
          <a:solidFill>
            <a:srgbClr val="6075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9576" y="2907792"/>
            <a:ext cx="530352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网页 / 表单 / 应用窗口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43584" y="3557016"/>
            <a:ext cx="5193792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99032" y="3630168"/>
            <a:ext cx="480060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需要填写的信息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09160" y="4325112"/>
            <a:ext cx="1709928" cy="429768"/>
          </a:xfrm>
          <a:prstGeom prst="roundRect">
            <a:avLst>
              <a:gd name="adj" fmla="val 12000"/>
            </a:avLst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0" y="4398264"/>
            <a:ext cx="1408176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下一步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81544" y="2395728"/>
            <a:ext cx="350215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为什么重要？</a:t>
            </a:r>
          </a:p>
        </p:txBody>
      </p:sp>
      <p:sp>
        <p:nvSpPr>
          <p:cNvPr id="31" name="Oval 30"/>
          <p:cNvSpPr/>
          <p:nvPr/>
        </p:nvSpPr>
        <p:spPr>
          <a:xfrm>
            <a:off x="7799831" y="3310128"/>
            <a:ext cx="59436" cy="59436"/>
          </a:xfrm>
          <a:prstGeom prst="ellipse">
            <a:avLst/>
          </a:prstGeom>
          <a:solidFill>
            <a:srgbClr val="008C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82711" y="3200400"/>
            <a:ext cx="3319272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850" b="0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不只依赖专门接口</a:t>
            </a:r>
          </a:p>
        </p:txBody>
      </p:sp>
      <p:sp>
        <p:nvSpPr>
          <p:cNvPr id="33" name="Oval 32"/>
          <p:cNvSpPr/>
          <p:nvPr/>
        </p:nvSpPr>
        <p:spPr>
          <a:xfrm>
            <a:off x="7799831" y="4032504"/>
            <a:ext cx="59436" cy="59436"/>
          </a:xfrm>
          <a:prstGeom prst="ellipse">
            <a:avLst/>
          </a:prstGeom>
          <a:solidFill>
            <a:srgbClr val="008C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82711" y="3922776"/>
            <a:ext cx="3319272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850" b="0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也能使用人的操作界面</a:t>
            </a:r>
          </a:p>
        </p:txBody>
      </p:sp>
      <p:sp>
        <p:nvSpPr>
          <p:cNvPr id="35" name="Oval 34"/>
          <p:cNvSpPr/>
          <p:nvPr/>
        </p:nvSpPr>
        <p:spPr>
          <a:xfrm>
            <a:off x="7799831" y="4754880"/>
            <a:ext cx="59436" cy="59436"/>
          </a:xfrm>
          <a:prstGeom prst="ellipse">
            <a:avLst/>
          </a:prstGeom>
          <a:solidFill>
            <a:srgbClr val="008C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82711" y="4645152"/>
            <a:ext cx="3319272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850" b="0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当时仍是实验性能力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5660136"/>
            <a:ext cx="11000232" cy="521207"/>
          </a:xfrm>
          <a:prstGeom prst="roundRect">
            <a:avLst>
              <a:gd name="adj" fmla="val 12000"/>
            </a:avLst>
          </a:prstGeom>
          <a:solidFill>
            <a:srgbClr val="10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" y="5756148"/>
            <a:ext cx="1056132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行动方式扩展：既可以调接口，也可以像人一样操作界面。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91440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AGENT  /  从对话到行动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265176"/>
            <a:ext cx="1847088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2024.11.25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68096"/>
            <a:ext cx="1100023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2024 冬：MCP，让连接工具更统一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927080" cy="5303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不用深入协议细节，把它理解为 AI 与外部工具、数据之间的一种通用连接方式。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391656"/>
            <a:ext cx="11000232" cy="0"/>
          </a:xfrm>
          <a:prstGeom prst="line">
            <a:avLst/>
          </a:prstGeom>
          <a:ln w="15240">
            <a:solidFill>
              <a:srgbClr val="DC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1264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2022</a:t>
            </a:r>
          </a:p>
        </p:txBody>
      </p:sp>
      <p:sp>
        <p:nvSpPr>
          <p:cNvPr id="10" name="Oval 9"/>
          <p:cNvSpPr/>
          <p:nvPr/>
        </p:nvSpPr>
        <p:spPr>
          <a:xfrm>
            <a:off x="143560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6362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2023</a:t>
            </a:r>
          </a:p>
        </p:txBody>
      </p:sp>
      <p:sp>
        <p:nvSpPr>
          <p:cNvPr id="12" name="Oval 11"/>
          <p:cNvSpPr/>
          <p:nvPr/>
        </p:nvSpPr>
        <p:spPr>
          <a:xfrm>
            <a:off x="2258568" y="6565392"/>
            <a:ext cx="64008" cy="64008"/>
          </a:xfrm>
          <a:prstGeom prst="ellipse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8658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2024</a:t>
            </a:r>
          </a:p>
        </p:txBody>
      </p:sp>
      <p:sp>
        <p:nvSpPr>
          <p:cNvPr id="14" name="Oval 13"/>
          <p:cNvSpPr/>
          <p:nvPr/>
        </p:nvSpPr>
        <p:spPr>
          <a:xfrm>
            <a:off x="308152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954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2025</a:t>
            </a:r>
          </a:p>
        </p:txBody>
      </p:sp>
      <p:sp>
        <p:nvSpPr>
          <p:cNvPr id="16" name="Oval 15"/>
          <p:cNvSpPr/>
          <p:nvPr/>
        </p:nvSpPr>
        <p:spPr>
          <a:xfrm>
            <a:off x="390448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3250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6501384"/>
            <a:ext cx="598932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919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  <a:hlinkClick r:id="rId2"/>
              </a:rPr>
              <a:t>来源 [07] Anthropic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92240"/>
            <a:ext cx="54864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11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6008" y="2862072"/>
            <a:ext cx="2880360" cy="1188720"/>
          </a:xfrm>
          <a:prstGeom prst="roundRect">
            <a:avLst>
              <a:gd name="adj" fmla="val 12000"/>
            </a:avLst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18888" y="3172968"/>
            <a:ext cx="25146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MCP 连接方式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" y="2377440"/>
            <a:ext cx="2514600" cy="704088"/>
          </a:xfrm>
          <a:prstGeom prst="roundRect">
            <a:avLst>
              <a:gd name="adj" fmla="val 12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2532888"/>
            <a:ext cx="224942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AI 助手 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410712" y="2724912"/>
            <a:ext cx="1225296" cy="731520"/>
          </a:xfrm>
          <a:prstGeom prst="line">
            <a:avLst/>
          </a:prstGeom>
          <a:ln w="22860">
            <a:solidFill>
              <a:srgbClr val="DC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6112" y="3968496"/>
            <a:ext cx="2514600" cy="704088"/>
          </a:xfrm>
          <a:prstGeom prst="roundRect">
            <a:avLst>
              <a:gd name="adj" fmla="val 12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" y="4123944"/>
            <a:ext cx="224942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AI 助手 B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3410712" y="3456432"/>
            <a:ext cx="1225296" cy="859536"/>
          </a:xfrm>
          <a:prstGeom prst="line">
            <a:avLst/>
          </a:prstGeom>
          <a:ln w="22860">
            <a:solidFill>
              <a:srgbClr val="DC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695944" y="2084831"/>
            <a:ext cx="2514600" cy="685800"/>
          </a:xfrm>
          <a:prstGeom prst="roundRect">
            <a:avLst>
              <a:gd name="adj" fmla="val 12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33104" y="2240279"/>
            <a:ext cx="2240280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文档与知识库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7516368" y="2432303"/>
            <a:ext cx="1179576" cy="1024129"/>
          </a:xfrm>
          <a:prstGeom prst="line">
            <a:avLst/>
          </a:prstGeom>
          <a:ln w="22860">
            <a:solidFill>
              <a:srgbClr val="DC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695944" y="3218688"/>
            <a:ext cx="2514600" cy="685800"/>
          </a:xfrm>
          <a:prstGeom prst="roundRect">
            <a:avLst>
              <a:gd name="adj" fmla="val 12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33104" y="3374136"/>
            <a:ext cx="2240280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业务系统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516368" y="3456432"/>
            <a:ext cx="1179576" cy="109728"/>
          </a:xfrm>
          <a:prstGeom prst="line">
            <a:avLst/>
          </a:prstGeom>
          <a:ln w="22860">
            <a:solidFill>
              <a:srgbClr val="DC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695944" y="4352544"/>
            <a:ext cx="2514600" cy="685800"/>
          </a:xfrm>
          <a:prstGeom prst="roundRect">
            <a:avLst>
              <a:gd name="adj" fmla="val 12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33104" y="4507992"/>
            <a:ext cx="2240280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开发工具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516368" y="3456432"/>
            <a:ext cx="1179576" cy="1243584"/>
          </a:xfrm>
          <a:prstGeom prst="line">
            <a:avLst/>
          </a:prstGeom>
          <a:ln w="22860">
            <a:solidFill>
              <a:srgbClr val="DC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594360" y="5660136"/>
            <a:ext cx="11000232" cy="521207"/>
          </a:xfrm>
          <a:prstGeom prst="roundRect">
            <a:avLst>
              <a:gd name="adj" fmla="val 12000"/>
            </a:avLst>
          </a:prstGeom>
          <a:solidFill>
            <a:srgbClr val="10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" y="5756148"/>
            <a:ext cx="1056132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它解决“怎么接”的问题；是否能把任务做对，仍取决于整个 Agent。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91440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AGENT  /  从对话到行动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265176"/>
            <a:ext cx="1847088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2025.01.23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68096"/>
            <a:ext cx="1100023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2025 年 1 月：浏览器成为任务现场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927080" cy="5303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Operator：围绕用户目标，在自己的浏览器里执行多步操作。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391656"/>
            <a:ext cx="11000232" cy="0"/>
          </a:xfrm>
          <a:prstGeom prst="line">
            <a:avLst/>
          </a:prstGeom>
          <a:ln w="15240">
            <a:solidFill>
              <a:srgbClr val="DC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1264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2022</a:t>
            </a:r>
          </a:p>
        </p:txBody>
      </p:sp>
      <p:sp>
        <p:nvSpPr>
          <p:cNvPr id="10" name="Oval 9"/>
          <p:cNvSpPr/>
          <p:nvPr/>
        </p:nvSpPr>
        <p:spPr>
          <a:xfrm>
            <a:off x="143560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6362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2023</a:t>
            </a:r>
          </a:p>
        </p:txBody>
      </p:sp>
      <p:sp>
        <p:nvSpPr>
          <p:cNvPr id="12" name="Oval 11"/>
          <p:cNvSpPr/>
          <p:nvPr/>
        </p:nvSpPr>
        <p:spPr>
          <a:xfrm>
            <a:off x="225856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8658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2024</a:t>
            </a:r>
          </a:p>
        </p:txBody>
      </p:sp>
      <p:sp>
        <p:nvSpPr>
          <p:cNvPr id="14" name="Oval 13"/>
          <p:cNvSpPr/>
          <p:nvPr/>
        </p:nvSpPr>
        <p:spPr>
          <a:xfrm>
            <a:off x="3081528" y="6565392"/>
            <a:ext cx="64008" cy="64008"/>
          </a:xfrm>
          <a:prstGeom prst="ellipse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954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2025</a:t>
            </a:r>
          </a:p>
        </p:txBody>
      </p:sp>
      <p:sp>
        <p:nvSpPr>
          <p:cNvPr id="16" name="Oval 15"/>
          <p:cNvSpPr/>
          <p:nvPr/>
        </p:nvSpPr>
        <p:spPr>
          <a:xfrm>
            <a:off x="390448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3250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6501384"/>
            <a:ext cx="598932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919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  <a:hlinkClick r:id="rId2"/>
              </a:rPr>
              <a:t>来源 [08] OpenAI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92240"/>
            <a:ext cx="54864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" y="2176272"/>
            <a:ext cx="1060704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任务示意：“按这些条件，帮我筛选会议酒店并整理备选。”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218688"/>
            <a:ext cx="2407158" cy="996696"/>
          </a:xfrm>
          <a:prstGeom prst="roundRect">
            <a:avLst>
              <a:gd name="adj" fmla="val 12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401568"/>
            <a:ext cx="2224278" cy="7680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打开网站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75838" y="3419856"/>
            <a:ext cx="219456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41014" y="3218688"/>
            <a:ext cx="2407158" cy="996696"/>
          </a:xfrm>
          <a:prstGeom prst="roundRect">
            <a:avLst>
              <a:gd name="adj" fmla="val 12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32454" y="3401568"/>
            <a:ext cx="2224278" cy="7680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填写筛选条件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93892" y="3419856"/>
            <a:ext cx="219456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59068" y="3218688"/>
            <a:ext cx="2407158" cy="996696"/>
          </a:xfrm>
          <a:prstGeom prst="roundRect">
            <a:avLst>
              <a:gd name="adj" fmla="val 12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0508" y="3401568"/>
            <a:ext cx="2224278" cy="7680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对比候选项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11946" y="3419856"/>
            <a:ext cx="219456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77122" y="3218688"/>
            <a:ext cx="2407158" cy="996696"/>
          </a:xfrm>
          <a:prstGeom prst="roundRect">
            <a:avLst>
              <a:gd name="adj" fmla="val 12000"/>
            </a:avLst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68562" y="3401568"/>
            <a:ext cx="2224278" cy="7680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整理结果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681728"/>
            <a:ext cx="10424160" cy="5303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85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与只给链接不同，Agent 会在页面中操作；遇到登录等步骤时，可交回用户处理。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5660136"/>
            <a:ext cx="11000232" cy="521207"/>
          </a:xfrm>
          <a:prstGeom prst="roundRect">
            <a:avLst>
              <a:gd name="adj" fmla="val 12000"/>
            </a:avLst>
          </a:prstGeom>
          <a:solidFill>
            <a:srgbClr val="10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5756148"/>
            <a:ext cx="1056132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界面操作开始成为可以直接交给 AI 的产品体验。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91440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AGENT  /  从对话到行动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265176"/>
            <a:ext cx="1847088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2025.02.02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68096"/>
            <a:ext cx="1100023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2025 年 2 月：检索，变成一项完整研究任务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927080" cy="5303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Deep Research：多轮搜索、阅读与综合，把过程组织成一份带来源的报告。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391656"/>
            <a:ext cx="11000232" cy="0"/>
          </a:xfrm>
          <a:prstGeom prst="line">
            <a:avLst/>
          </a:prstGeom>
          <a:ln w="15240">
            <a:solidFill>
              <a:srgbClr val="DC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1264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2022</a:t>
            </a:r>
          </a:p>
        </p:txBody>
      </p:sp>
      <p:sp>
        <p:nvSpPr>
          <p:cNvPr id="10" name="Oval 9"/>
          <p:cNvSpPr/>
          <p:nvPr/>
        </p:nvSpPr>
        <p:spPr>
          <a:xfrm>
            <a:off x="143560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6362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2023</a:t>
            </a:r>
          </a:p>
        </p:txBody>
      </p:sp>
      <p:sp>
        <p:nvSpPr>
          <p:cNvPr id="12" name="Oval 11"/>
          <p:cNvSpPr/>
          <p:nvPr/>
        </p:nvSpPr>
        <p:spPr>
          <a:xfrm>
            <a:off x="225856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8658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2024</a:t>
            </a:r>
          </a:p>
        </p:txBody>
      </p:sp>
      <p:sp>
        <p:nvSpPr>
          <p:cNvPr id="14" name="Oval 13"/>
          <p:cNvSpPr/>
          <p:nvPr/>
        </p:nvSpPr>
        <p:spPr>
          <a:xfrm>
            <a:off x="3081528" y="6565392"/>
            <a:ext cx="64008" cy="64008"/>
          </a:xfrm>
          <a:prstGeom prst="ellipse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954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2025</a:t>
            </a:r>
          </a:p>
        </p:txBody>
      </p:sp>
      <p:sp>
        <p:nvSpPr>
          <p:cNvPr id="16" name="Oval 15"/>
          <p:cNvSpPr/>
          <p:nvPr/>
        </p:nvSpPr>
        <p:spPr>
          <a:xfrm>
            <a:off x="390448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3250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6501384"/>
            <a:ext cx="598932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919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  <a:hlinkClick r:id="rId2"/>
              </a:rPr>
              <a:t>来源 [09] OpenAI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92240"/>
            <a:ext cx="54864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13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" y="2267712"/>
            <a:ext cx="3529584" cy="2935224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0160"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4944" y="2267712"/>
            <a:ext cx="41148" cy="2935224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" y="2478024"/>
            <a:ext cx="310896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输入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" y="2971800"/>
            <a:ext cx="3108960" cy="6858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一个研究问题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3776472"/>
            <a:ext cx="3108960" cy="1307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例如：比较几类方法的适用条</a:t>
            </a:r>
          </a:p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件、</a:t>
            </a:r>
          </a:p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局限与公开证据。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2267712"/>
            <a:ext cx="3529584" cy="2935224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0160"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2267712"/>
            <a:ext cx="41148" cy="2935224"/>
          </a:xfrm>
          <a:prstGeom prst="rect">
            <a:avLst/>
          </a:prstGeom>
          <a:solidFill>
            <a:srgbClr val="008C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53712" y="2478024"/>
            <a:ext cx="310896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008C9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过程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2971800"/>
            <a:ext cx="3108960" cy="6858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持续搜集和判断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3712" y="3776472"/>
            <a:ext cx="3108960" cy="1307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查询多个来源、阅读资料，</a:t>
            </a:r>
          </a:p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根据新信息继续搜索。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91856" y="2267712"/>
            <a:ext cx="3529584" cy="2935224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0160"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91856" y="2267712"/>
            <a:ext cx="41148" cy="2935224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02168" y="2478024"/>
            <a:ext cx="310896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输出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2168" y="2971800"/>
            <a:ext cx="3108960" cy="6858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结构化研究报告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02168" y="3776472"/>
            <a:ext cx="3108960" cy="13075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整理观点与依据，</a:t>
            </a:r>
          </a:p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给出可追溯的引用。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5660136"/>
            <a:ext cx="11000232" cy="521207"/>
          </a:xfrm>
          <a:prstGeom prst="roundRect">
            <a:avLst>
              <a:gd name="adj" fmla="val 12000"/>
            </a:avLst>
          </a:prstGeom>
          <a:solidFill>
            <a:srgbClr val="10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" y="5756148"/>
            <a:ext cx="1056132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用户开始交付一个问题，等待一个经过多步工作形成的成果。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91440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AGENT  /  从对话到行动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265176"/>
            <a:ext cx="1847088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2025.02.24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68096"/>
            <a:ext cx="1100023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2025 年 2 月：编程助手，走进整个项目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927080" cy="5303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Claude Code 研究预览：开发者可以在终端中委托更完整的工程任务。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391656"/>
            <a:ext cx="11000232" cy="0"/>
          </a:xfrm>
          <a:prstGeom prst="line">
            <a:avLst/>
          </a:prstGeom>
          <a:ln w="15240">
            <a:solidFill>
              <a:srgbClr val="DC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1264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2022</a:t>
            </a:r>
          </a:p>
        </p:txBody>
      </p:sp>
      <p:sp>
        <p:nvSpPr>
          <p:cNvPr id="10" name="Oval 9"/>
          <p:cNvSpPr/>
          <p:nvPr/>
        </p:nvSpPr>
        <p:spPr>
          <a:xfrm>
            <a:off x="143560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6362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2023</a:t>
            </a:r>
          </a:p>
        </p:txBody>
      </p:sp>
      <p:sp>
        <p:nvSpPr>
          <p:cNvPr id="12" name="Oval 11"/>
          <p:cNvSpPr/>
          <p:nvPr/>
        </p:nvSpPr>
        <p:spPr>
          <a:xfrm>
            <a:off x="225856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8658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2024</a:t>
            </a:r>
          </a:p>
        </p:txBody>
      </p:sp>
      <p:sp>
        <p:nvSpPr>
          <p:cNvPr id="14" name="Oval 13"/>
          <p:cNvSpPr/>
          <p:nvPr/>
        </p:nvSpPr>
        <p:spPr>
          <a:xfrm>
            <a:off x="3081528" y="6565392"/>
            <a:ext cx="64008" cy="64008"/>
          </a:xfrm>
          <a:prstGeom prst="ellipse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954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2025</a:t>
            </a:r>
          </a:p>
        </p:txBody>
      </p:sp>
      <p:sp>
        <p:nvSpPr>
          <p:cNvPr id="16" name="Oval 15"/>
          <p:cNvSpPr/>
          <p:nvPr/>
        </p:nvSpPr>
        <p:spPr>
          <a:xfrm>
            <a:off x="390448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3250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6501384"/>
            <a:ext cx="598932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919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  <a:hlinkClick r:id="rId2"/>
              </a:rPr>
              <a:t>来源 [10] Anthropic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92240"/>
            <a:ext cx="54864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14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2212848"/>
            <a:ext cx="10680192" cy="713232"/>
          </a:xfrm>
          <a:prstGeom prst="roundRect">
            <a:avLst>
              <a:gd name="adj" fmla="val 12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" y="2386584"/>
            <a:ext cx="1019556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从“帮我写一个函数” → “理解这个项目，并修复这个问题”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374136"/>
            <a:ext cx="2407158" cy="960120"/>
          </a:xfrm>
          <a:prstGeom prst="roundRect">
            <a:avLst>
              <a:gd name="adj" fmla="val 12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557016"/>
            <a:ext cx="2224278" cy="7315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理解代码库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75838" y="3575304"/>
            <a:ext cx="219456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41014" y="3374136"/>
            <a:ext cx="2407158" cy="960120"/>
          </a:xfrm>
          <a:prstGeom prst="roundRect">
            <a:avLst>
              <a:gd name="adj" fmla="val 12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32454" y="3557016"/>
            <a:ext cx="2224278" cy="7315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定位问题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93892" y="3575304"/>
            <a:ext cx="219456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59068" y="3374136"/>
            <a:ext cx="2407158" cy="960120"/>
          </a:xfrm>
          <a:prstGeom prst="roundRect">
            <a:avLst>
              <a:gd name="adj" fmla="val 12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0508" y="3557016"/>
            <a:ext cx="2224278" cy="7315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修改多个文件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11946" y="3575304"/>
            <a:ext cx="219456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77122" y="3374136"/>
            <a:ext cx="2407158" cy="960120"/>
          </a:xfrm>
          <a:prstGeom prst="roundRect">
            <a:avLst>
              <a:gd name="adj" fmla="val 12000"/>
            </a:avLst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68562" y="3557016"/>
            <a:ext cx="2224278" cy="7315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运行检查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" y="4718304"/>
            <a:ext cx="10287000" cy="5212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人主要提供目标、环境和约束；AI 在项目上下文里组织连续工作。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5660136"/>
            <a:ext cx="11000232" cy="521207"/>
          </a:xfrm>
          <a:prstGeom prst="roundRect">
            <a:avLst>
              <a:gd name="adj" fmla="val 12000"/>
            </a:avLst>
          </a:prstGeom>
          <a:solidFill>
            <a:srgbClr val="10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" y="5756148"/>
            <a:ext cx="1056132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能力单位从一段代码，开始转向一个可检查的工程任务。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91440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AGENT  /  从对话到行动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265176"/>
            <a:ext cx="1847088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2025 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68096"/>
            <a:ext cx="1100023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2025 年春：Manus，强调“交付一个结果”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927080" cy="5303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通用任务 Agent 的代表案例：把规划、工具使用与文件产出串成一段工作。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391656"/>
            <a:ext cx="11000232" cy="0"/>
          </a:xfrm>
          <a:prstGeom prst="line">
            <a:avLst/>
          </a:prstGeom>
          <a:ln w="15240">
            <a:solidFill>
              <a:srgbClr val="DC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1264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2022</a:t>
            </a:r>
          </a:p>
        </p:txBody>
      </p:sp>
      <p:sp>
        <p:nvSpPr>
          <p:cNvPr id="10" name="Oval 9"/>
          <p:cNvSpPr/>
          <p:nvPr/>
        </p:nvSpPr>
        <p:spPr>
          <a:xfrm>
            <a:off x="143560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6362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2023</a:t>
            </a:r>
          </a:p>
        </p:txBody>
      </p:sp>
      <p:sp>
        <p:nvSpPr>
          <p:cNvPr id="12" name="Oval 11"/>
          <p:cNvSpPr/>
          <p:nvPr/>
        </p:nvSpPr>
        <p:spPr>
          <a:xfrm>
            <a:off x="225856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8658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2024</a:t>
            </a:r>
          </a:p>
        </p:txBody>
      </p:sp>
      <p:sp>
        <p:nvSpPr>
          <p:cNvPr id="14" name="Oval 13"/>
          <p:cNvSpPr/>
          <p:nvPr/>
        </p:nvSpPr>
        <p:spPr>
          <a:xfrm>
            <a:off x="3081528" y="6565392"/>
            <a:ext cx="64008" cy="64008"/>
          </a:xfrm>
          <a:prstGeom prst="ellipse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954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2025</a:t>
            </a:r>
          </a:p>
        </p:txBody>
      </p:sp>
      <p:sp>
        <p:nvSpPr>
          <p:cNvPr id="16" name="Oval 15"/>
          <p:cNvSpPr/>
          <p:nvPr/>
        </p:nvSpPr>
        <p:spPr>
          <a:xfrm>
            <a:off x="390448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3250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6501384"/>
            <a:ext cx="598932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919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  <a:hlinkClick r:id="rId2"/>
              </a:rPr>
              <a:t>来源 [11] Manus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92240"/>
            <a:ext cx="54864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15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2221992"/>
            <a:ext cx="5129784" cy="2980944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0160"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2221992"/>
            <a:ext cx="41148" cy="2980944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2432304"/>
            <a:ext cx="470916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使用者视角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2926080"/>
            <a:ext cx="4709160" cy="6858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提出目标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" y="3730752"/>
            <a:ext cx="4709160" cy="135331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“帮我收集公开资料，</a:t>
            </a:r>
          </a:p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做一份主题介绍和对比表。”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2221992"/>
            <a:ext cx="5212080" cy="2980944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0160"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2221992"/>
            <a:ext cx="41148" cy="2980944"/>
          </a:xfrm>
          <a:prstGeom prst="rect">
            <a:avLst/>
          </a:prstGeom>
          <a:solidFill>
            <a:srgbClr val="008C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2432304"/>
            <a:ext cx="4791456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008C9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Agent 视角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2926080"/>
            <a:ext cx="4791456" cy="6858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组织工作与产出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730752"/>
            <a:ext cx="4791456" cy="135331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搜索、读取、整理，</a:t>
            </a:r>
          </a:p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再生成可查看的文档或网页。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660136"/>
            <a:ext cx="11000232" cy="521207"/>
          </a:xfrm>
          <a:prstGeom prst="roundRect">
            <a:avLst>
              <a:gd name="adj" fmla="val 12000"/>
            </a:avLst>
          </a:prstGeom>
          <a:solidFill>
            <a:srgbClr val="10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5756148"/>
            <a:ext cx="1056132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体验上的变化：用户关心的重点，进一步转向最终拿到什么成果。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91440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AGENT  /  从对话到行动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265176"/>
            <a:ext cx="1847088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2025.04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68096"/>
            <a:ext cx="1100023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2025 年 4 月：Codex CLI，把 Agent 带进终端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927080" cy="5303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OpenAI 的编程 Agent：在项目目录中理解代码、修改文件，并执行检查。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391656"/>
            <a:ext cx="11000232" cy="0"/>
          </a:xfrm>
          <a:prstGeom prst="line">
            <a:avLst/>
          </a:prstGeom>
          <a:ln w="15240">
            <a:solidFill>
              <a:srgbClr val="DC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1264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2022</a:t>
            </a:r>
          </a:p>
        </p:txBody>
      </p:sp>
      <p:sp>
        <p:nvSpPr>
          <p:cNvPr id="10" name="Oval 9"/>
          <p:cNvSpPr/>
          <p:nvPr/>
        </p:nvSpPr>
        <p:spPr>
          <a:xfrm>
            <a:off x="143560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6362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2023</a:t>
            </a:r>
          </a:p>
        </p:txBody>
      </p:sp>
      <p:sp>
        <p:nvSpPr>
          <p:cNvPr id="12" name="Oval 11"/>
          <p:cNvSpPr/>
          <p:nvPr/>
        </p:nvSpPr>
        <p:spPr>
          <a:xfrm>
            <a:off x="225856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8658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2024</a:t>
            </a:r>
          </a:p>
        </p:txBody>
      </p:sp>
      <p:sp>
        <p:nvSpPr>
          <p:cNvPr id="14" name="Oval 13"/>
          <p:cNvSpPr/>
          <p:nvPr/>
        </p:nvSpPr>
        <p:spPr>
          <a:xfrm>
            <a:off x="3081528" y="6565392"/>
            <a:ext cx="64008" cy="64008"/>
          </a:xfrm>
          <a:prstGeom prst="ellipse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954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2025</a:t>
            </a:r>
          </a:p>
        </p:txBody>
      </p:sp>
      <p:sp>
        <p:nvSpPr>
          <p:cNvPr id="16" name="Oval 15"/>
          <p:cNvSpPr/>
          <p:nvPr/>
        </p:nvSpPr>
        <p:spPr>
          <a:xfrm>
            <a:off x="390448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3250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6501384"/>
            <a:ext cx="598932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919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  <a:hlinkClick r:id="rId2"/>
              </a:rPr>
              <a:t>来源 [12] OpenAI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92240"/>
            <a:ext cx="54864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16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" y="2231136"/>
            <a:ext cx="6446520" cy="2944368"/>
          </a:xfrm>
          <a:prstGeom prst="roundRect">
            <a:avLst>
              <a:gd name="adj" fmla="val 12000"/>
            </a:avLst>
          </a:prstGeom>
          <a:solidFill>
            <a:srgbClr val="10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2542032"/>
            <a:ext cx="587044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项目目录  /  Codex CLI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264408"/>
            <a:ext cx="5870448" cy="7498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&gt; 读一下这个项目，找出报错原因，</a:t>
            </a:r>
          </a:p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   修改后运行相关检查。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425696"/>
            <a:ext cx="587044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A9D8F0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阅读 → 定位 → 修改 → 验证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2468880"/>
            <a:ext cx="3721608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从“建议”到“动手”</a:t>
            </a:r>
          </a:p>
        </p:txBody>
      </p:sp>
      <p:sp>
        <p:nvSpPr>
          <p:cNvPr id="25" name="Oval 24"/>
          <p:cNvSpPr/>
          <p:nvPr/>
        </p:nvSpPr>
        <p:spPr>
          <a:xfrm>
            <a:off x="7653527" y="3419856"/>
            <a:ext cx="59436" cy="59436"/>
          </a:xfrm>
          <a:prstGeom prst="ellipse">
            <a:avLst/>
          </a:prstGeom>
          <a:solidFill>
            <a:srgbClr val="008C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36407" y="3310128"/>
            <a:ext cx="3502152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结合现有项目理解需求</a:t>
            </a:r>
          </a:p>
        </p:txBody>
      </p:sp>
      <p:sp>
        <p:nvSpPr>
          <p:cNvPr id="27" name="Oval 26"/>
          <p:cNvSpPr/>
          <p:nvPr/>
        </p:nvSpPr>
        <p:spPr>
          <a:xfrm>
            <a:off x="7653527" y="4078224"/>
            <a:ext cx="59436" cy="59436"/>
          </a:xfrm>
          <a:prstGeom prst="ellipse">
            <a:avLst/>
          </a:prstGeom>
          <a:solidFill>
            <a:srgbClr val="008C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36407" y="3968496"/>
            <a:ext cx="3502152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直接在工作区提出修改</a:t>
            </a:r>
          </a:p>
        </p:txBody>
      </p:sp>
      <p:sp>
        <p:nvSpPr>
          <p:cNvPr id="29" name="Oval 28"/>
          <p:cNvSpPr/>
          <p:nvPr/>
        </p:nvSpPr>
        <p:spPr>
          <a:xfrm>
            <a:off x="7653527" y="4736592"/>
            <a:ext cx="59436" cy="59436"/>
          </a:xfrm>
          <a:prstGeom prst="ellipse">
            <a:avLst/>
          </a:prstGeom>
          <a:solidFill>
            <a:srgbClr val="008C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36407" y="4626864"/>
            <a:ext cx="3502152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按环境和权限执行命令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5660136"/>
            <a:ext cx="11000232" cy="521207"/>
          </a:xfrm>
          <a:prstGeom prst="roundRect">
            <a:avLst>
              <a:gd name="adj" fmla="val 12000"/>
            </a:avLst>
          </a:prstGeom>
          <a:solidFill>
            <a:srgbClr val="10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5756148"/>
            <a:ext cx="1056132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Codex 的角色：把自然语言需求转成项目中的连续操作。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91440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AGENT  /  从对话到行动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265176"/>
            <a:ext cx="1847088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2025.05.16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68096"/>
            <a:ext cx="1100023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2025 年 5 月：Codex，走向云端任务执行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927080" cy="5303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Codex 云端 Agent 研究预览：任务在预装代码库的独立环境中执行。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391656"/>
            <a:ext cx="11000232" cy="0"/>
          </a:xfrm>
          <a:prstGeom prst="line">
            <a:avLst/>
          </a:prstGeom>
          <a:ln w="15240">
            <a:solidFill>
              <a:srgbClr val="DC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1264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2022</a:t>
            </a:r>
          </a:p>
        </p:txBody>
      </p:sp>
      <p:sp>
        <p:nvSpPr>
          <p:cNvPr id="10" name="Oval 9"/>
          <p:cNvSpPr/>
          <p:nvPr/>
        </p:nvSpPr>
        <p:spPr>
          <a:xfrm>
            <a:off x="143560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6362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2023</a:t>
            </a:r>
          </a:p>
        </p:txBody>
      </p:sp>
      <p:sp>
        <p:nvSpPr>
          <p:cNvPr id="12" name="Oval 11"/>
          <p:cNvSpPr/>
          <p:nvPr/>
        </p:nvSpPr>
        <p:spPr>
          <a:xfrm>
            <a:off x="225856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8658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2024</a:t>
            </a:r>
          </a:p>
        </p:txBody>
      </p:sp>
      <p:sp>
        <p:nvSpPr>
          <p:cNvPr id="14" name="Oval 13"/>
          <p:cNvSpPr/>
          <p:nvPr/>
        </p:nvSpPr>
        <p:spPr>
          <a:xfrm>
            <a:off x="3081528" y="6565392"/>
            <a:ext cx="64008" cy="64008"/>
          </a:xfrm>
          <a:prstGeom prst="ellipse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954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2025</a:t>
            </a:r>
          </a:p>
        </p:txBody>
      </p:sp>
      <p:sp>
        <p:nvSpPr>
          <p:cNvPr id="16" name="Oval 15"/>
          <p:cNvSpPr/>
          <p:nvPr/>
        </p:nvSpPr>
        <p:spPr>
          <a:xfrm>
            <a:off x="390448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3250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6501384"/>
            <a:ext cx="598932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919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  <a:hlinkClick r:id="rId2"/>
              </a:rPr>
              <a:t>来源 [12] OpenAI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92240"/>
            <a:ext cx="54864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17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" y="2240280"/>
            <a:ext cx="2743200" cy="2907792"/>
          </a:xfrm>
          <a:prstGeom prst="roundRect">
            <a:avLst>
              <a:gd name="adj" fmla="val 12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2551176"/>
            <a:ext cx="2249424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开发者委托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538728"/>
            <a:ext cx="2240280" cy="10058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修复问题</a:t>
            </a:r>
          </a:p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实现功能</a:t>
            </a:r>
          </a:p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解释代码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50208" y="2240280"/>
            <a:ext cx="4133087" cy="2907792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0160"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97096" y="2551176"/>
            <a:ext cx="363931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独立工作环境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97096" y="3538728"/>
            <a:ext cx="3639312" cy="11430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读取与编辑代码</a:t>
            </a:r>
          </a:p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执行命令与测试</a:t>
            </a:r>
          </a:p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整理变更及执行依据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40496" y="2240280"/>
            <a:ext cx="2898648" cy="2907792"/>
          </a:xfrm>
          <a:prstGeom prst="roundRect">
            <a:avLst>
              <a:gd name="adj" fmla="val 12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87384" y="2551176"/>
            <a:ext cx="240487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人工审阅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87384" y="3538728"/>
            <a:ext cx="2404872" cy="11430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检查变更</a:t>
            </a:r>
          </a:p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确认验证结果</a:t>
            </a:r>
          </a:p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决定是否采用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5660136"/>
            <a:ext cx="11000232" cy="521207"/>
          </a:xfrm>
          <a:prstGeom prst="roundRect">
            <a:avLst>
              <a:gd name="adj" fmla="val 12000"/>
            </a:avLst>
          </a:prstGeom>
          <a:solidFill>
            <a:srgbClr val="10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5756148"/>
            <a:ext cx="1056132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Agent 的交付不只有答案，还包括修改结果与可供检查的工作记录。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91440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AGENT  /  从对话到行动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265176"/>
            <a:ext cx="1847088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2025 · 能力案例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68096"/>
            <a:ext cx="1100023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Codex 怎样帮忙？以科研代码任务为例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927080" cy="5303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任务示意：“给现有实验脚本增加结果汇总，输出一张对比图。”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391656"/>
            <a:ext cx="11000232" cy="0"/>
          </a:xfrm>
          <a:prstGeom prst="line">
            <a:avLst/>
          </a:prstGeom>
          <a:ln w="15240">
            <a:solidFill>
              <a:srgbClr val="DC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1264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2022</a:t>
            </a:r>
          </a:p>
        </p:txBody>
      </p:sp>
      <p:sp>
        <p:nvSpPr>
          <p:cNvPr id="10" name="Oval 9"/>
          <p:cNvSpPr/>
          <p:nvPr/>
        </p:nvSpPr>
        <p:spPr>
          <a:xfrm>
            <a:off x="143560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6362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2023</a:t>
            </a:r>
          </a:p>
        </p:txBody>
      </p:sp>
      <p:sp>
        <p:nvSpPr>
          <p:cNvPr id="12" name="Oval 11"/>
          <p:cNvSpPr/>
          <p:nvPr/>
        </p:nvSpPr>
        <p:spPr>
          <a:xfrm>
            <a:off x="225856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8658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2024</a:t>
            </a:r>
          </a:p>
        </p:txBody>
      </p:sp>
      <p:sp>
        <p:nvSpPr>
          <p:cNvPr id="14" name="Oval 13"/>
          <p:cNvSpPr/>
          <p:nvPr/>
        </p:nvSpPr>
        <p:spPr>
          <a:xfrm>
            <a:off x="3081528" y="6565392"/>
            <a:ext cx="64008" cy="64008"/>
          </a:xfrm>
          <a:prstGeom prst="ellipse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954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2025</a:t>
            </a:r>
          </a:p>
        </p:txBody>
      </p:sp>
      <p:sp>
        <p:nvSpPr>
          <p:cNvPr id="16" name="Oval 15"/>
          <p:cNvSpPr/>
          <p:nvPr/>
        </p:nvSpPr>
        <p:spPr>
          <a:xfrm>
            <a:off x="390448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3250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6501384"/>
            <a:ext cx="598932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919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  <a:hlinkClick r:id="rId2"/>
              </a:rPr>
              <a:t>来源 [12] OpenAI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92240"/>
            <a:ext cx="54864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18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2450592"/>
            <a:ext cx="2407158" cy="987552"/>
          </a:xfrm>
          <a:prstGeom prst="roundRect">
            <a:avLst>
              <a:gd name="adj" fmla="val 12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2633472"/>
            <a:ext cx="2224278" cy="7589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阅读现有脚本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75838" y="2651760"/>
            <a:ext cx="219456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41014" y="2450592"/>
            <a:ext cx="2407158" cy="987552"/>
          </a:xfrm>
          <a:prstGeom prst="roundRect">
            <a:avLst>
              <a:gd name="adj" fmla="val 12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32454" y="2633472"/>
            <a:ext cx="2224278" cy="7589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补充汇总逻辑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93892" y="2651760"/>
            <a:ext cx="219456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59068" y="2450592"/>
            <a:ext cx="2407158" cy="987552"/>
          </a:xfrm>
          <a:prstGeom prst="roundRect">
            <a:avLst>
              <a:gd name="adj" fmla="val 12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0508" y="2633472"/>
            <a:ext cx="2224278" cy="7589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运行检查与验证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11946" y="2651760"/>
            <a:ext cx="219456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77122" y="2450592"/>
            <a:ext cx="2407158" cy="987552"/>
          </a:xfrm>
          <a:prstGeom prst="roundRect">
            <a:avLst>
              <a:gd name="adj" fmla="val 12000"/>
            </a:avLst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68562" y="2633472"/>
            <a:ext cx="2224278" cy="7589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交付代码和图表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" y="3813048"/>
            <a:ext cx="5074920" cy="1572768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0160"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2104" y="3813048"/>
            <a:ext cx="41148" cy="1572768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2416" y="4023360"/>
            <a:ext cx="4654296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人提供什么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" y="4517136"/>
            <a:ext cx="4654296" cy="6858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目标、数据位置与验收标准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72784" y="3813048"/>
            <a:ext cx="5074920" cy="1572768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0160"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72784" y="3813048"/>
            <a:ext cx="41148" cy="1572768"/>
          </a:xfrm>
          <a:prstGeom prst="rect">
            <a:avLst/>
          </a:prstGeom>
          <a:solidFill>
            <a:srgbClr val="008C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83096" y="4023360"/>
            <a:ext cx="4654296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008C9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Agent 完成什么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83096" y="4517136"/>
            <a:ext cx="4654296" cy="6858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修改文件，并说明执行结果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5660136"/>
            <a:ext cx="11000232" cy="521207"/>
          </a:xfrm>
          <a:prstGeom prst="roundRect">
            <a:avLst>
              <a:gd name="adj" fmla="val 12000"/>
            </a:avLst>
          </a:prstGeom>
          <a:solidFill>
            <a:srgbClr val="10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" y="5756148"/>
            <a:ext cx="1056132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它体现 Agent 的完整过程：理解目标 → 动手执行 → 检查结果 → 交付成果。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91440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AGENT  /  从对话到行动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265176"/>
            <a:ext cx="1847088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2025.07.17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68096"/>
            <a:ext cx="1100023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2025 年 7 月：研究与行动进入同一个入口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927080" cy="5303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ChatGPT Agent：把网页研究、浏览器操作与更多工具组织到同一项任务中。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391656"/>
            <a:ext cx="11000232" cy="0"/>
          </a:xfrm>
          <a:prstGeom prst="line">
            <a:avLst/>
          </a:prstGeom>
          <a:ln w="15240">
            <a:solidFill>
              <a:srgbClr val="DC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1264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2022</a:t>
            </a:r>
          </a:p>
        </p:txBody>
      </p:sp>
      <p:sp>
        <p:nvSpPr>
          <p:cNvPr id="10" name="Oval 9"/>
          <p:cNvSpPr/>
          <p:nvPr/>
        </p:nvSpPr>
        <p:spPr>
          <a:xfrm>
            <a:off x="143560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6362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2023</a:t>
            </a:r>
          </a:p>
        </p:txBody>
      </p:sp>
      <p:sp>
        <p:nvSpPr>
          <p:cNvPr id="12" name="Oval 11"/>
          <p:cNvSpPr/>
          <p:nvPr/>
        </p:nvSpPr>
        <p:spPr>
          <a:xfrm>
            <a:off x="225856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8658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2024</a:t>
            </a:r>
          </a:p>
        </p:txBody>
      </p:sp>
      <p:sp>
        <p:nvSpPr>
          <p:cNvPr id="14" name="Oval 13"/>
          <p:cNvSpPr/>
          <p:nvPr/>
        </p:nvSpPr>
        <p:spPr>
          <a:xfrm>
            <a:off x="3081528" y="6565392"/>
            <a:ext cx="64008" cy="64008"/>
          </a:xfrm>
          <a:prstGeom prst="ellipse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954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2025</a:t>
            </a:r>
          </a:p>
        </p:txBody>
      </p:sp>
      <p:sp>
        <p:nvSpPr>
          <p:cNvPr id="16" name="Oval 15"/>
          <p:cNvSpPr/>
          <p:nvPr/>
        </p:nvSpPr>
        <p:spPr>
          <a:xfrm>
            <a:off x="390448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3250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6501384"/>
            <a:ext cx="598932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919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  <a:hlinkClick r:id="rId2"/>
              </a:rPr>
              <a:t>来源 [13] OpenAI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92240"/>
            <a:ext cx="54864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19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" y="2212848"/>
            <a:ext cx="3282696" cy="233172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0160"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8096" y="2212848"/>
            <a:ext cx="41148" cy="2331720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2423160"/>
            <a:ext cx="2862072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先前的一种能力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" y="2916936"/>
            <a:ext cx="2862072" cy="6858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查找与分析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" y="3721608"/>
            <a:ext cx="2862072" cy="70408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Research：阅读资料、形成</a:t>
            </a:r>
          </a:p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判断。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25696" y="2212848"/>
            <a:ext cx="3282696" cy="233172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0160"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25696" y="2212848"/>
            <a:ext cx="41148" cy="2331720"/>
          </a:xfrm>
          <a:prstGeom prst="rect">
            <a:avLst/>
          </a:prstGeom>
          <a:solidFill>
            <a:srgbClr val="008C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36008" y="2423160"/>
            <a:ext cx="2862072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008C9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先前的另一种能力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36008" y="2916936"/>
            <a:ext cx="2862072" cy="6858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网页操作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36008" y="3721608"/>
            <a:ext cx="2862072" cy="70408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Operator：点击、输入、筛</a:t>
            </a:r>
          </a:p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选。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83296" y="2212848"/>
            <a:ext cx="3282696" cy="233172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0160"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83296" y="2212848"/>
            <a:ext cx="41148" cy="2331720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93608" y="2423160"/>
            <a:ext cx="2862072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组合后的体验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93608" y="2916936"/>
            <a:ext cx="2862072" cy="6858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围绕目标交付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93608" y="3721608"/>
            <a:ext cx="2862072" cy="70408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在任务中切换工具，生成成</a:t>
            </a:r>
          </a:p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果。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" y="4928616"/>
            <a:ext cx="10424160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示意任务：比较候选方案 → 收集依据 → 分析数据 → 生成一份可编辑材料。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5660136"/>
            <a:ext cx="11000232" cy="521207"/>
          </a:xfrm>
          <a:prstGeom prst="roundRect">
            <a:avLst>
              <a:gd name="adj" fmla="val 12000"/>
            </a:avLst>
          </a:prstGeom>
          <a:solidFill>
            <a:srgbClr val="10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2" y="5756148"/>
            <a:ext cx="1056132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入口仍然像聊天，但背后执行的，已经是一段多步工作。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91440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AGENT  /  从对话到行动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265176"/>
            <a:ext cx="1847088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2025.11 → 2026.01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68096"/>
            <a:ext cx="1100023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2025 年末—2026：OpenClaw 走向个人助理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927080" cy="5303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参考课件中的重点案例：让 Agent 出现在常用聊天工具里，并运行在自己选择的环境。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391656"/>
            <a:ext cx="11000232" cy="0"/>
          </a:xfrm>
          <a:prstGeom prst="line">
            <a:avLst/>
          </a:prstGeom>
          <a:ln w="15240">
            <a:solidFill>
              <a:srgbClr val="DC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1264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2022</a:t>
            </a:r>
          </a:p>
        </p:txBody>
      </p:sp>
      <p:sp>
        <p:nvSpPr>
          <p:cNvPr id="10" name="Oval 9"/>
          <p:cNvSpPr/>
          <p:nvPr/>
        </p:nvSpPr>
        <p:spPr>
          <a:xfrm>
            <a:off x="143560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6362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2023</a:t>
            </a:r>
          </a:p>
        </p:txBody>
      </p:sp>
      <p:sp>
        <p:nvSpPr>
          <p:cNvPr id="12" name="Oval 11"/>
          <p:cNvSpPr/>
          <p:nvPr/>
        </p:nvSpPr>
        <p:spPr>
          <a:xfrm>
            <a:off x="225856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8658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2024</a:t>
            </a:r>
          </a:p>
        </p:txBody>
      </p:sp>
      <p:sp>
        <p:nvSpPr>
          <p:cNvPr id="14" name="Oval 13"/>
          <p:cNvSpPr/>
          <p:nvPr/>
        </p:nvSpPr>
        <p:spPr>
          <a:xfrm>
            <a:off x="308152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954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2025</a:t>
            </a:r>
          </a:p>
        </p:txBody>
      </p:sp>
      <p:sp>
        <p:nvSpPr>
          <p:cNvPr id="16" name="Oval 15"/>
          <p:cNvSpPr/>
          <p:nvPr/>
        </p:nvSpPr>
        <p:spPr>
          <a:xfrm>
            <a:off x="3904488" y="6565392"/>
            <a:ext cx="64008" cy="64008"/>
          </a:xfrm>
          <a:prstGeom prst="ellipse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3250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6501384"/>
            <a:ext cx="598932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919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  <a:hlinkClick r:id="rId2"/>
              </a:rPr>
              <a:t>来源 [14] OpenClaw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92240"/>
            <a:ext cx="54864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2368296"/>
            <a:ext cx="2971800" cy="5303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2025.11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87552" y="3108960"/>
            <a:ext cx="3017520" cy="0"/>
          </a:xfrm>
          <a:prstGeom prst="line">
            <a:avLst/>
          </a:prstGeom>
          <a:ln w="25400">
            <a:solidFill>
              <a:srgbClr val="DC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987552" y="3026664"/>
            <a:ext cx="164592" cy="164592"/>
          </a:xfrm>
          <a:prstGeom prst="ellipse">
            <a:avLst/>
          </a:prstGeom>
          <a:solidFill>
            <a:srgbClr val="008C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3584448"/>
            <a:ext cx="3017520" cy="6858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前身项目出现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4572000"/>
            <a:ext cx="2971800" cy="6583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以 Clawd 为名的个人项目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2" y="2368296"/>
            <a:ext cx="2971800" cy="5303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随后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599432" y="3108960"/>
            <a:ext cx="3017520" cy="0"/>
          </a:xfrm>
          <a:prstGeom prst="line">
            <a:avLst/>
          </a:prstGeom>
          <a:ln w="25400">
            <a:solidFill>
              <a:srgbClr val="DC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4599432" y="3026664"/>
            <a:ext cx="164592" cy="164592"/>
          </a:xfrm>
          <a:prstGeom prst="ellipse">
            <a:avLst/>
          </a:prstGeom>
          <a:solidFill>
            <a:srgbClr val="008C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99432" y="3584448"/>
            <a:ext cx="3017520" cy="6858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经历名称调整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4572000"/>
            <a:ext cx="2971800" cy="6583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曾使用 Moltbot 名称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1312" y="2368296"/>
            <a:ext cx="2971800" cy="5303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2026.01.29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211312" y="3108960"/>
            <a:ext cx="3017520" cy="0"/>
          </a:xfrm>
          <a:prstGeom prst="line">
            <a:avLst/>
          </a:prstGeom>
          <a:ln w="25400">
            <a:solidFill>
              <a:srgbClr val="DC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211312" y="3026664"/>
            <a:ext cx="164592" cy="164592"/>
          </a:xfrm>
          <a:prstGeom prst="ellipse">
            <a:avLst/>
          </a:prstGeom>
          <a:solidFill>
            <a:srgbClr val="008C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11312" y="3584448"/>
            <a:ext cx="3017520" cy="6858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正式命名 OpenClaw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2" y="4572000"/>
            <a:ext cx="2971800" cy="6583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以开源 Agent 平台定位介绍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5660136"/>
            <a:ext cx="11000232" cy="521207"/>
          </a:xfrm>
          <a:prstGeom prst="roundRect">
            <a:avLst>
              <a:gd name="adj" fmla="val 12000"/>
            </a:avLst>
          </a:prstGeom>
          <a:solidFill>
            <a:srgbClr val="10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" y="5756148"/>
            <a:ext cx="1056132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重点从“打开一个 AI 网站”，扩展到“在日常入口里找到我的助手”。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91440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AGENT  /  从对话到行动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265176"/>
            <a:ext cx="1847088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2026 · 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68096"/>
            <a:ext cx="1100023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OpenClaw：把个人工具串到同一个助手身边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927080" cy="5303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理解它的使用形态即可，不展开网关、适配器和上下文装配。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391656"/>
            <a:ext cx="11000232" cy="0"/>
          </a:xfrm>
          <a:prstGeom prst="line">
            <a:avLst/>
          </a:prstGeom>
          <a:ln w="15240">
            <a:solidFill>
              <a:srgbClr val="DC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1264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2022</a:t>
            </a:r>
          </a:p>
        </p:txBody>
      </p:sp>
      <p:sp>
        <p:nvSpPr>
          <p:cNvPr id="10" name="Oval 9"/>
          <p:cNvSpPr/>
          <p:nvPr/>
        </p:nvSpPr>
        <p:spPr>
          <a:xfrm>
            <a:off x="143560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6362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2023</a:t>
            </a:r>
          </a:p>
        </p:txBody>
      </p:sp>
      <p:sp>
        <p:nvSpPr>
          <p:cNvPr id="12" name="Oval 11"/>
          <p:cNvSpPr/>
          <p:nvPr/>
        </p:nvSpPr>
        <p:spPr>
          <a:xfrm>
            <a:off x="225856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8658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2024</a:t>
            </a:r>
          </a:p>
        </p:txBody>
      </p:sp>
      <p:sp>
        <p:nvSpPr>
          <p:cNvPr id="14" name="Oval 13"/>
          <p:cNvSpPr/>
          <p:nvPr/>
        </p:nvSpPr>
        <p:spPr>
          <a:xfrm>
            <a:off x="308152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954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2025</a:t>
            </a:r>
          </a:p>
        </p:txBody>
      </p:sp>
      <p:sp>
        <p:nvSpPr>
          <p:cNvPr id="16" name="Oval 15"/>
          <p:cNvSpPr/>
          <p:nvPr/>
        </p:nvSpPr>
        <p:spPr>
          <a:xfrm>
            <a:off x="3904488" y="6565392"/>
            <a:ext cx="64008" cy="64008"/>
          </a:xfrm>
          <a:prstGeom prst="ellipse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3250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6501384"/>
            <a:ext cx="598932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919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  <a:hlinkClick r:id="rId2"/>
              </a:rPr>
              <a:t>来源 [14] OpenClaw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92240"/>
            <a:ext cx="54864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" y="2258568"/>
            <a:ext cx="2871216" cy="2615184"/>
          </a:xfrm>
          <a:prstGeom prst="roundRect">
            <a:avLst>
              <a:gd name="adj" fmla="val 12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2587752"/>
            <a:ext cx="2359152" cy="6400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常用消息入口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602736"/>
            <a:ext cx="2331720" cy="9144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聊天中提出需求</a:t>
            </a:r>
          </a:p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查看进度和结果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23360" y="2258568"/>
            <a:ext cx="3749039" cy="2615184"/>
          </a:xfrm>
          <a:prstGeom prst="roundRect">
            <a:avLst>
              <a:gd name="adj" fmla="val 12000"/>
            </a:avLst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2587752"/>
            <a:ext cx="3191256" cy="6400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你的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3602736"/>
            <a:ext cx="3163824" cy="9144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在选择的机器或服务器运行</a:t>
            </a:r>
          </a:p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调用已接入的工具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65592" y="2258568"/>
            <a:ext cx="3273552" cy="2615184"/>
          </a:xfrm>
          <a:prstGeom prst="roundRect">
            <a:avLst>
              <a:gd name="adj" fmla="val 12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21624" y="2587752"/>
            <a:ext cx="2761488" cy="6400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个人工作环境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21624" y="3602736"/>
            <a:ext cx="2743200" cy="9144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文件、网页与服务</a:t>
            </a:r>
          </a:p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按配置连接和使用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" y="5148072"/>
            <a:ext cx="10424160" cy="3383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理解边界：自托管不等于所有数据都不外发；调用云模型或外部服务时仍有数据传输。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660136"/>
            <a:ext cx="11000232" cy="521207"/>
          </a:xfrm>
          <a:prstGeom prst="roundRect">
            <a:avLst>
              <a:gd name="adj" fmla="val 12000"/>
            </a:avLst>
          </a:prstGeom>
          <a:solidFill>
            <a:srgbClr val="10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5756148"/>
            <a:ext cx="1056132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它强调“自己的运行环境 + 熟悉的沟通入口 + 可以执行的工具”。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91440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AGENT  /  从对话到行动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265176"/>
            <a:ext cx="1847088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2026 · 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68096"/>
            <a:ext cx="1100023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2026：Hermes，让经验与任务一起留下来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927080" cy="5303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Nous Research 的 Hermes Agent，重点强调长期记忆与可复用技能。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391656"/>
            <a:ext cx="11000232" cy="0"/>
          </a:xfrm>
          <a:prstGeom prst="line">
            <a:avLst/>
          </a:prstGeom>
          <a:ln w="15240">
            <a:solidFill>
              <a:srgbClr val="DC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1264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2022</a:t>
            </a:r>
          </a:p>
        </p:txBody>
      </p:sp>
      <p:sp>
        <p:nvSpPr>
          <p:cNvPr id="10" name="Oval 9"/>
          <p:cNvSpPr/>
          <p:nvPr/>
        </p:nvSpPr>
        <p:spPr>
          <a:xfrm>
            <a:off x="143560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6362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2023</a:t>
            </a:r>
          </a:p>
        </p:txBody>
      </p:sp>
      <p:sp>
        <p:nvSpPr>
          <p:cNvPr id="12" name="Oval 11"/>
          <p:cNvSpPr/>
          <p:nvPr/>
        </p:nvSpPr>
        <p:spPr>
          <a:xfrm>
            <a:off x="225856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8658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2024</a:t>
            </a:r>
          </a:p>
        </p:txBody>
      </p:sp>
      <p:sp>
        <p:nvSpPr>
          <p:cNvPr id="14" name="Oval 13"/>
          <p:cNvSpPr/>
          <p:nvPr/>
        </p:nvSpPr>
        <p:spPr>
          <a:xfrm>
            <a:off x="308152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954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2025</a:t>
            </a:r>
          </a:p>
        </p:txBody>
      </p:sp>
      <p:sp>
        <p:nvSpPr>
          <p:cNvPr id="16" name="Oval 15"/>
          <p:cNvSpPr/>
          <p:nvPr/>
        </p:nvSpPr>
        <p:spPr>
          <a:xfrm>
            <a:off x="3904488" y="6565392"/>
            <a:ext cx="64008" cy="64008"/>
          </a:xfrm>
          <a:prstGeom prst="ellipse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3250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6501384"/>
            <a:ext cx="598932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919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  <a:hlinkClick r:id="rId2"/>
              </a:rPr>
              <a:t>来源 [15] Nous Research  /  [16] Nous Research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92240"/>
            <a:ext cx="54864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2560320"/>
            <a:ext cx="2407158" cy="1024128"/>
          </a:xfrm>
          <a:prstGeom prst="roundRect">
            <a:avLst>
              <a:gd name="adj" fmla="val 12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2743200"/>
            <a:ext cx="2224278" cy="7955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完成一次任务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75838" y="2761488"/>
            <a:ext cx="219456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41014" y="2560320"/>
            <a:ext cx="2407158" cy="1024128"/>
          </a:xfrm>
          <a:prstGeom prst="roundRect">
            <a:avLst>
              <a:gd name="adj" fmla="val 12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32454" y="2743200"/>
            <a:ext cx="2224278" cy="7955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整理有用经验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93892" y="2761488"/>
            <a:ext cx="219456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59068" y="2560320"/>
            <a:ext cx="2407158" cy="1024128"/>
          </a:xfrm>
          <a:prstGeom prst="roundRect">
            <a:avLst>
              <a:gd name="adj" fmla="val 12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0508" y="2743200"/>
            <a:ext cx="2224278" cy="7955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保存记忆或技能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11946" y="2761488"/>
            <a:ext cx="219456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77122" y="2560320"/>
            <a:ext cx="2407158" cy="1024128"/>
          </a:xfrm>
          <a:prstGeom prst="roundRect">
            <a:avLst>
              <a:gd name="adj" fmla="val 12000"/>
            </a:avLst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68562" y="2743200"/>
            <a:ext cx="2224278" cy="7955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下次按需复用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3959352"/>
            <a:ext cx="5084064" cy="1307592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0160"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3959352"/>
            <a:ext cx="41148" cy="1307592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3272" y="4169664"/>
            <a:ext cx="466344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记忆的作用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" y="4663440"/>
            <a:ext cx="4663440" cy="6858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记住项目、偏好与过去的工作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3959352"/>
            <a:ext cx="5084064" cy="1307592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0160"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63640" y="3959352"/>
            <a:ext cx="41148" cy="1307592"/>
          </a:xfrm>
          <a:prstGeom prst="rect">
            <a:avLst/>
          </a:prstGeom>
          <a:solidFill>
            <a:srgbClr val="008C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73952" y="4169664"/>
            <a:ext cx="466344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008C9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技能的作用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3952" y="4663440"/>
            <a:ext cx="4663440" cy="6858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复用做过的步骤和方法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5660136"/>
            <a:ext cx="11000232" cy="521207"/>
          </a:xfrm>
          <a:prstGeom prst="roundRect">
            <a:avLst>
              <a:gd name="adj" fmla="val 12000"/>
            </a:avLst>
          </a:prstGeom>
          <a:solidFill>
            <a:srgbClr val="10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" y="5756148"/>
            <a:ext cx="1056132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“会成长”主要指保存并复用经验，不等于每次使用都重新训练基础模型。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91440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AGENT  /  从对话到行动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265176"/>
            <a:ext cx="1847088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2026 · 案例对照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68096"/>
            <a:ext cx="1100023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同为个人 Agent，两种强调重点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927080" cy="5303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这是理解产品的简化视角；两者的工具、记忆和消息能力存在重叠。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391656"/>
            <a:ext cx="11000232" cy="0"/>
          </a:xfrm>
          <a:prstGeom prst="line">
            <a:avLst/>
          </a:prstGeom>
          <a:ln w="15240">
            <a:solidFill>
              <a:srgbClr val="DC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1264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2022</a:t>
            </a:r>
          </a:p>
        </p:txBody>
      </p:sp>
      <p:sp>
        <p:nvSpPr>
          <p:cNvPr id="10" name="Oval 9"/>
          <p:cNvSpPr/>
          <p:nvPr/>
        </p:nvSpPr>
        <p:spPr>
          <a:xfrm>
            <a:off x="143560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6362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2023</a:t>
            </a:r>
          </a:p>
        </p:txBody>
      </p:sp>
      <p:sp>
        <p:nvSpPr>
          <p:cNvPr id="12" name="Oval 11"/>
          <p:cNvSpPr/>
          <p:nvPr/>
        </p:nvSpPr>
        <p:spPr>
          <a:xfrm>
            <a:off x="225856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8658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2024</a:t>
            </a:r>
          </a:p>
        </p:txBody>
      </p:sp>
      <p:sp>
        <p:nvSpPr>
          <p:cNvPr id="14" name="Oval 13"/>
          <p:cNvSpPr/>
          <p:nvPr/>
        </p:nvSpPr>
        <p:spPr>
          <a:xfrm>
            <a:off x="308152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954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2025</a:t>
            </a:r>
          </a:p>
        </p:txBody>
      </p:sp>
      <p:sp>
        <p:nvSpPr>
          <p:cNvPr id="16" name="Oval 15"/>
          <p:cNvSpPr/>
          <p:nvPr/>
        </p:nvSpPr>
        <p:spPr>
          <a:xfrm>
            <a:off x="3904488" y="6565392"/>
            <a:ext cx="64008" cy="64008"/>
          </a:xfrm>
          <a:prstGeom prst="ellipse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3250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6501384"/>
            <a:ext cx="598932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919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  <a:hlinkClick r:id="rId2"/>
              </a:rPr>
              <a:t>来源 [14] OpenClaw  /  [15] Nous Research  /  [16] Nous Research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92240"/>
            <a:ext cx="54864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8" y="2221992"/>
            <a:ext cx="2176272" cy="585216"/>
          </a:xfrm>
          <a:prstGeom prst="rect">
            <a:avLst/>
          </a:prstGeom>
          <a:solidFill>
            <a:srgbClr val="103B73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2350008"/>
            <a:ext cx="1892807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比较维度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2221992"/>
            <a:ext cx="4215384" cy="585216"/>
          </a:xfrm>
          <a:prstGeom prst="rect">
            <a:avLst/>
          </a:prstGeom>
          <a:solidFill>
            <a:srgbClr val="103B73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72384" y="2350008"/>
            <a:ext cx="393192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OpenClaw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41464" y="2221992"/>
            <a:ext cx="4288536" cy="585216"/>
          </a:xfrm>
          <a:prstGeom prst="rect">
            <a:avLst/>
          </a:prstGeom>
          <a:solidFill>
            <a:srgbClr val="103B73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87768" y="2350008"/>
            <a:ext cx="4005072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Hermes Agent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8" y="2807208"/>
            <a:ext cx="2176272" cy="585216"/>
          </a:xfrm>
          <a:prstGeom prst="rect">
            <a:avLst/>
          </a:prstGeom>
          <a:solidFill>
            <a:srgbClr val="F7F9FC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2935224"/>
            <a:ext cx="1892807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直观理解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26080" y="2807208"/>
            <a:ext cx="4215384" cy="585216"/>
          </a:xfrm>
          <a:prstGeom prst="rect">
            <a:avLst/>
          </a:prstGeom>
          <a:solidFill>
            <a:srgbClr val="F7F9FC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72384" y="2935224"/>
            <a:ext cx="393192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把助手接到日常沟通和工具中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41464" y="2807208"/>
            <a:ext cx="4288536" cy="585216"/>
          </a:xfrm>
          <a:prstGeom prst="rect">
            <a:avLst/>
          </a:prstGeom>
          <a:solidFill>
            <a:srgbClr val="F7F9FC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87768" y="2935224"/>
            <a:ext cx="4005072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让任务经验逐步沉淀、再次复用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9808" y="3392424"/>
            <a:ext cx="2176272" cy="585216"/>
          </a:xfrm>
          <a:prstGeom prst="rect">
            <a:avLst/>
          </a:prstGeom>
          <a:solidFill>
            <a:srgbClr val="EDF4FC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3520440"/>
            <a:ext cx="1892807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强调的体验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26080" y="3392424"/>
            <a:ext cx="4215384" cy="585216"/>
          </a:xfrm>
          <a:prstGeom prst="rect">
            <a:avLst/>
          </a:prstGeom>
          <a:solidFill>
            <a:srgbClr val="EDF4FC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72384" y="3520440"/>
            <a:ext cx="393192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熟悉入口 + 自选运行环境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41464" y="3392424"/>
            <a:ext cx="4288536" cy="585216"/>
          </a:xfrm>
          <a:prstGeom prst="rect">
            <a:avLst/>
          </a:prstGeom>
          <a:solidFill>
            <a:srgbClr val="EDF4FC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87768" y="3520440"/>
            <a:ext cx="4005072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记忆 + 技能 + 持续协作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808" y="3977639"/>
            <a:ext cx="2176272" cy="585216"/>
          </a:xfrm>
          <a:prstGeom prst="rect">
            <a:avLst/>
          </a:prstGeom>
          <a:solidFill>
            <a:srgbClr val="F7F9FC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6112" y="4105655"/>
            <a:ext cx="1892807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共同基础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26080" y="3977639"/>
            <a:ext cx="4215384" cy="585216"/>
          </a:xfrm>
          <a:prstGeom prst="rect">
            <a:avLst/>
          </a:prstGeom>
          <a:solidFill>
            <a:srgbClr val="F7F9FC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72384" y="4105655"/>
            <a:ext cx="393192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模型、工具、上下文和执行过程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41464" y="3977639"/>
            <a:ext cx="4288536" cy="585216"/>
          </a:xfrm>
          <a:prstGeom prst="rect">
            <a:avLst/>
          </a:prstGeom>
          <a:solidFill>
            <a:srgbClr val="F7F9FC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87768" y="4105655"/>
            <a:ext cx="4005072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模型、工具、上下文和执行过程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808" y="4562856"/>
            <a:ext cx="2176272" cy="585216"/>
          </a:xfrm>
          <a:prstGeom prst="rect">
            <a:avLst/>
          </a:prstGeom>
          <a:solidFill>
            <a:srgbClr val="EDF4FC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4690872"/>
            <a:ext cx="1892807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选择时先看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26080" y="4562856"/>
            <a:ext cx="4215384" cy="585216"/>
          </a:xfrm>
          <a:prstGeom prst="rect">
            <a:avLst/>
          </a:prstGeom>
          <a:solidFill>
            <a:srgbClr val="EDF4FC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72384" y="4690872"/>
            <a:ext cx="393192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入口和工具是否匹配自己的工作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141464" y="4562856"/>
            <a:ext cx="4288536" cy="585216"/>
          </a:xfrm>
          <a:prstGeom prst="rect">
            <a:avLst/>
          </a:prstGeom>
          <a:solidFill>
            <a:srgbClr val="EDF4FC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87768" y="4690872"/>
            <a:ext cx="4005072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记忆与技能方式是否适合自己的任务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" y="5660136"/>
            <a:ext cx="11000232" cy="521207"/>
          </a:xfrm>
          <a:prstGeom prst="roundRect">
            <a:avLst>
              <a:gd name="adj" fmla="val 12000"/>
            </a:avLst>
          </a:prstGeom>
          <a:solidFill>
            <a:srgbClr val="10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4672" y="5756148"/>
            <a:ext cx="1056132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不要仅凭产品名判断能力；真正重要的是它怎样适配你的连续工作。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91440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AGENT  /  从对话到行动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265176"/>
            <a:ext cx="1847088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2022—2026 回顾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68096"/>
            <a:ext cx="1100023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回看这条时间线：改变的是协作方式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927080" cy="5303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从一问一答，到围绕目标组织行动，再到保留经验的持续协作。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391656"/>
            <a:ext cx="11000232" cy="0"/>
          </a:xfrm>
          <a:prstGeom prst="line">
            <a:avLst/>
          </a:prstGeom>
          <a:ln w="15240">
            <a:solidFill>
              <a:srgbClr val="DC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1264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2022</a:t>
            </a:r>
          </a:p>
        </p:txBody>
      </p:sp>
      <p:sp>
        <p:nvSpPr>
          <p:cNvPr id="10" name="Oval 9"/>
          <p:cNvSpPr/>
          <p:nvPr/>
        </p:nvSpPr>
        <p:spPr>
          <a:xfrm>
            <a:off x="143560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6362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2023</a:t>
            </a:r>
          </a:p>
        </p:txBody>
      </p:sp>
      <p:sp>
        <p:nvSpPr>
          <p:cNvPr id="12" name="Oval 11"/>
          <p:cNvSpPr/>
          <p:nvPr/>
        </p:nvSpPr>
        <p:spPr>
          <a:xfrm>
            <a:off x="225856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8658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2024</a:t>
            </a:r>
          </a:p>
        </p:txBody>
      </p:sp>
      <p:sp>
        <p:nvSpPr>
          <p:cNvPr id="14" name="Oval 13"/>
          <p:cNvSpPr/>
          <p:nvPr/>
        </p:nvSpPr>
        <p:spPr>
          <a:xfrm>
            <a:off x="308152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954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2025</a:t>
            </a:r>
          </a:p>
        </p:txBody>
      </p:sp>
      <p:sp>
        <p:nvSpPr>
          <p:cNvPr id="16" name="Oval 15"/>
          <p:cNvSpPr/>
          <p:nvPr/>
        </p:nvSpPr>
        <p:spPr>
          <a:xfrm>
            <a:off x="390448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3250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6501384"/>
            <a:ext cx="598932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919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  <a:hlinkClick r:id="rId2"/>
              </a:rPr>
              <a:t>来源 [01] OpenAI  /  [04] OpenAI  /  [07] Anthropic  /  [13] OpenAI  /  [14] OpenClaw  /  [15] Nous Research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92240"/>
            <a:ext cx="54864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2121408"/>
            <a:ext cx="1024128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67712" y="2121408"/>
            <a:ext cx="222199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获得答案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65192" y="2121408"/>
            <a:ext cx="6217920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“解释一下……”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59536" y="2606039"/>
            <a:ext cx="10405872" cy="0"/>
          </a:xfrm>
          <a:prstGeom prst="line">
            <a:avLst/>
          </a:prstGeom>
          <a:ln w="10160">
            <a:solidFill>
              <a:srgbClr val="DC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50392" y="2724912"/>
            <a:ext cx="1024128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2724912"/>
            <a:ext cx="222199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获得行动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65192" y="2724912"/>
            <a:ext cx="6217920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“调用工具查一下……”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59536" y="3209544"/>
            <a:ext cx="10405872" cy="0"/>
          </a:xfrm>
          <a:prstGeom prst="line">
            <a:avLst/>
          </a:prstGeom>
          <a:ln w="10160">
            <a:solidFill>
              <a:srgbClr val="DC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50392" y="3328415"/>
            <a:ext cx="1024128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67712" y="3328415"/>
            <a:ext cx="222199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连接环境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65192" y="3328415"/>
            <a:ext cx="6217920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“到网页或系统里操作……”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9536" y="3813048"/>
            <a:ext cx="10405872" cy="0"/>
          </a:xfrm>
          <a:prstGeom prst="line">
            <a:avLst/>
          </a:prstGeom>
          <a:ln w="10160">
            <a:solidFill>
              <a:srgbClr val="DC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50392" y="3931920"/>
            <a:ext cx="1024128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67712" y="3931920"/>
            <a:ext cx="222199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获得成果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65192" y="3931920"/>
            <a:ext cx="6217920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“完成这个任务并交付……”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59536" y="4416552"/>
            <a:ext cx="10405872" cy="0"/>
          </a:xfrm>
          <a:prstGeom prst="line">
            <a:avLst/>
          </a:prstGeom>
          <a:ln w="10160">
            <a:solidFill>
              <a:srgbClr val="DC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50392" y="4535424"/>
            <a:ext cx="1024128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67712" y="4535424"/>
            <a:ext cx="2221992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持续协作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65192" y="4535424"/>
            <a:ext cx="6217920" cy="4389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“结合之前的工作继续做……”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59536" y="5020056"/>
            <a:ext cx="10405872" cy="0"/>
          </a:xfrm>
          <a:prstGeom prst="line">
            <a:avLst/>
          </a:prstGeom>
          <a:ln w="10160">
            <a:solidFill>
              <a:srgbClr val="DC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594360" y="5660136"/>
            <a:ext cx="11000232" cy="521207"/>
          </a:xfrm>
          <a:prstGeom prst="roundRect">
            <a:avLst>
              <a:gd name="adj" fmla="val 12000"/>
            </a:avLst>
          </a:prstGeom>
          <a:solidFill>
            <a:srgbClr val="10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2" y="5756148"/>
            <a:ext cx="1056132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理解 Agent：有目标，能行动，读反馈，并在授权范围内持续推进。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91440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AGENT  /  从对话到行动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265176"/>
            <a:ext cx="1847088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资料索引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68096"/>
            <a:ext cx="1100023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资料来源｜早期对话、工具与连接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927080" cy="5303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关键事件以发布时的官方资料为准；页脚与备注中保留对应来源。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391656"/>
            <a:ext cx="11000232" cy="0"/>
          </a:xfrm>
          <a:prstGeom prst="line">
            <a:avLst/>
          </a:prstGeom>
          <a:ln w="15240">
            <a:solidFill>
              <a:srgbClr val="DC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1264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2022</a:t>
            </a:r>
          </a:p>
        </p:txBody>
      </p:sp>
      <p:sp>
        <p:nvSpPr>
          <p:cNvPr id="10" name="Oval 9"/>
          <p:cNvSpPr/>
          <p:nvPr/>
        </p:nvSpPr>
        <p:spPr>
          <a:xfrm>
            <a:off x="143560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6362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2023</a:t>
            </a:r>
          </a:p>
        </p:txBody>
      </p:sp>
      <p:sp>
        <p:nvSpPr>
          <p:cNvPr id="12" name="Oval 11"/>
          <p:cNvSpPr/>
          <p:nvPr/>
        </p:nvSpPr>
        <p:spPr>
          <a:xfrm>
            <a:off x="225856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8658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2024</a:t>
            </a:r>
          </a:p>
        </p:txBody>
      </p:sp>
      <p:sp>
        <p:nvSpPr>
          <p:cNvPr id="14" name="Oval 13"/>
          <p:cNvSpPr/>
          <p:nvPr/>
        </p:nvSpPr>
        <p:spPr>
          <a:xfrm>
            <a:off x="308152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954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2025</a:t>
            </a:r>
          </a:p>
        </p:txBody>
      </p:sp>
      <p:sp>
        <p:nvSpPr>
          <p:cNvPr id="16" name="Oval 15"/>
          <p:cNvSpPr/>
          <p:nvPr/>
        </p:nvSpPr>
        <p:spPr>
          <a:xfrm>
            <a:off x="390448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3250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492240"/>
            <a:ext cx="54864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2148840"/>
            <a:ext cx="502920" cy="301752"/>
          </a:xfrm>
          <a:prstGeom prst="roundRect">
            <a:avLst>
              <a:gd name="adj" fmla="val 12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2180844"/>
            <a:ext cx="356616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4752" y="2135124"/>
            <a:ext cx="4700016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5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  <a:hlinkClick r:id="rId2"/>
              </a:rPr>
              <a:t>ChatGPT 发布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4752" y="2542032"/>
            <a:ext cx="466344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  <a:hlinkClick r:id="rId2"/>
              </a:rPr>
              <a:t>OpenAI · 2022-11-30  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008376"/>
            <a:ext cx="502920" cy="301752"/>
          </a:xfrm>
          <a:prstGeom prst="roundRect">
            <a:avLst>
              <a:gd name="adj" fmla="val 12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" y="3040380"/>
            <a:ext cx="356616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4752" y="2994660"/>
            <a:ext cx="4700016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5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  <a:hlinkClick r:id="rId3"/>
              </a:rPr>
              <a:t>ChatGPT Plugins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4752" y="3401568"/>
            <a:ext cx="466344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  <a:hlinkClick r:id="rId3"/>
              </a:rPr>
              <a:t>OpenAI · 2023-03-23  ↗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867912"/>
            <a:ext cx="502920" cy="301752"/>
          </a:xfrm>
          <a:prstGeom prst="roundRect">
            <a:avLst>
              <a:gd name="adj" fmla="val 12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" y="3899916"/>
            <a:ext cx="356616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4752" y="3854196"/>
            <a:ext cx="4700016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5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  <a:hlinkClick r:id="rId4"/>
              </a:rPr>
              <a:t>AutoGPT 项目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44752" y="4261104"/>
            <a:ext cx="466344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  <a:hlinkClick r:id="rId4"/>
              </a:rPr>
              <a:t>Significant Gravitas · 项目资料  ↗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4727448"/>
            <a:ext cx="502920" cy="301752"/>
          </a:xfrm>
          <a:prstGeom prst="roundRect">
            <a:avLst>
              <a:gd name="adj" fmla="val 12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4759452"/>
            <a:ext cx="356616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44752" y="4713732"/>
            <a:ext cx="4700016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5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  <a:hlinkClick r:id="rId5"/>
              </a:rPr>
              <a:t>Function Calling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44752" y="5120640"/>
            <a:ext cx="466344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  <a:hlinkClick r:id="rId5"/>
              </a:rPr>
              <a:t>OpenAI · 2023-06-13  ↗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91655" y="2148840"/>
            <a:ext cx="502920" cy="301752"/>
          </a:xfrm>
          <a:prstGeom prst="roundRect">
            <a:avLst>
              <a:gd name="adj" fmla="val 12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64807" y="2180844"/>
            <a:ext cx="356616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9167" y="2135124"/>
            <a:ext cx="4700016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5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  <a:hlinkClick r:id="rId6"/>
              </a:rPr>
              <a:t>AutoGen 发布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59167" y="2542032"/>
            <a:ext cx="466344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  <a:hlinkClick r:id="rId6"/>
              </a:rPr>
              <a:t>Microsoft Research · 2023-09-25  ↗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91655" y="3008376"/>
            <a:ext cx="502920" cy="301752"/>
          </a:xfrm>
          <a:prstGeom prst="roundRect">
            <a:avLst>
              <a:gd name="adj" fmla="val 12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64807" y="3040380"/>
            <a:ext cx="356616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9167" y="2994660"/>
            <a:ext cx="4700016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5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  <a:hlinkClick r:id="rId7"/>
              </a:rPr>
              <a:t>Computer Use 公开测试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59167" y="3401568"/>
            <a:ext cx="466344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  <a:hlinkClick r:id="rId7"/>
              </a:rPr>
              <a:t>Anthropic · 2024-10-22  ↗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91655" y="3867912"/>
            <a:ext cx="502920" cy="301752"/>
          </a:xfrm>
          <a:prstGeom prst="roundRect">
            <a:avLst>
              <a:gd name="adj" fmla="val 12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64807" y="3899916"/>
            <a:ext cx="356616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59167" y="3854196"/>
            <a:ext cx="4700016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5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  <a:hlinkClick r:id="rId8"/>
              </a:rPr>
              <a:t>MCP 发布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59167" y="4261104"/>
            <a:ext cx="466344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  <a:hlinkClick r:id="rId8"/>
              </a:rPr>
              <a:t>Anthropic · 2024-11-25  ↗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91655" y="4727448"/>
            <a:ext cx="502920" cy="301752"/>
          </a:xfrm>
          <a:prstGeom prst="roundRect">
            <a:avLst>
              <a:gd name="adj" fmla="val 12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64807" y="4759452"/>
            <a:ext cx="356616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59167" y="4713732"/>
            <a:ext cx="4700016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5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  <a:hlinkClick r:id="rId9"/>
              </a:rPr>
              <a:t>Operator 发布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59167" y="5120640"/>
            <a:ext cx="466344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  <a:hlinkClick r:id="rId9"/>
              </a:rPr>
              <a:t>OpenAI · 2025-01-23  ↗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5797296"/>
            <a:ext cx="10607040" cy="3474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改编依据：chapter-3 part 4.pptx；资料核对日期：2026-10-28。标题可点击查看原始来源。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91440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AGENT  /  从对话到行动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265176"/>
            <a:ext cx="1847088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资料索引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68096"/>
            <a:ext cx="1100023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资料来源｜任务 Agent 与个人助理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927080" cy="5303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关键事件以发布时的官方资料为准；页脚与备注中保留对应来源。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391656"/>
            <a:ext cx="11000232" cy="0"/>
          </a:xfrm>
          <a:prstGeom prst="line">
            <a:avLst/>
          </a:prstGeom>
          <a:ln w="15240">
            <a:solidFill>
              <a:srgbClr val="DC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1264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2022</a:t>
            </a:r>
          </a:p>
        </p:txBody>
      </p:sp>
      <p:sp>
        <p:nvSpPr>
          <p:cNvPr id="10" name="Oval 9"/>
          <p:cNvSpPr/>
          <p:nvPr/>
        </p:nvSpPr>
        <p:spPr>
          <a:xfrm>
            <a:off x="143560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6362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2023</a:t>
            </a:r>
          </a:p>
        </p:txBody>
      </p:sp>
      <p:sp>
        <p:nvSpPr>
          <p:cNvPr id="12" name="Oval 11"/>
          <p:cNvSpPr/>
          <p:nvPr/>
        </p:nvSpPr>
        <p:spPr>
          <a:xfrm>
            <a:off x="225856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8658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2024</a:t>
            </a:r>
          </a:p>
        </p:txBody>
      </p:sp>
      <p:sp>
        <p:nvSpPr>
          <p:cNvPr id="14" name="Oval 13"/>
          <p:cNvSpPr/>
          <p:nvPr/>
        </p:nvSpPr>
        <p:spPr>
          <a:xfrm>
            <a:off x="308152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954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2025</a:t>
            </a:r>
          </a:p>
        </p:txBody>
      </p:sp>
      <p:sp>
        <p:nvSpPr>
          <p:cNvPr id="16" name="Oval 15"/>
          <p:cNvSpPr/>
          <p:nvPr/>
        </p:nvSpPr>
        <p:spPr>
          <a:xfrm>
            <a:off x="390448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3250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492240"/>
            <a:ext cx="54864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2148840"/>
            <a:ext cx="502920" cy="301752"/>
          </a:xfrm>
          <a:prstGeom prst="roundRect">
            <a:avLst>
              <a:gd name="adj" fmla="val 12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2180844"/>
            <a:ext cx="356616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4752" y="2135124"/>
            <a:ext cx="4700016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5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  <a:hlinkClick r:id="rId2"/>
              </a:rPr>
              <a:t>Deep Research 发布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4752" y="2542032"/>
            <a:ext cx="466344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  <a:hlinkClick r:id="rId2"/>
              </a:rPr>
              <a:t>OpenAI · 2025-02-02  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008376"/>
            <a:ext cx="502920" cy="301752"/>
          </a:xfrm>
          <a:prstGeom prst="roundRect">
            <a:avLst>
              <a:gd name="adj" fmla="val 12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" y="3040380"/>
            <a:ext cx="356616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4752" y="2994660"/>
            <a:ext cx="4700016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5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  <a:hlinkClick r:id="rId3"/>
              </a:rPr>
              <a:t>Claude Code 研究预览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4752" y="3401568"/>
            <a:ext cx="466344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  <a:hlinkClick r:id="rId3"/>
              </a:rPr>
              <a:t>Anthropic · 2025-02-24  ↗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867912"/>
            <a:ext cx="502920" cy="301752"/>
          </a:xfrm>
          <a:prstGeom prst="roundRect">
            <a:avLst>
              <a:gd name="adj" fmla="val 12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" y="3899916"/>
            <a:ext cx="356616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4752" y="3854196"/>
            <a:ext cx="4700016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5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  <a:hlinkClick r:id="rId4"/>
              </a:rPr>
              <a:t>Manus 一周年回顾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44752" y="4261104"/>
            <a:ext cx="466344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  <a:hlinkClick r:id="rId4"/>
              </a:rPr>
              <a:t>Manus · 2026-03-12  ↗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4727448"/>
            <a:ext cx="502920" cy="301752"/>
          </a:xfrm>
          <a:prstGeom prst="roundRect">
            <a:avLst>
              <a:gd name="adj" fmla="val 12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4759452"/>
            <a:ext cx="356616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44752" y="4713732"/>
            <a:ext cx="4700016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5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  <a:hlinkClick r:id="rId5"/>
              </a:rPr>
              <a:t>Codex 云端 Agent 研究预览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44752" y="5120640"/>
            <a:ext cx="466344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  <a:hlinkClick r:id="rId5"/>
              </a:rPr>
              <a:t>OpenAI · 2025-05-16  ↗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91655" y="2148840"/>
            <a:ext cx="502920" cy="301752"/>
          </a:xfrm>
          <a:prstGeom prst="roundRect">
            <a:avLst>
              <a:gd name="adj" fmla="val 12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64807" y="2180844"/>
            <a:ext cx="356616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9167" y="2135124"/>
            <a:ext cx="4700016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5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  <a:hlinkClick r:id="rId6"/>
              </a:rPr>
              <a:t>ChatGPT Agent 发布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59167" y="2542032"/>
            <a:ext cx="466344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  <a:hlinkClick r:id="rId6"/>
              </a:rPr>
              <a:t>OpenAI · 2025-07-17  ↗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91655" y="3008376"/>
            <a:ext cx="502920" cy="301752"/>
          </a:xfrm>
          <a:prstGeom prst="roundRect">
            <a:avLst>
              <a:gd name="adj" fmla="val 12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64807" y="3040380"/>
            <a:ext cx="356616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9167" y="2994660"/>
            <a:ext cx="4700016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5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  <a:hlinkClick r:id="rId7"/>
              </a:rPr>
              <a:t>OpenClaw 正式命名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59167" y="3401568"/>
            <a:ext cx="466344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  <a:hlinkClick r:id="rId7"/>
              </a:rPr>
              <a:t>OpenClaw · 2026-01-29  ↗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91655" y="3867912"/>
            <a:ext cx="502920" cy="301752"/>
          </a:xfrm>
          <a:prstGeom prst="roundRect">
            <a:avLst>
              <a:gd name="adj" fmla="val 12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64807" y="3899916"/>
            <a:ext cx="356616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15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59167" y="3854196"/>
            <a:ext cx="4700016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5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  <a:hlinkClick r:id="rId8"/>
              </a:rPr>
              <a:t>Hermes Agent 项目与能力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59167" y="4261104"/>
            <a:ext cx="466344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  <a:hlinkClick r:id="rId8"/>
              </a:rPr>
              <a:t>Nous Research · 2026 年案例  ↗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91655" y="4727448"/>
            <a:ext cx="502920" cy="301752"/>
          </a:xfrm>
          <a:prstGeom prst="roundRect">
            <a:avLst>
              <a:gd name="adj" fmla="val 12000"/>
            </a:avLst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64807" y="4759452"/>
            <a:ext cx="356616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5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16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59167" y="4713732"/>
            <a:ext cx="4700016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5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  <a:hlinkClick r:id="rId9"/>
              </a:rPr>
              <a:t>Hermes 产品介绍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59167" y="5120640"/>
            <a:ext cx="466344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  <a:hlinkClick r:id="rId9"/>
              </a:rPr>
              <a:t>Nous Research · 查阅 2026-10-28  ↗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5797296"/>
            <a:ext cx="10607040" cy="3474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改编依据：chapter-3 part 4.pptx；资料核对日期：2026-10-28。标题可点击查看原始来源。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04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83464"/>
            <a:ext cx="91440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AGENT  /  从对话到行动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265176"/>
            <a:ext cx="1847088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2022—2026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68096"/>
            <a:ext cx="1100023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谢谢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10927080" cy="5303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从 ChatGPT 到 Agent，我们正在学会把目标交给 AI。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391656"/>
            <a:ext cx="11000232" cy="0"/>
          </a:xfrm>
          <a:prstGeom prst="line">
            <a:avLst/>
          </a:prstGeom>
          <a:ln w="15240">
            <a:solidFill>
              <a:srgbClr val="DC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1264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2022</a:t>
            </a:r>
          </a:p>
        </p:txBody>
      </p:sp>
      <p:sp>
        <p:nvSpPr>
          <p:cNvPr id="10" name="Oval 9"/>
          <p:cNvSpPr/>
          <p:nvPr/>
        </p:nvSpPr>
        <p:spPr>
          <a:xfrm>
            <a:off x="143560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6362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2023</a:t>
            </a:r>
          </a:p>
        </p:txBody>
      </p:sp>
      <p:sp>
        <p:nvSpPr>
          <p:cNvPr id="12" name="Oval 11"/>
          <p:cNvSpPr/>
          <p:nvPr/>
        </p:nvSpPr>
        <p:spPr>
          <a:xfrm>
            <a:off x="225856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8658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2024</a:t>
            </a:r>
          </a:p>
        </p:txBody>
      </p:sp>
      <p:sp>
        <p:nvSpPr>
          <p:cNvPr id="14" name="Oval 13"/>
          <p:cNvSpPr/>
          <p:nvPr/>
        </p:nvSpPr>
        <p:spPr>
          <a:xfrm>
            <a:off x="308152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954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2025</a:t>
            </a:r>
          </a:p>
        </p:txBody>
      </p:sp>
      <p:sp>
        <p:nvSpPr>
          <p:cNvPr id="16" name="Oval 15"/>
          <p:cNvSpPr/>
          <p:nvPr/>
        </p:nvSpPr>
        <p:spPr>
          <a:xfrm>
            <a:off x="3904488" y="6565392"/>
            <a:ext cx="64008" cy="64008"/>
          </a:xfrm>
          <a:prstGeom prst="ellipse">
            <a:avLst/>
          </a:prstGeom>
          <a:solidFill>
            <a:srgbClr val="DC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32504" y="6510528"/>
            <a:ext cx="594360" cy="2011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58D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492240"/>
            <a:ext cx="54864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2587752"/>
            <a:ext cx="10424160" cy="9418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479E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会回答 → 能行动 → 可交付 → 持续协作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048256" y="4014215"/>
            <a:ext cx="8092440" cy="0"/>
          </a:xfrm>
          <a:prstGeom prst="line">
            <a:avLst/>
          </a:prstGeom>
          <a:ln w="25400">
            <a:solidFill>
              <a:srgbClr val="DC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011680" y="4517136"/>
            <a:ext cx="8138160" cy="5577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72B45"/>
                </a:solidFill>
                <a:latin typeface="Microsoft YaHei"/>
              </a:defRPr>
            </a:pPr>
            <a:r>
              <a:rPr>
                <a:latin typeface="Microsoft YaHei"/>
                <a:ea typeface="Microsoft YaHei"/>
              </a:rPr>
              <a:t>Agent 的核心，是把理解与行动连接起来。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 ChatGPT 到 Agent：一条会做事的演进线</dc:title>
  <dc:subject>2022—2026 大模型智能体通识介绍；基于用户提供的参考课件重组</dc:subject>
  <dc:creator>研究分享</dc:creator>
  <cp:keywords>Agent,ChatGPT,时间线,OpenClaw,Hermes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